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tags/tag15.xml" ContentType="application/vnd.openxmlformats-officedocument.presentationml.tags+xml"/>
  <Override PartName="/ppt/tags/tag16.xml" ContentType="application/vnd.openxmlformats-officedocument.presentationml.tags+xml"/>
  <Override PartName="/ppt/notesSlides/notesSlide4.xml" ContentType="application/vnd.openxmlformats-officedocument.presentationml.notesSlide+xml"/>
  <Override PartName="/ppt/charts/chart2.xml" ContentType="application/vnd.openxmlformats-officedocument.drawingml.chart+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6.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7" d="100"/>
          <a:sy n="147" d="100"/>
        </p:scale>
        <p:origin x="7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oannis Panageas" userId="4f024c0fe6dbbe17" providerId="LiveId" clId="{E280AC90-2806-4C0E-91CA-830C6425B529}"/>
    <pc:docChg chg="custSel modSld">
      <pc:chgData name="Ioannis Panageas" userId="4f024c0fe6dbbe17" providerId="LiveId" clId="{E280AC90-2806-4C0E-91CA-830C6425B529}" dt="2026-10-28T18:44:17.970" v="2" actId="1076"/>
      <pc:docMkLst>
        <pc:docMk/>
      </pc:docMkLst>
      <pc:sldChg chg="delSp modSp mod">
        <pc:chgData name="Ioannis Panageas" userId="4f024c0fe6dbbe17" providerId="LiveId" clId="{E280AC90-2806-4C0E-91CA-830C6425B529}" dt="2026-10-28T18:44:17.970" v="2" actId="1076"/>
        <pc:sldMkLst>
          <pc:docMk/>
          <pc:sldMk cId="124831360" sldId="256"/>
        </pc:sldMkLst>
        <pc:spChg chg="del">
          <ac:chgData name="Ioannis Panageas" userId="4f024c0fe6dbbe17" providerId="LiveId" clId="{E280AC90-2806-4C0E-91CA-830C6425B529}" dt="2026-10-28T18:44:07.897" v="0" actId="478"/>
          <ac:spMkLst>
            <pc:docMk/>
            <pc:sldMk cId="124831360" sldId="256"/>
            <ac:spMk id="3" creationId="{E0FF413B-D0AC-4775-AE46-B9F45D901DEB}"/>
          </ac:spMkLst>
        </pc:spChg>
        <pc:spChg chg="mod">
          <ac:chgData name="Ioannis Panageas" userId="4f024c0fe6dbbe17" providerId="LiveId" clId="{E280AC90-2806-4C0E-91CA-830C6425B529}" dt="2026-10-28T18:44:13.537" v="1" actId="1076"/>
          <ac:spMkLst>
            <pc:docMk/>
            <pc:sldMk cId="124831360" sldId="256"/>
            <ac:spMk id="4" creationId="{3DCFE17B-F286-4199-9500-67C4804ACB09}"/>
          </ac:spMkLst>
        </pc:spChg>
        <pc:spChg chg="mod">
          <ac:chgData name="Ioannis Panageas" userId="4f024c0fe6dbbe17" providerId="LiveId" clId="{E280AC90-2806-4C0E-91CA-830C6425B529}" dt="2026-10-28T18:44:17.970" v="2" actId="1076"/>
          <ac:spMkLst>
            <pc:docMk/>
            <pc:sldMk cId="124831360" sldId="256"/>
            <ac:spMk id="5" creationId="{5A4A9C0A-034F-46F3-AE03-B10986CA6113}"/>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Probability</c:v>
          </c:tx>
          <c:invertIfNegative val="0"/>
          <c:dPt>
            <c:idx val="0"/>
            <c:invertIfNegative val="0"/>
            <c:bubble3D val="0"/>
            <c:spPr>
              <a:solidFill>
                <a:srgbClr val="2D5BCE"/>
              </a:solidFill>
            </c:spPr>
            <c:extLst>
              <c:ext xmlns:c16="http://schemas.microsoft.com/office/drawing/2014/chart" uri="{C3380CC4-5D6E-409C-BE32-E72D297353CC}">
                <c16:uniqueId val="{00000001-5386-4D0A-AD91-1EC45CDD7465}"/>
              </c:ext>
            </c:extLst>
          </c:dPt>
          <c:dPt>
            <c:idx val="1"/>
            <c:invertIfNegative val="0"/>
            <c:bubble3D val="0"/>
            <c:spPr>
              <a:solidFill>
                <a:srgbClr val="008F84"/>
              </a:solidFill>
            </c:spPr>
            <c:extLst>
              <c:ext xmlns:c16="http://schemas.microsoft.com/office/drawing/2014/chart" uri="{C3380CC4-5D6E-409C-BE32-E72D297353CC}">
                <c16:uniqueId val="{00000003-5386-4D0A-AD91-1EC45CDD7465}"/>
              </c:ext>
            </c:extLst>
          </c:dPt>
          <c:dPt>
            <c:idx val="2"/>
            <c:invertIfNegative val="0"/>
            <c:bubble3D val="0"/>
            <c:spPr>
              <a:solidFill>
                <a:srgbClr val="D96546"/>
              </a:solidFill>
            </c:spPr>
            <c:extLst>
              <c:ext xmlns:c16="http://schemas.microsoft.com/office/drawing/2014/chart" uri="{C3380CC4-5D6E-409C-BE32-E72D297353CC}">
                <c16:uniqueId val="{00000005-5386-4D0A-AD91-1EC45CDD7465}"/>
              </c:ext>
            </c:extLst>
          </c:dPt>
          <c:dLbls>
            <c:numFmt formatCode="0%" sourceLinked="0"/>
            <c:spPr>
              <a:noFill/>
              <a:ln>
                <a:noFill/>
              </a:ln>
              <a:effectLst/>
            </c:spPr>
            <c:txPr>
              <a:bodyPr anchorCtr="1"/>
              <a:lstStyle/>
              <a:p>
                <a:pPr>
                  <a:defRPr sz="2025" b="1">
                    <a:solidFill>
                      <a:srgbClr val="17243F"/>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Rock</c:v>
                </c:pt>
                <c:pt idx="1">
                  <c:v>Paper</c:v>
                </c:pt>
                <c:pt idx="2">
                  <c:v>Scissors</c:v>
                </c:pt>
              </c:strCache>
            </c:strRef>
          </c:cat>
          <c:val>
            <c:numRef>
              <c:f>'Chart Data'!$B$2:$B$4</c:f>
              <c:numCache>
                <c:formatCode>General</c:formatCode>
                <c:ptCount val="3"/>
                <c:pt idx="0">
                  <c:v>0.25</c:v>
                </c:pt>
                <c:pt idx="1">
                  <c:v>0.5</c:v>
                </c:pt>
                <c:pt idx="2">
                  <c:v>0.25</c:v>
                </c:pt>
              </c:numCache>
            </c:numRef>
          </c:val>
          <c:extLst>
            <c:ext xmlns:c16="http://schemas.microsoft.com/office/drawing/2014/chart" uri="{C3380CC4-5D6E-409C-BE32-E72D297353CC}">
              <c16:uniqueId val="{00000006-5386-4D0A-AD91-1EC45CDD7465}"/>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CD5E4"/>
            </a:solidFill>
            <a:prstDash val="solid"/>
          </a:ln>
        </c:spPr>
        <c:txPr>
          <a:bodyPr anchorCtr="1"/>
          <a:lstStyle/>
          <a:p>
            <a:pPr>
              <a:defRPr sz="1800">
                <a:solidFill>
                  <a:srgbClr val="17243F"/>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62"/>
          <c:min val="0"/>
        </c:scaling>
        <c:delete val="1"/>
        <c:axPos val="l"/>
        <c:numFmt formatCode="General" sourceLinked="1"/>
        <c:majorTickMark val="none"/>
        <c:minorTickMark val="none"/>
        <c:tickLblPos val="nextTo"/>
        <c:crossAx val="48650112"/>
        <c:crosses val="autoZero"/>
        <c:crossBetween val="between"/>
      </c:valAx>
      <c:spPr>
        <a:solidFill>
          <a:srgbClr val="F7F8FC"/>
        </a:solidFill>
      </c:spPr>
    </c:plotArea>
    <c:plotVisOnly val="1"/>
    <c:dispBlanksAs val="zero"/>
    <c:showDLblsOverMax val="1"/>
  </c:chart>
  <c:spPr>
    <a:solidFill>
      <a:srgbClr val="F7F8FC"/>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Average play</c:v>
          </c:tx>
          <c:spPr>
            <a:ln w="33338">
              <a:solidFill>
                <a:srgbClr val="008F84"/>
              </a:solidFill>
              <a:prstDash val="solid"/>
            </a:ln>
          </c:spPr>
          <c:marker>
            <c:symbol val="none"/>
          </c:marker>
          <c:xVal>
            <c:numRef>
              <c:f>'Chart Data'!$A$2:$A$102</c:f>
              <c:numCache>
                <c:formatCode>General</c:formatCode>
                <c:ptCount val="101"/>
                <c:pt idx="0">
                  <c:v>1</c:v>
                </c:pt>
                <c:pt idx="1">
                  <c:v>40</c:v>
                </c:pt>
                <c:pt idx="2">
                  <c:v>80</c:v>
                </c:pt>
                <c:pt idx="3">
                  <c:v>120</c:v>
                </c:pt>
                <c:pt idx="4">
                  <c:v>160</c:v>
                </c:pt>
                <c:pt idx="5">
                  <c:v>200</c:v>
                </c:pt>
                <c:pt idx="6">
                  <c:v>240</c:v>
                </c:pt>
                <c:pt idx="7">
                  <c:v>280</c:v>
                </c:pt>
                <c:pt idx="8">
                  <c:v>320</c:v>
                </c:pt>
                <c:pt idx="9">
                  <c:v>360</c:v>
                </c:pt>
                <c:pt idx="10">
                  <c:v>400</c:v>
                </c:pt>
                <c:pt idx="11">
                  <c:v>440</c:v>
                </c:pt>
                <c:pt idx="12">
                  <c:v>480</c:v>
                </c:pt>
                <c:pt idx="13">
                  <c:v>520</c:v>
                </c:pt>
                <c:pt idx="14">
                  <c:v>560</c:v>
                </c:pt>
                <c:pt idx="15">
                  <c:v>600</c:v>
                </c:pt>
                <c:pt idx="16">
                  <c:v>640</c:v>
                </c:pt>
                <c:pt idx="17">
                  <c:v>680</c:v>
                </c:pt>
                <c:pt idx="18">
                  <c:v>720</c:v>
                </c:pt>
                <c:pt idx="19">
                  <c:v>760</c:v>
                </c:pt>
                <c:pt idx="20">
                  <c:v>800</c:v>
                </c:pt>
                <c:pt idx="21">
                  <c:v>840</c:v>
                </c:pt>
                <c:pt idx="22">
                  <c:v>880</c:v>
                </c:pt>
                <c:pt idx="23">
                  <c:v>920</c:v>
                </c:pt>
                <c:pt idx="24">
                  <c:v>960</c:v>
                </c:pt>
                <c:pt idx="25">
                  <c:v>1000</c:v>
                </c:pt>
                <c:pt idx="26">
                  <c:v>1040</c:v>
                </c:pt>
                <c:pt idx="27">
                  <c:v>1080</c:v>
                </c:pt>
                <c:pt idx="28">
                  <c:v>1120</c:v>
                </c:pt>
                <c:pt idx="29">
                  <c:v>1160</c:v>
                </c:pt>
                <c:pt idx="30">
                  <c:v>1200</c:v>
                </c:pt>
                <c:pt idx="31">
                  <c:v>1240</c:v>
                </c:pt>
                <c:pt idx="32">
                  <c:v>1280</c:v>
                </c:pt>
                <c:pt idx="33">
                  <c:v>1320</c:v>
                </c:pt>
                <c:pt idx="34">
                  <c:v>1360</c:v>
                </c:pt>
                <c:pt idx="35">
                  <c:v>1400</c:v>
                </c:pt>
                <c:pt idx="36">
                  <c:v>1440</c:v>
                </c:pt>
                <c:pt idx="37">
                  <c:v>1480</c:v>
                </c:pt>
                <c:pt idx="38">
                  <c:v>1520</c:v>
                </c:pt>
                <c:pt idx="39">
                  <c:v>1560</c:v>
                </c:pt>
                <c:pt idx="40">
                  <c:v>1600</c:v>
                </c:pt>
                <c:pt idx="41">
                  <c:v>1640</c:v>
                </c:pt>
                <c:pt idx="42">
                  <c:v>1680</c:v>
                </c:pt>
                <c:pt idx="43">
                  <c:v>1720</c:v>
                </c:pt>
                <c:pt idx="44">
                  <c:v>1760</c:v>
                </c:pt>
                <c:pt idx="45">
                  <c:v>1800</c:v>
                </c:pt>
                <c:pt idx="46">
                  <c:v>1840</c:v>
                </c:pt>
                <c:pt idx="47">
                  <c:v>1880</c:v>
                </c:pt>
                <c:pt idx="48">
                  <c:v>1920</c:v>
                </c:pt>
                <c:pt idx="49">
                  <c:v>1960</c:v>
                </c:pt>
                <c:pt idx="50">
                  <c:v>2000</c:v>
                </c:pt>
                <c:pt idx="51">
                  <c:v>2040</c:v>
                </c:pt>
                <c:pt idx="52">
                  <c:v>2080</c:v>
                </c:pt>
                <c:pt idx="53">
                  <c:v>2120</c:v>
                </c:pt>
                <c:pt idx="54">
                  <c:v>2160</c:v>
                </c:pt>
                <c:pt idx="55">
                  <c:v>2200</c:v>
                </c:pt>
                <c:pt idx="56">
                  <c:v>2240</c:v>
                </c:pt>
                <c:pt idx="57">
                  <c:v>2280</c:v>
                </c:pt>
                <c:pt idx="58">
                  <c:v>2320</c:v>
                </c:pt>
                <c:pt idx="59">
                  <c:v>2360</c:v>
                </c:pt>
                <c:pt idx="60">
                  <c:v>2400</c:v>
                </c:pt>
                <c:pt idx="61">
                  <c:v>2440</c:v>
                </c:pt>
                <c:pt idx="62">
                  <c:v>2480</c:v>
                </c:pt>
                <c:pt idx="63">
                  <c:v>2520</c:v>
                </c:pt>
                <c:pt idx="64">
                  <c:v>2560</c:v>
                </c:pt>
                <c:pt idx="65">
                  <c:v>2600</c:v>
                </c:pt>
                <c:pt idx="66">
                  <c:v>2640</c:v>
                </c:pt>
                <c:pt idx="67">
                  <c:v>2680</c:v>
                </c:pt>
                <c:pt idx="68">
                  <c:v>2720</c:v>
                </c:pt>
                <c:pt idx="69">
                  <c:v>2760</c:v>
                </c:pt>
                <c:pt idx="70">
                  <c:v>2800</c:v>
                </c:pt>
                <c:pt idx="71">
                  <c:v>2840</c:v>
                </c:pt>
                <c:pt idx="72">
                  <c:v>2880</c:v>
                </c:pt>
                <c:pt idx="73">
                  <c:v>2920</c:v>
                </c:pt>
                <c:pt idx="74">
                  <c:v>2960</c:v>
                </c:pt>
                <c:pt idx="75">
                  <c:v>3000</c:v>
                </c:pt>
                <c:pt idx="76">
                  <c:v>3040</c:v>
                </c:pt>
                <c:pt idx="77">
                  <c:v>3080</c:v>
                </c:pt>
                <c:pt idx="78">
                  <c:v>3120</c:v>
                </c:pt>
                <c:pt idx="79">
                  <c:v>3160</c:v>
                </c:pt>
                <c:pt idx="80">
                  <c:v>3200</c:v>
                </c:pt>
                <c:pt idx="81">
                  <c:v>3240</c:v>
                </c:pt>
                <c:pt idx="82">
                  <c:v>3280</c:v>
                </c:pt>
                <c:pt idx="83">
                  <c:v>3320</c:v>
                </c:pt>
                <c:pt idx="84">
                  <c:v>3360</c:v>
                </c:pt>
                <c:pt idx="85">
                  <c:v>3400</c:v>
                </c:pt>
                <c:pt idx="86">
                  <c:v>3440</c:v>
                </c:pt>
                <c:pt idx="87">
                  <c:v>3480</c:v>
                </c:pt>
                <c:pt idx="88">
                  <c:v>3520</c:v>
                </c:pt>
                <c:pt idx="89">
                  <c:v>3560</c:v>
                </c:pt>
                <c:pt idx="90">
                  <c:v>3600</c:v>
                </c:pt>
                <c:pt idx="91">
                  <c:v>3640</c:v>
                </c:pt>
                <c:pt idx="92">
                  <c:v>3680</c:v>
                </c:pt>
                <c:pt idx="93">
                  <c:v>3720</c:v>
                </c:pt>
                <c:pt idx="94">
                  <c:v>3760</c:v>
                </c:pt>
                <c:pt idx="95">
                  <c:v>3800</c:v>
                </c:pt>
                <c:pt idx="96">
                  <c:v>3840</c:v>
                </c:pt>
                <c:pt idx="97">
                  <c:v>3880</c:v>
                </c:pt>
                <c:pt idx="98">
                  <c:v>3920</c:v>
                </c:pt>
                <c:pt idx="99">
                  <c:v>3960</c:v>
                </c:pt>
                <c:pt idx="100">
                  <c:v>4000</c:v>
                </c:pt>
              </c:numCache>
            </c:numRef>
          </c:xVal>
          <c:yVal>
            <c:numRef>
              <c:f>'Chart Data'!$B$2:$B$102</c:f>
              <c:numCache>
                <c:formatCode>General</c:formatCode>
                <c:ptCount val="101"/>
                <c:pt idx="0">
                  <c:v>0.66666666669999997</c:v>
                </c:pt>
                <c:pt idx="1">
                  <c:v>0.28051340949999998</c:v>
                </c:pt>
                <c:pt idx="2">
                  <c:v>0.13632283379999999</c:v>
                </c:pt>
                <c:pt idx="3">
                  <c:v>9.8683743419999997E-2</c:v>
                </c:pt>
                <c:pt idx="4">
                  <c:v>0.1055928141</c:v>
                </c:pt>
                <c:pt idx="5">
                  <c:v>0.10734614470000001</c:v>
                </c:pt>
                <c:pt idx="6">
                  <c:v>9.6708920889999994E-2</c:v>
                </c:pt>
                <c:pt idx="7">
                  <c:v>8.0979371659999994E-2</c:v>
                </c:pt>
                <c:pt idx="8">
                  <c:v>6.7869375669999996E-2</c:v>
                </c:pt>
                <c:pt idx="9">
                  <c:v>6.1202531089999998E-2</c:v>
                </c:pt>
                <c:pt idx="10">
                  <c:v>6.0366894730000002E-2</c:v>
                </c:pt>
                <c:pt idx="11">
                  <c:v>6.2308212789999998E-2</c:v>
                </c:pt>
                <c:pt idx="12">
                  <c:v>6.4032628379999998E-2</c:v>
                </c:pt>
                <c:pt idx="13">
                  <c:v>6.3870941010000001E-2</c:v>
                </c:pt>
                <c:pt idx="14">
                  <c:v>6.1504745380000003E-2</c:v>
                </c:pt>
                <c:pt idx="15">
                  <c:v>5.7505891820000002E-2</c:v>
                </c:pt>
                <c:pt idx="16">
                  <c:v>5.2859223060000002E-2</c:v>
                </c:pt>
                <c:pt idx="17">
                  <c:v>4.8578907300000002E-2</c:v>
                </c:pt>
                <c:pt idx="18">
                  <c:v>4.5419183439999997E-2</c:v>
                </c:pt>
                <c:pt idx="19">
                  <c:v>4.3705573960000001E-2</c:v>
                </c:pt>
                <c:pt idx="20">
                  <c:v>4.3321900429999997E-2</c:v>
                </c:pt>
                <c:pt idx="21">
                  <c:v>4.3838004880000003E-2</c:v>
                </c:pt>
                <c:pt idx="22">
                  <c:v>4.4702839190000003E-2</c:v>
                </c:pt>
                <c:pt idx="23">
                  <c:v>4.5416246719999998E-2</c:v>
                </c:pt>
                <c:pt idx="24">
                  <c:v>4.5631191049999999E-2</c:v>
                </c:pt>
                <c:pt idx="25">
                  <c:v>4.5185131810000001E-2</c:v>
                </c:pt>
                <c:pt idx="26">
                  <c:v>4.408388295E-2</c:v>
                </c:pt>
                <c:pt idx="27">
                  <c:v>4.2462319890000003E-2</c:v>
                </c:pt>
                <c:pt idx="28">
                  <c:v>4.0537035380000003E-2</c:v>
                </c:pt>
                <c:pt idx="29">
                  <c:v>3.8557780190000002E-2</c:v>
                </c:pt>
                <c:pt idx="30">
                  <c:v>3.6761364040000001E-2</c:v>
                </c:pt>
                <c:pt idx="31">
                  <c:v>3.5332390890000002E-2</c:v>
                </c:pt>
                <c:pt idx="32">
                  <c:v>3.4376444659999998E-2</c:v>
                </c:pt>
                <c:pt idx="33">
                  <c:v>3.3910390649999997E-2</c:v>
                </c:pt>
                <c:pt idx="34">
                  <c:v>3.3870726019999998E-2</c:v>
                </c:pt>
                <c:pt idx="35">
                  <c:v>3.4136080579999999E-2</c:v>
                </c:pt>
                <c:pt idx="36">
                  <c:v>3.455658793E-2</c:v>
                </c:pt>
                <c:pt idx="37">
                  <c:v>3.4982440939999998E-2</c:v>
                </c:pt>
                <c:pt idx="38">
                  <c:v>3.5286152170000001E-2</c:v>
                </c:pt>
                <c:pt idx="39">
                  <c:v>3.5376257979999999E-2</c:v>
                </c:pt>
                <c:pt idx="40">
                  <c:v>3.5202880409999998E-2</c:v>
                </c:pt>
                <c:pt idx="41">
                  <c:v>3.4756967319999998E-2</c:v>
                </c:pt>
                <c:pt idx="42">
                  <c:v>3.4065271920000001E-2</c:v>
                </c:pt>
                <c:pt idx="43">
                  <c:v>3.3182718770000001E-2</c:v>
                </c:pt>
                <c:pt idx="44">
                  <c:v>3.2183257139999998E-2</c:v>
                </c:pt>
                <c:pt idx="45">
                  <c:v>3.1149948940000002E-2</c:v>
                </c:pt>
                <c:pt idx="46">
                  <c:v>3.0164968890000001E-2</c:v>
                </c:pt>
                <c:pt idx="47">
                  <c:v>2.930031868E-2</c:v>
                </c:pt>
                <c:pt idx="48">
                  <c:v>2.8610192999999999E-2</c:v>
                </c:pt>
                <c:pt idx="49">
                  <c:v>2.8125905159999999E-2</c:v>
                </c:pt>
                <c:pt idx="50">
                  <c:v>2.7853992000000001E-2</c:v>
                </c:pt>
                <c:pt idx="51">
                  <c:v>2.7777608929999999E-2</c:v>
                </c:pt>
                <c:pt idx="52">
                  <c:v>2.7860746509999999E-2</c:v>
                </c:pt>
                <c:pt idx="53">
                  <c:v>2.805433781E-2</c:v>
                </c:pt>
                <c:pt idx="54">
                  <c:v>2.830311835E-2</c:v>
                </c:pt>
                <c:pt idx="55">
                  <c:v>2.855217518E-2</c:v>
                </c:pt>
                <c:pt idx="56">
                  <c:v>2.8752405290000001E-2</c:v>
                </c:pt>
                <c:pt idx="57">
                  <c:v>2.8864469189999999E-2</c:v>
                </c:pt>
                <c:pt idx="58">
                  <c:v>2.8861157389999999E-2</c:v>
                </c:pt>
                <c:pt idx="59">
                  <c:v>2.872831608E-2</c:v>
                </c:pt>
                <c:pt idx="60">
                  <c:v>2.84645894E-2</c:v>
                </c:pt>
                <c:pt idx="61">
                  <c:v>2.8080252350000001E-2</c:v>
                </c:pt>
                <c:pt idx="62">
                  <c:v>2.759537225E-2</c:v>
                </c:pt>
                <c:pt idx="63">
                  <c:v>2.7037487830000002E-2</c:v>
                </c:pt>
                <c:pt idx="64">
                  <c:v>2.6438960380000001E-2</c:v>
                </c:pt>
                <c:pt idx="65">
                  <c:v>2.5834144749999999E-2</c:v>
                </c:pt>
                <c:pt idx="66">
                  <c:v>2.525654393E-2</c:v>
                </c:pt>
                <c:pt idx="67">
                  <c:v>2.473613761E-2</c:v>
                </c:pt>
                <c:pt idx="68">
                  <c:v>2.4297091640000001E-2</c:v>
                </c:pt>
                <c:pt idx="69">
                  <c:v>2.3956046750000001E-2</c:v>
                </c:pt>
                <c:pt idx="70">
                  <c:v>2.3721139410000001E-2</c:v>
                </c:pt>
                <c:pt idx="71">
                  <c:v>2.3591830960000001E-2</c:v>
                </c:pt>
                <c:pt idx="72">
                  <c:v>2.3559523249999999E-2</c:v>
                </c:pt>
                <c:pt idx="73">
                  <c:v>2.3608844189999999E-2</c:v>
                </c:pt>
                <c:pt idx="74">
                  <c:v>2.371941239E-2</c:v>
                </c:pt>
                <c:pt idx="75">
                  <c:v>2.386785282E-2</c:v>
                </c:pt>
                <c:pt idx="76">
                  <c:v>2.402983769E-2</c:v>
                </c:pt>
                <c:pt idx="77">
                  <c:v>2.4181961469999999E-2</c:v>
                </c:pt>
                <c:pt idx="78">
                  <c:v>2.4303314869999999E-2</c:v>
                </c:pt>
                <c:pt idx="79">
                  <c:v>2.4376682319999999E-2</c:v>
                </c:pt>
                <c:pt idx="80">
                  <c:v>2.4389341469999999E-2</c:v>
                </c:pt>
                <c:pt idx="81">
                  <c:v>2.433348284E-2</c:v>
                </c:pt>
                <c:pt idx="82">
                  <c:v>2.4206290870000001E-2</c:v>
                </c:pt>
                <c:pt idx="83">
                  <c:v>2.4009737619999999E-2</c:v>
                </c:pt>
                <c:pt idx="84">
                  <c:v>2.3750139739999999E-2</c:v>
                </c:pt>
                <c:pt idx="85">
                  <c:v>2.3437524960000001E-2</c:v>
                </c:pt>
                <c:pt idx="86">
                  <c:v>2.3084848889999999E-2</c:v>
                </c:pt>
                <c:pt idx="87">
                  <c:v>2.2707100569999999E-2</c:v>
                </c:pt>
                <c:pt idx="88">
                  <c:v>2.232033663E-2</c:v>
                </c:pt>
                <c:pt idx="89">
                  <c:v>2.1940688140000001E-2</c:v>
                </c:pt>
                <c:pt idx="90">
                  <c:v>2.1583390359999999E-2</c:v>
                </c:pt>
                <c:pt idx="91">
                  <c:v>2.126189014E-2</c:v>
                </c:pt>
                <c:pt idx="92">
                  <c:v>2.098708661E-2</c:v>
                </c:pt>
                <c:pt idx="93">
                  <c:v>2.0766755200000001E-2</c:v>
                </c:pt>
                <c:pt idx="94">
                  <c:v>2.0605193809999998E-2</c:v>
                </c:pt>
                <c:pt idx="95">
                  <c:v>2.0503111819999999E-2</c:v>
                </c:pt>
                <c:pt idx="96">
                  <c:v>2.0457761620000001E-2</c:v>
                </c:pt>
                <c:pt idx="97">
                  <c:v>2.0463290799999999E-2</c:v>
                </c:pt>
                <c:pt idx="98">
                  <c:v>2.0511274369999999E-2</c:v>
                </c:pt>
                <c:pt idx="99">
                  <c:v>2.0591373539999999E-2</c:v>
                </c:pt>
                <c:pt idx="100">
                  <c:v>2.069206174E-2</c:v>
                </c:pt>
              </c:numCache>
            </c:numRef>
          </c:yVal>
          <c:smooth val="1"/>
          <c:extLst>
            <c:ext xmlns:c16="http://schemas.microsoft.com/office/drawing/2014/chart" uri="{C3380CC4-5D6E-409C-BE32-E72D297353CC}">
              <c16:uniqueId val="{00000000-A789-4D4D-8FDB-F4DDF5E43DCC}"/>
            </c:ext>
          </c:extLst>
        </c:ser>
        <c:dLbls>
          <c:showLegendKey val="0"/>
          <c:showVal val="0"/>
          <c:showCatName val="0"/>
          <c:showSerName val="0"/>
          <c:showPercent val="0"/>
          <c:showBubbleSize val="0"/>
        </c:dLbls>
        <c:axId val="48650112"/>
        <c:axId val="48672768"/>
      </c:scatterChart>
      <c:valAx>
        <c:axId val="48672768"/>
        <c:scaling>
          <c:orientation val="minMax"/>
          <c:max val="0.75"/>
          <c:min val="0"/>
        </c:scaling>
        <c:delete val="0"/>
        <c:axPos val="l"/>
        <c:majorGridlines>
          <c:spPr>
            <a:ln w="9525">
              <a:solidFill>
                <a:srgbClr val="CCD5E4"/>
              </a:solidFill>
              <a:prstDash val="solid"/>
            </a:ln>
          </c:spPr>
        </c:majorGridlines>
        <c:title>
          <c:tx>
            <c:rich>
              <a:bodyPr/>
              <a:lstStyle/>
              <a:p>
                <a:r>
                  <a:rPr sz="1575">
                    <a:solidFill>
                      <a:srgbClr val="59657A"/>
                    </a:solidFill>
                    <a:latin typeface="Arial"/>
                    <a:ea typeface="Arial"/>
                    <a:cs typeface="Arial"/>
                  </a:rPr>
                  <a:t>Equilibrium gap</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59657A"/>
                </a:solidFill>
                <a:latin typeface="Arial"/>
                <a:ea typeface="Arial"/>
                <a:cs typeface="Arial"/>
              </a:defRPr>
            </a:pPr>
            <a:endParaRPr lang="en-US"/>
          </a:p>
        </c:txPr>
        <c:crossAx val="48650112"/>
        <c:crosses val="autoZero"/>
        <c:crossBetween val="midCat"/>
        <c:majorUnit val="0.25"/>
      </c:valAx>
      <c:valAx>
        <c:axId val="48650112"/>
        <c:scaling>
          <c:orientation val="minMax"/>
          <c:max val="4000"/>
          <c:min val="0"/>
        </c:scaling>
        <c:delete val="0"/>
        <c:axPos val="b"/>
        <c:title>
          <c:tx>
            <c:rich>
              <a:bodyPr/>
              <a:lstStyle/>
              <a:p>
                <a:r>
                  <a:rPr sz="1575">
                    <a:solidFill>
                      <a:srgbClr val="59657A"/>
                    </a:solidFill>
                    <a:latin typeface="Arial"/>
                    <a:ea typeface="Arial"/>
                    <a:cs typeface="Arial"/>
                  </a:rPr>
                  <a:t>Rounds</a:t>
                </a:r>
              </a:p>
            </c:rich>
          </c:tx>
          <c:overlay val="0"/>
        </c:title>
        <c:numFmt formatCode="General" sourceLinked="1"/>
        <c:majorTickMark val="none"/>
        <c:minorTickMark val="none"/>
        <c:tickLblPos val="nextTo"/>
        <c:spPr>
          <a:ln w="9525">
            <a:solidFill>
              <a:srgbClr val="CCD5E4"/>
            </a:solidFill>
            <a:prstDash val="solid"/>
          </a:ln>
        </c:spPr>
        <c:txPr>
          <a:bodyPr anchorCtr="1"/>
          <a:lstStyle/>
          <a:p>
            <a:pPr>
              <a:defRPr sz="1500">
                <a:solidFill>
                  <a:srgbClr val="59657A"/>
                </a:solidFill>
                <a:latin typeface="Arial"/>
                <a:ea typeface="Arial"/>
                <a:cs typeface="Arial"/>
              </a:defRPr>
            </a:pPr>
            <a:endParaRPr lang="en-US"/>
          </a:p>
        </c:txPr>
        <c:crossAx val="48672768"/>
        <c:crosses val="autoZero"/>
        <c:crossBetween val="midCat"/>
        <c:majorUnit val="1000"/>
      </c:valAx>
      <c:spPr>
        <a:solidFill>
          <a:srgbClr val="F7F8FC"/>
        </a:solidFill>
      </c:spPr>
    </c:plotArea>
    <c:plotVisOnly val="1"/>
    <c:dispBlanksAs val="zero"/>
    <c:showDLblsOverMax val="1"/>
  </c:chart>
  <c:spPr>
    <a:solidFill>
      <a:srgbClr val="F7F8FC"/>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0:00–2:00 (2 minutes).</a:t>
            </a:r>
          </a:p>
          <a:p>
            <a:r>
              <a:t>Opening: I work at the intersection of game theory, learning, and optimization. I study what happens when decision makers adapt while other decision makers are adapting too. The goal is both to design algorithms and to understand their limits. A learning system might optimize one loss, interact cooperatively with other agents, or face an opponent.</a:t>
            </a:r>
          </a:p>
          <a:p>
            <a:r>
              <a:t>Tell the audience that they already know the first example: rock–paper–scissors. Ask them to choose a move silently, then play one round with you.</a:t>
            </a:r>
          </a:p>
          <a:p>
            <a:r>
              <a:t>This is a research overview, not a list of all publications. The four selected results are joint work with the collaborators credited on the corresponding slides.</a:t>
            </a:r>
          </a:p>
          <a:p>
            <a:r>
              <a:t>Profile and research interests: https://panageas.github.io/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2:00–6:00 (4 minutes).</a:t>
            </a:r>
          </a:p>
          <a:p>
            <a:r>
              <a:t>Ask: If your opponent knows your next move, can that move be optimal? Every fixed action loses to another, so there is no pure equilibrium. A strategy can instead be a probability distribution. If both players choose each move with probability one third, any fixed action earns zero, and therefore any mixture also earns zero. Neither player can improve alone.</a:t>
            </a:r>
          </a:p>
          <a:p>
            <a:r>
              <a:t>Define Nash equilibrium carefully: each player is already playing a best response to the other player's strategy. It does not mean everyone receives their favorite outcome, or that a strategy beats every opponent.</a:t>
            </a:r>
          </a:p>
          <a:p>
            <a:r>
              <a:t>Audience exercise: If I play rock half the time and never scissors, what would you do?</a:t>
            </a:r>
          </a:p>
          <a:p>
            <a:r>
              <a:t>Before advancing, ask the next question without showing its answer: What if rock beating scissors were worth two points? Which move would appear more often in equilibrium? Take a vote.</a:t>
            </a:r>
          </a:p>
          <a:p>
            <a:r>
              <a:t>The RPS calculation is exact. Illustration: AI-generated clay hand gestures, used only as illustrations.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6:00–10:00 (4 minutes).</a:t>
            </a:r>
          </a:p>
          <a:p>
            <a:r>
              <a:t>Pause on the audience's predictions. Against a uniform opponent, rock earns one third, paper zero, and scissors minus one third. So uniform play is no longer an equilibrium.</a:t>
            </a:r>
          </a:p>
          <a:p>
            <a:r>
              <a:t>Let the opponent's probabilities be r, p, s. Your pure-action payoffs are −p+2s, r−s, and −2r+p. At equilibrium they are all zero. Thus r=s and p=2r. Since r+p+s=1, both players use (1/4,1/2,1/4). This can be checked directly using the displayed matrix.</a:t>
            </a:r>
          </a:p>
          <a:p>
            <a:r>
              <a:t>Intuition: increasing rock's reward changes what is needed to keep rock indifferent. Paper must appear more often to offset the now larger gain against scissors. These are equilibrium comparisons, not a prediction about every person's immediate reaction.</a:t>
            </a:r>
          </a:p>
          <a:p>
            <a:r>
              <a:t>Ask: How would we solve this if there were thousands of actions? That is an algorithmic question.</a:t>
            </a:r>
          </a:p>
          <a:p>
            <a:r>
              <a:t>All payoffs, probabilities and the derivation are an original illustrative calculation, not a claimed new research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10:00–14:00 (4 minutes).</a:t>
            </a:r>
          </a:p>
          <a:p>
            <a:r>
              <a:t>Optimization means choosing variables to make an objective as good as possible. Here the variables are probabilities. The inner minimum represents an adversary choosing a response. For a finite two-player zero-sum matrix game, linear programming computes an equilibrium in time polynomial in the explicit input length.</a:t>
            </a:r>
          </a:p>
          <a:p>
            <a:r>
              <a:t>An alternative is to learn: increase the weight of actions that have performed well. Low regret means your average payoff is close to that of the best fixed action chosen in hindsight. If both players have sublinear external regret, the equilibrium gap of their average strategies tends to zero. Current strategies need not converge.</a:t>
            </a:r>
          </a:p>
          <a:p>
            <a:r>
              <a:t>Chart: deterministic entropic FTRL in the exact matrix on slide 3. Start cumulative payoff vectors G=H=0. At round t, eta=sqrt(log(3)/t)/2, p=softmax(eta G), q=softmax(eta H), then G+=Aq and H+=−A^T p. Plot gap=max_i(A qbar)_i−min_j(pbar^T A)_j, sampled every 40 rounds through 4,000. This is a reproducible illustrative run, not a measured research benchmark.</a:t>
            </a:r>
          </a:p>
          <a:p>
            <a:r>
              <a:t>Background: Freund and Schapire, Adaptive Game Playing Using Multiplicative Weights (1999), https://www.schapire.net/papers/FreundScYY.pdf</a:t>
            </a:r>
          </a:p>
          <a:p>
            <a:r>
              <a:t>Transition: learning in machine learning often asks us to minimize a smooth loss instead. Can gradient descent get stuck?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14:00–18:00 (4 minutes).</a:t>
            </a:r>
          </a:p>
          <a:p>
            <a:r>
              <a:t>At a saddle, the gradient can be zero even though a direction of improvement exists. On f(x,y)=x²−y² the x direction goes uphill and the y direction downhill. With step eta=0.1, gradient descent has x_next=0.8x and y_next=1.2y. Starting exactly on y=0 approaches the saddle; any nonzero y is amplified. The drawn paths use x0=1.35 and y0=0, +0.065, −0.065 for 17 steps.</a:t>
            </a:r>
          </a:p>
          <a:p>
            <a:r>
              <a:t>Clean theorem: for C² functions with L-Lipschitz gradient, fixed 0&lt;eta&lt;1/L, and a random initialization with a density, convergence to any strict saddle has probability zero. Strict means a negative Hessian eigenvalue. The 2017 work handles non-isolated critical points; the broader 2019 framework covers several first-order methods under appropriate assumptions.</a:t>
            </a:r>
          </a:p>
          <a:p>
            <a:r>
              <a:t>This is asymptotic avoidance. It does not give a polynomial escape time, global convergence, or a global minimum guarantee.</a:t>
            </a:r>
          </a:p>
          <a:p>
            <a:r>
              <a:t>Primary sources: Panageas and Piliouras, Gradient Descent Only Converges to Minimizers: Non-Isolated Critical Points and Invariant Regions, ITCS 2017, https://drops.dagstuhl.de/entities/document/10.4230/LIPIcs.ITCS.2017.2</a:t>
            </a:r>
          </a:p>
          <a:p>
            <a:r>
              <a:t>Lee, Panageas, Piliouras, Simchowitz, Jordan and Recht, First-order Methods Almost Always Avoid Saddle Points, Mathematical Programming (2019), https://arxiv.org/abs/1710.07406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18:00–22:00 (4 minutes).</a:t>
            </a:r>
          </a:p>
          <a:p>
            <a:r>
              <a:t>Use the triangle as a model example. A and B want to match, A and C want to match, while B and C want to differ. Both endpoints agree about the reward on each edge, but all edge goals cannot be met simultaneously. A player's payoff is the sum of incident rewards. This is local shared interest, not necessarily one identical global payoff.</a:t>
            </a:r>
          </a:p>
          <a:p>
            <a:r>
              <a:t>Ask students to propose a stable assignment. All choosing 0 is a Nash equilibrium here: B or C can swap one satisfied edge for another, but cannot improve strictly. The tiny illustration is easy. It explains the model, not a hard instance.</a:t>
            </a:r>
          </a:p>
          <a:p>
            <a:r>
              <a:t>Our general result: computing an exact Nash equilibrium is CLS-complete even for two actions per player and rational common edge payoffs in [0,1]. Randomization is allowed. CLS concerns continuous local search; the result classifies worst-case difficulty. It does not prove an unconditional exponential lower bound or hardness of inverse-polynomial approximation.</a:t>
            </a:r>
          </a:p>
          <a:p>
            <a:r>
              <a:t>Ioannis Anagnostides, Ioannis Panageas, Jingming Yan, The Complexity of Nash Equilibrium in Network Congestion and Coordination Games (2026), Main Theorem 2, https://arxiv.org/html/2609.33225v1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22:00–27:00 (5 minutes).</a:t>
            </a:r>
          </a:p>
          <a:p>
            <a:r>
              <a:t>Both settings mix cooperation within teams and competition across teams. Team A has utility u and Team B −u. Each player chooses an independent strategy. Nash equilibrium tests one player's deviation, not a joint change by the whole team.</a:t>
            </a:r>
          </a:p>
          <a:p>
            <a:r>
              <a:t>Positive result: for finite discounted adversarial team Markov games against one adversary, we compute stationary epsilon-Nash in time polynomial in game parameters and 1/epsilon. The method combines independent team policy-gradient updates, adversary best responses, and an LP to recover the adversary policy. Do not claim arbitrary simultaneous gradient play converges or that exact equilibrium is efficiently solvable.</a:t>
            </a:r>
          </a:p>
          <a:p>
            <a:r>
              <a:t>Negative result: with two opposing teams, epsilon-Nash is PPAD-complete already for two players per team and inverse-polynomial epsilon. This is a worst-case complexity classification and a barrier under P != PPAD.</a:t>
            </a:r>
          </a:p>
          <a:p>
            <a:r>
              <a:t>Ask: Why not treat a whole team as a single player? That would allow a centralized joint action distribution. Independent teammates face product-distribution constraints, changing the problem. This is the key bridge to nonconvex min-max optimization.</a:t>
            </a:r>
          </a:p>
          <a:p>
            <a:r>
              <a:t>Sources: Fivos Kalogiannis, Ioannis Anagnostides, Ioannis Panageas, Emmanouil-Vasileios Vlatakis-Gkaragkounis, Vaggos Chatziafratis, Stelios Stavroulakis, Efficiently Computing Nash Equilibria in Adversarial Team Markov Games, ICLR 2023, https://arxiv.org/abs/2208.02204</a:t>
            </a:r>
          </a:p>
          <a:p>
            <a:r>
              <a:t>Ioannis Anagnostides, Ioannis Panageas, Tuomas Sandholm, Jingming Yan, The Computational Complexity of Team Zero-Sum Games (2026), https://arxiv.org/html/2606.16139v1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27:00–30:00 (3 minutes, including discussion).</a:t>
            </a:r>
          </a:p>
          <a:p>
            <a:r>
              <a:t>Close by connecting the four results: instability can help optimization avoid strict saddles; local cooperation still permits hard equilibrium problems; a team facing one opponent admits efficient approximation; two opposing teams can recover the difficulty of general games. These are examples of the larger project: understand which mathematical structure makes learning and optimization tractable.</a:t>
            </a:r>
          </a:p>
          <a:p>
            <a:r>
              <a:t>The take-away question ties back to rock–paper–scissors: randomization matters, and constraints on who can coordinate random choices matter too. Explain that allowing a centralized correlated plan changes the strategy space and solution concept. Do not imply that all such settings automatically become efficiently solvable in a compact representation.</a:t>
            </a:r>
          </a:p>
          <a:p>
            <a:r>
              <a:t>Invite questions. If time remains, ask for examples of cooperation and competition in multi-agent AI or everyday systems.</a:t>
            </a:r>
          </a:p>
          <a:p>
            <a:r>
              <a:t>Research interests and contact: https://panageas.github.io/</a:t>
            </a:r>
          </a:p>
          <a:p>
            <a:r>
              <a:t>Suggested total pacing: 2 + 4 + 4 + 4 + 4 + 4 + 5 + 3 = 30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D573796-48D1-4CA6-8D04-5B0238DEE65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0584321E-90BC-41E0-993A-C6263772A67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BE541B3-F0FE-40A6-B9F3-192A1A6F159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2872F84-AFEB-4D02-8941-7831FB699F5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BF7AD7B-DDB2-456E-80CA-7CEE0E39A24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2FC093B-D438-41D9-9ED9-A3EFEC2B174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436101F-3194-415F-A935-13069FB73C0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20DC882-EEEB-45EA-9A41-6BD044AAAEC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E95FB0C-E1C1-4DCA-BF1D-ADD1BA5BEBC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1D30A40-C1C7-41A8-847C-DCC11380312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2.xml"/><Relationship Id="rId5" Type="http://schemas.openxmlformats.org/officeDocument/2006/relationships/slideLayout" Target="../slideLayouts/slideLayout6.xml"/><Relationship Id="rId4" Type="http://schemas.openxmlformats.org/officeDocument/2006/relationships/tags" Target="../tags/tag4.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chart" Target="../charts/chart1.xml"/><Relationship Id="rId18" Type="http://schemas.openxmlformats.org/officeDocument/2006/relationships/image" Target="../media/image8.png"/><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notesSlide" Target="../notesSlides/notesSlide3.xml"/><Relationship Id="rId17" Type="http://schemas.openxmlformats.org/officeDocument/2006/relationships/image" Target="../media/image7.png"/><Relationship Id="rId2" Type="http://schemas.openxmlformats.org/officeDocument/2006/relationships/tags" Target="../tags/tag6.xml"/><Relationship Id="rId16" Type="http://schemas.openxmlformats.org/officeDocument/2006/relationships/image" Target="../media/image6.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slideLayout" Target="../slideLayouts/slideLayout6.xml"/><Relationship Id="rId5" Type="http://schemas.openxmlformats.org/officeDocument/2006/relationships/tags" Target="../tags/tag9.xml"/><Relationship Id="rId15" Type="http://schemas.openxmlformats.org/officeDocument/2006/relationships/image" Target="../media/image5.png"/><Relationship Id="rId10" Type="http://schemas.openxmlformats.org/officeDocument/2006/relationships/tags" Target="../tags/tag14.xml"/><Relationship Id="rId19" Type="http://schemas.openxmlformats.org/officeDocument/2006/relationships/image" Target="../media/image9.png"/><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1.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0.png"/><Relationship Id="rId5" Type="http://schemas.openxmlformats.org/officeDocument/2006/relationships/chart" Target="../charts/char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1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tags" Target="../tags/tag19.xml"/><Relationship Id="rId16" Type="http://schemas.openxmlformats.org/officeDocument/2006/relationships/image" Target="../media/image18.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notesSlide" Target="../notesSlides/notesSlide6.xml"/><Relationship Id="rId5" Type="http://schemas.openxmlformats.org/officeDocument/2006/relationships/tags" Target="../tags/tag22.xml"/><Relationship Id="rId15" Type="http://schemas.openxmlformats.org/officeDocument/2006/relationships/image" Target="../media/image17.png"/><Relationship Id="rId10" Type="http://schemas.openxmlformats.org/officeDocument/2006/relationships/slideLayout" Target="../slideLayouts/slideLayout6.xml"/><Relationship Id="rId19" Type="http://schemas.openxmlformats.org/officeDocument/2006/relationships/image" Target="../media/image21.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slideLayout" Target="../slideLayouts/slideLayout6.xml"/><Relationship Id="rId18" Type="http://schemas.openxmlformats.org/officeDocument/2006/relationships/image" Target="../media/image24.png"/><Relationship Id="rId3" Type="http://schemas.openxmlformats.org/officeDocument/2006/relationships/tags" Target="../tags/tag29.xml"/><Relationship Id="rId21" Type="http://schemas.openxmlformats.org/officeDocument/2006/relationships/image" Target="../media/image27.png"/><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image" Target="../media/image16.png"/><Relationship Id="rId2" Type="http://schemas.openxmlformats.org/officeDocument/2006/relationships/tags" Target="../tags/tag28.xml"/><Relationship Id="rId16" Type="http://schemas.openxmlformats.org/officeDocument/2006/relationships/image" Target="../media/image23.png"/><Relationship Id="rId20" Type="http://schemas.openxmlformats.org/officeDocument/2006/relationships/image" Target="../media/image26.png"/><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image" Target="../media/image22.png"/><Relationship Id="rId23" Type="http://schemas.openxmlformats.org/officeDocument/2006/relationships/image" Target="../media/image29.png"/><Relationship Id="rId10" Type="http://schemas.openxmlformats.org/officeDocument/2006/relationships/tags" Target="../tags/tag36.xml"/><Relationship Id="rId19" Type="http://schemas.openxmlformats.org/officeDocument/2006/relationships/image" Target="../media/image25.png"/><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notesSlide" Target="../notesSlides/notesSlide7.xml"/><Relationship Id="rId22"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hyperlink" Target="https://panageas.github.io/"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6" name="slide-number">
            <a:extLst>
              <a:ext uri="{FF2B5EF4-FFF2-40B4-BE49-F238E27FC236}">
                <a16:creationId xmlns:a16="http://schemas.microsoft.com/office/drawing/2014/main" id="{1AF862B3-86E8-41C4-94E7-D06D5F6D2E85}"/>
              </a:ext>
            </a:extLst>
          </p:cNvPr>
          <p:cNvSpPr>
            <a:spLocks noGrp="1"/>
          </p:cNvSpPr>
          <p:nvPr/>
        </p:nvSpPr>
        <p:spPr>
          <a:xfrm>
            <a:off x="11144250" y="6372225"/>
            <a:ext cx="438150" cy="247650"/>
          </a:xfrm>
          <a:prstGeom prst="rect">
            <a:avLst/>
          </a:prstGeom>
          <a:noFill/>
          <a:ln w="0">
            <a:noFill/>
            <a:prstDash val="solid"/>
          </a:ln>
        </p:spPr>
        <p:txBody>
          <a:bodyPr wrap="square" lIns="0" tIns="0" rIns="0" bIns="0" anchor="ctr">
            <a:noAutofit/>
          </a:bodyPr>
          <a:lstStyle>
            <a:defPPr algn="r">
              <a:defRPr sz="1275" b="0">
                <a:solidFill>
                  <a:srgbClr val="59657A"/>
                </a:solidFill>
                <a:latin typeface="Arial"/>
                <a:ea typeface="Arial"/>
                <a:cs typeface="Arial"/>
              </a:defRPr>
            </a:defPPr>
            <a:lvl1pPr algn="r">
              <a:defRPr sz="1275" b="0">
                <a:solidFill>
                  <a:srgbClr val="59657A"/>
                </a:solidFill>
                <a:latin typeface="Arial"/>
                <a:ea typeface="Arial"/>
                <a:cs typeface="Arial"/>
              </a:defRPr>
            </a:lvl1pPr>
            <a:lvl2pPr algn="r">
              <a:defRPr sz="1275" b="0">
                <a:solidFill>
                  <a:srgbClr val="59657A"/>
                </a:solidFill>
                <a:latin typeface="Arial"/>
                <a:ea typeface="Arial"/>
                <a:cs typeface="Arial"/>
              </a:defRPr>
            </a:lvl2pPr>
            <a:lvl3pPr algn="r">
              <a:defRPr sz="1275" b="0">
                <a:solidFill>
                  <a:srgbClr val="59657A"/>
                </a:solidFill>
                <a:latin typeface="Arial"/>
                <a:ea typeface="Arial"/>
                <a:cs typeface="Arial"/>
              </a:defRPr>
            </a:lvl3pPr>
            <a:lvl4pPr algn="r">
              <a:defRPr sz="1275" b="0">
                <a:solidFill>
                  <a:srgbClr val="59657A"/>
                </a:solidFill>
                <a:latin typeface="Arial"/>
                <a:ea typeface="Arial"/>
                <a:cs typeface="Arial"/>
              </a:defRPr>
            </a:lvl4pPr>
            <a:lvl5pPr algn="r">
              <a:defRPr sz="1275" b="0">
                <a:solidFill>
                  <a:srgbClr val="59657A"/>
                </a:solidFill>
                <a:latin typeface="Arial"/>
                <a:ea typeface="Arial"/>
                <a:cs typeface="Arial"/>
              </a:defRPr>
            </a:lvl5pPr>
            <a:lvl6pPr algn="r">
              <a:defRPr sz="1275" b="0">
                <a:solidFill>
                  <a:srgbClr val="59657A"/>
                </a:solidFill>
                <a:latin typeface="Arial"/>
                <a:ea typeface="Arial"/>
                <a:cs typeface="Arial"/>
              </a:defRPr>
            </a:lvl6pPr>
            <a:lvl7pPr algn="r">
              <a:defRPr sz="1275" b="0">
                <a:solidFill>
                  <a:srgbClr val="59657A"/>
                </a:solidFill>
                <a:latin typeface="Arial"/>
                <a:ea typeface="Arial"/>
                <a:cs typeface="Arial"/>
              </a:defRPr>
            </a:lvl7pPr>
            <a:lvl8pPr algn="r">
              <a:defRPr sz="1275" b="0">
                <a:solidFill>
                  <a:srgbClr val="59657A"/>
                </a:solidFill>
                <a:latin typeface="Arial"/>
                <a:ea typeface="Arial"/>
                <a:cs typeface="Arial"/>
              </a:defRPr>
            </a:lvl8pPr>
            <a:lvl9pPr algn="r">
              <a:defRPr sz="1275" b="0">
                <a:solidFill>
                  <a:srgbClr val="59657A"/>
                </a:solidFill>
                <a:latin typeface="Arial"/>
                <a:ea typeface="Arial"/>
                <a:cs typeface="Arial"/>
              </a:defRPr>
            </a:lvl9pPr>
          </a:lstStyle>
          <a:p>
            <a:pPr algn="r">
              <a:defRPr sz="1275" b="0">
                <a:solidFill>
                  <a:srgbClr val="59657A"/>
                </a:solidFill>
                <a:latin typeface="Arial"/>
                <a:ea typeface="Arial"/>
                <a:cs typeface="Arial"/>
              </a:defRPr>
            </a:pPr>
            <a:r>
              <a:rPr sz="1275" b="0">
                <a:solidFill>
                  <a:srgbClr val="59657A"/>
                </a:solidFill>
                <a:latin typeface="Arial"/>
                <a:ea typeface="Arial"/>
                <a:cs typeface="Arial"/>
              </a:rPr>
              <a:t>01</a:t>
            </a:r>
          </a:p>
        </p:txBody>
      </p:sp>
      <p:sp>
        <p:nvSpPr>
          <p:cNvPr id="2" name="cover-title">
            <a:extLst>
              <a:ext uri="{FF2B5EF4-FFF2-40B4-BE49-F238E27FC236}">
                <a16:creationId xmlns:a16="http://schemas.microsoft.com/office/drawing/2014/main" id="{0636D96E-4197-45BB-AEC9-73FB3752CE22}"/>
              </a:ext>
            </a:extLst>
          </p:cNvPr>
          <p:cNvSpPr>
            <a:spLocks noGrp="1"/>
          </p:cNvSpPr>
          <p:nvPr/>
        </p:nvSpPr>
        <p:spPr>
          <a:xfrm>
            <a:off x="647700" y="800100"/>
            <a:ext cx="10287000" cy="1866900"/>
          </a:xfrm>
          <a:prstGeom prst="rect">
            <a:avLst/>
          </a:prstGeom>
          <a:noFill/>
          <a:ln w="0">
            <a:noFill/>
            <a:prstDash val="solid"/>
          </a:ln>
        </p:spPr>
        <p:txBody>
          <a:bodyPr wrap="square" lIns="0" tIns="0" rIns="0" bIns="0" anchor="ctr">
            <a:noAutofit/>
          </a:bodyPr>
          <a:lstStyle>
            <a:defPPr algn="l">
              <a:defRPr sz="5250" b="1">
                <a:solidFill>
                  <a:srgbClr val="FFFFFF"/>
                </a:solidFill>
                <a:latin typeface="Arial"/>
                <a:ea typeface="Arial"/>
                <a:cs typeface="Arial"/>
              </a:defRPr>
            </a:defPPr>
            <a:lvl1pPr algn="l">
              <a:defRPr sz="5250" b="1">
                <a:solidFill>
                  <a:srgbClr val="FFFFFF"/>
                </a:solidFill>
                <a:latin typeface="Arial"/>
                <a:ea typeface="Arial"/>
                <a:cs typeface="Arial"/>
              </a:defRPr>
            </a:lvl1pPr>
            <a:lvl2pPr algn="l">
              <a:defRPr sz="5250" b="1">
                <a:solidFill>
                  <a:srgbClr val="FFFFFF"/>
                </a:solidFill>
                <a:latin typeface="Arial"/>
                <a:ea typeface="Arial"/>
                <a:cs typeface="Arial"/>
              </a:defRPr>
            </a:lvl2pPr>
            <a:lvl3pPr algn="l">
              <a:defRPr sz="5250" b="1">
                <a:solidFill>
                  <a:srgbClr val="FFFFFF"/>
                </a:solidFill>
                <a:latin typeface="Arial"/>
                <a:ea typeface="Arial"/>
                <a:cs typeface="Arial"/>
              </a:defRPr>
            </a:lvl3pPr>
            <a:lvl4pPr algn="l">
              <a:defRPr sz="5250" b="1">
                <a:solidFill>
                  <a:srgbClr val="FFFFFF"/>
                </a:solidFill>
                <a:latin typeface="Arial"/>
                <a:ea typeface="Arial"/>
                <a:cs typeface="Arial"/>
              </a:defRPr>
            </a:lvl4pPr>
            <a:lvl5pPr algn="l">
              <a:defRPr sz="5250" b="1">
                <a:solidFill>
                  <a:srgbClr val="FFFFFF"/>
                </a:solidFill>
                <a:latin typeface="Arial"/>
                <a:ea typeface="Arial"/>
                <a:cs typeface="Arial"/>
              </a:defRPr>
            </a:lvl5pPr>
            <a:lvl6pPr algn="l">
              <a:defRPr sz="5250" b="1">
                <a:solidFill>
                  <a:srgbClr val="FFFFFF"/>
                </a:solidFill>
                <a:latin typeface="Arial"/>
                <a:ea typeface="Arial"/>
                <a:cs typeface="Arial"/>
              </a:defRPr>
            </a:lvl6pPr>
            <a:lvl7pPr algn="l">
              <a:defRPr sz="5250" b="1">
                <a:solidFill>
                  <a:srgbClr val="FFFFFF"/>
                </a:solidFill>
                <a:latin typeface="Arial"/>
                <a:ea typeface="Arial"/>
                <a:cs typeface="Arial"/>
              </a:defRPr>
            </a:lvl7pPr>
            <a:lvl8pPr algn="l">
              <a:defRPr sz="5250" b="1">
                <a:solidFill>
                  <a:srgbClr val="FFFFFF"/>
                </a:solidFill>
                <a:latin typeface="Arial"/>
                <a:ea typeface="Arial"/>
                <a:cs typeface="Arial"/>
              </a:defRPr>
            </a:lvl8pPr>
            <a:lvl9pPr algn="l">
              <a:defRPr sz="5250" b="1">
                <a:solidFill>
                  <a:srgbClr val="FFFFFF"/>
                </a:solidFill>
                <a:latin typeface="Arial"/>
                <a:ea typeface="Arial"/>
                <a:cs typeface="Arial"/>
              </a:defRPr>
            </a:lvl9pPr>
          </a:lstStyle>
          <a:p>
            <a:pPr algn="l">
              <a:defRPr sz="5250" b="1">
                <a:solidFill>
                  <a:srgbClr val="FFFFFF"/>
                </a:solidFill>
                <a:latin typeface="Arial"/>
                <a:ea typeface="Arial"/>
                <a:cs typeface="Arial"/>
              </a:defRPr>
            </a:pPr>
            <a:r>
              <a:rPr sz="5250" b="1">
                <a:solidFill>
                  <a:srgbClr val="FFFFFF"/>
                </a:solidFill>
                <a:latin typeface="Arial"/>
                <a:ea typeface="Arial"/>
                <a:cs typeface="Arial"/>
              </a:rPr>
              <a:t>Games, learning</a:t>
            </a:r>
          </a:p>
          <a:p>
            <a:pPr algn="l">
              <a:defRPr sz="5250" b="1">
                <a:solidFill>
                  <a:srgbClr val="FFFFFF"/>
                </a:solidFill>
                <a:latin typeface="Arial"/>
                <a:ea typeface="Arial"/>
                <a:cs typeface="Arial"/>
              </a:defRPr>
            </a:pPr>
            <a:r>
              <a:rPr sz="5250" b="1">
                <a:solidFill>
                  <a:srgbClr val="FFFFFF"/>
                </a:solidFill>
                <a:latin typeface="Arial"/>
                <a:ea typeface="Arial"/>
                <a:cs typeface="Arial"/>
              </a:rPr>
              <a:t>&amp; optimization</a:t>
            </a:r>
          </a:p>
        </p:txBody>
      </p:sp>
      <p:sp>
        <p:nvSpPr>
          <p:cNvPr id="4" name="cover-author">
            <a:extLst>
              <a:ext uri="{FF2B5EF4-FFF2-40B4-BE49-F238E27FC236}">
                <a16:creationId xmlns:a16="http://schemas.microsoft.com/office/drawing/2014/main" id="{3DCFE17B-F286-4199-9500-67C4804ACB09}"/>
              </a:ext>
            </a:extLst>
          </p:cNvPr>
          <p:cNvSpPr>
            <a:spLocks noGrp="1"/>
          </p:cNvSpPr>
          <p:nvPr/>
        </p:nvSpPr>
        <p:spPr>
          <a:xfrm>
            <a:off x="4758446" y="3681108"/>
            <a:ext cx="8572500" cy="428625"/>
          </a:xfrm>
          <a:prstGeom prst="rect">
            <a:avLst/>
          </a:prstGeom>
          <a:noFill/>
          <a:ln w="0">
            <a:noFill/>
            <a:prstDash val="solid"/>
          </a:ln>
        </p:spPr>
        <p:txBody>
          <a:bodyPr wrap="square" lIns="0" tIns="0" rIns="0" bIns="0" anchor="ctr">
            <a:noAutofit/>
          </a:bodyPr>
          <a:lstStyle>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a:pPr algn="l">
              <a:defRPr sz="2325" b="1">
                <a:solidFill>
                  <a:srgbClr val="FFFFFF"/>
                </a:solidFill>
                <a:latin typeface="Arial"/>
                <a:ea typeface="Arial"/>
                <a:cs typeface="Arial"/>
              </a:defRPr>
            </a:pPr>
            <a:r>
              <a:rPr sz="2325" b="1">
                <a:solidFill>
                  <a:srgbClr val="FFFFFF"/>
                </a:solidFill>
                <a:latin typeface="Arial"/>
                <a:ea typeface="Arial"/>
                <a:cs typeface="Arial"/>
              </a:rPr>
              <a:t>Ioannis Panageas</a:t>
            </a:r>
          </a:p>
        </p:txBody>
      </p:sp>
      <p:sp>
        <p:nvSpPr>
          <p:cNvPr id="5" name="cover-affiliation">
            <a:extLst>
              <a:ext uri="{FF2B5EF4-FFF2-40B4-BE49-F238E27FC236}">
                <a16:creationId xmlns:a16="http://schemas.microsoft.com/office/drawing/2014/main" id="{5A4A9C0A-034F-46F3-AE03-B10986CA6113}"/>
              </a:ext>
            </a:extLst>
          </p:cNvPr>
          <p:cNvSpPr>
            <a:spLocks noGrp="1"/>
          </p:cNvSpPr>
          <p:nvPr/>
        </p:nvSpPr>
        <p:spPr>
          <a:xfrm>
            <a:off x="4492558" y="4145604"/>
            <a:ext cx="8572500" cy="333375"/>
          </a:xfrm>
          <a:prstGeom prst="rect">
            <a:avLst/>
          </a:prstGeom>
          <a:noFill/>
          <a:ln w="0">
            <a:noFill/>
            <a:prstDash val="solid"/>
          </a:ln>
        </p:spPr>
        <p:txBody>
          <a:bodyPr wrap="square" lIns="0" tIns="0" rIns="0" bIns="0" anchor="ctr">
            <a:noAutofit/>
          </a:bodyPr>
          <a:lstStyle>
            <a:defPPr algn="l">
              <a:defRPr sz="1875" b="0">
                <a:solidFill>
                  <a:srgbClr val="D4DFF0"/>
                </a:solidFill>
                <a:latin typeface="Arial"/>
                <a:ea typeface="Arial"/>
                <a:cs typeface="Arial"/>
              </a:defRPr>
            </a:defPPr>
            <a:lvl1pPr algn="l">
              <a:defRPr sz="1875" b="0">
                <a:solidFill>
                  <a:srgbClr val="D4DFF0"/>
                </a:solidFill>
                <a:latin typeface="Arial"/>
                <a:ea typeface="Arial"/>
                <a:cs typeface="Arial"/>
              </a:defRPr>
            </a:lvl1pPr>
            <a:lvl2pPr algn="l">
              <a:defRPr sz="1875" b="0">
                <a:solidFill>
                  <a:srgbClr val="D4DFF0"/>
                </a:solidFill>
                <a:latin typeface="Arial"/>
                <a:ea typeface="Arial"/>
                <a:cs typeface="Arial"/>
              </a:defRPr>
            </a:lvl2pPr>
            <a:lvl3pPr algn="l">
              <a:defRPr sz="1875" b="0">
                <a:solidFill>
                  <a:srgbClr val="D4DFF0"/>
                </a:solidFill>
                <a:latin typeface="Arial"/>
                <a:ea typeface="Arial"/>
                <a:cs typeface="Arial"/>
              </a:defRPr>
            </a:lvl3pPr>
            <a:lvl4pPr algn="l">
              <a:defRPr sz="1875" b="0">
                <a:solidFill>
                  <a:srgbClr val="D4DFF0"/>
                </a:solidFill>
                <a:latin typeface="Arial"/>
                <a:ea typeface="Arial"/>
                <a:cs typeface="Arial"/>
              </a:defRPr>
            </a:lvl4pPr>
            <a:lvl5pPr algn="l">
              <a:defRPr sz="1875" b="0">
                <a:solidFill>
                  <a:srgbClr val="D4DFF0"/>
                </a:solidFill>
                <a:latin typeface="Arial"/>
                <a:ea typeface="Arial"/>
                <a:cs typeface="Arial"/>
              </a:defRPr>
            </a:lvl5pPr>
            <a:lvl6pPr algn="l">
              <a:defRPr sz="1875" b="0">
                <a:solidFill>
                  <a:srgbClr val="D4DFF0"/>
                </a:solidFill>
                <a:latin typeface="Arial"/>
                <a:ea typeface="Arial"/>
                <a:cs typeface="Arial"/>
              </a:defRPr>
            </a:lvl6pPr>
            <a:lvl7pPr algn="l">
              <a:defRPr sz="1875" b="0">
                <a:solidFill>
                  <a:srgbClr val="D4DFF0"/>
                </a:solidFill>
                <a:latin typeface="Arial"/>
                <a:ea typeface="Arial"/>
                <a:cs typeface="Arial"/>
              </a:defRPr>
            </a:lvl7pPr>
            <a:lvl8pPr algn="l">
              <a:defRPr sz="1875" b="0">
                <a:solidFill>
                  <a:srgbClr val="D4DFF0"/>
                </a:solidFill>
                <a:latin typeface="Arial"/>
                <a:ea typeface="Arial"/>
                <a:cs typeface="Arial"/>
              </a:defRPr>
            </a:lvl8pPr>
            <a:lvl9pPr algn="l">
              <a:defRPr sz="1875" b="0">
                <a:solidFill>
                  <a:srgbClr val="D4DFF0"/>
                </a:solidFill>
                <a:latin typeface="Arial"/>
                <a:ea typeface="Arial"/>
                <a:cs typeface="Arial"/>
              </a:defRPr>
            </a:lvl9pPr>
          </a:lstStyle>
          <a:p>
            <a:pPr algn="l">
              <a:defRPr sz="1875" b="0">
                <a:solidFill>
                  <a:srgbClr val="D4DFF0"/>
                </a:solidFill>
                <a:latin typeface="Arial"/>
                <a:ea typeface="Arial"/>
                <a:cs typeface="Arial"/>
              </a:defRPr>
            </a:pPr>
            <a:r>
              <a:rPr sz="1875" b="0">
                <a:solidFill>
                  <a:srgbClr val="D4DFF0"/>
                </a:solidFill>
                <a:latin typeface="Arial"/>
                <a:ea typeface="Arial"/>
                <a:cs typeface="Arial"/>
              </a:rPr>
              <a:t>Computer Science, UC Irvine</a:t>
            </a:r>
          </a:p>
        </p:txBody>
      </p:sp>
    </p:spTree>
    <p:extLst>
      <p:ext uri="{BB962C8B-B14F-4D97-AF65-F5344CB8AC3E}">
        <p14:creationId xmlns:p14="http://schemas.microsoft.com/office/powerpoint/2010/main" val="124831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C63CB9B6-398D-441B-8B03-C41B133C793E}"/>
              </a:ext>
            </a:extLst>
          </p:cNvPr>
          <p:cNvSpPr>
            <a:spLocks noGrp="1"/>
          </p:cNvSpPr>
          <p:nvPr/>
        </p:nvSpPr>
        <p:spPr>
          <a:xfrm>
            <a:off x="609600" y="400050"/>
            <a:ext cx="10972800" cy="666750"/>
          </a:xfrm>
          <a:prstGeom prst="rect">
            <a:avLst/>
          </a:prstGeom>
          <a:noFill/>
          <a:ln w="0">
            <a:noFill/>
            <a:prstDash val="solid"/>
          </a:ln>
        </p:spPr>
        <p:txBody>
          <a:bodyPr wrap="square" lIns="0" tIns="0" rIns="0" bIns="0" anchor="ctr">
            <a:noAutofit/>
          </a:bodyPr>
          <a:lstStyle>
            <a:defPPr algn="l">
              <a:defRPr sz="3150" b="1">
                <a:solidFill>
                  <a:srgbClr val="14213D"/>
                </a:solidFill>
                <a:latin typeface="Arial"/>
                <a:ea typeface="Arial"/>
                <a:cs typeface="Arial"/>
              </a:defRPr>
            </a:defPPr>
            <a:lvl1pPr algn="l">
              <a:defRPr sz="3150" b="1">
                <a:solidFill>
                  <a:srgbClr val="14213D"/>
                </a:solidFill>
                <a:latin typeface="Arial"/>
                <a:ea typeface="Arial"/>
                <a:cs typeface="Arial"/>
              </a:defRPr>
            </a:lvl1pPr>
            <a:lvl2pPr algn="l">
              <a:defRPr sz="3150" b="1">
                <a:solidFill>
                  <a:srgbClr val="14213D"/>
                </a:solidFill>
                <a:latin typeface="Arial"/>
                <a:ea typeface="Arial"/>
                <a:cs typeface="Arial"/>
              </a:defRPr>
            </a:lvl2pPr>
            <a:lvl3pPr algn="l">
              <a:defRPr sz="3150" b="1">
                <a:solidFill>
                  <a:srgbClr val="14213D"/>
                </a:solidFill>
                <a:latin typeface="Arial"/>
                <a:ea typeface="Arial"/>
                <a:cs typeface="Arial"/>
              </a:defRPr>
            </a:lvl3pPr>
            <a:lvl4pPr algn="l">
              <a:defRPr sz="3150" b="1">
                <a:solidFill>
                  <a:srgbClr val="14213D"/>
                </a:solidFill>
                <a:latin typeface="Arial"/>
                <a:ea typeface="Arial"/>
                <a:cs typeface="Arial"/>
              </a:defRPr>
            </a:lvl4pPr>
            <a:lvl5pPr algn="l">
              <a:defRPr sz="3150" b="1">
                <a:solidFill>
                  <a:srgbClr val="14213D"/>
                </a:solidFill>
                <a:latin typeface="Arial"/>
                <a:ea typeface="Arial"/>
                <a:cs typeface="Arial"/>
              </a:defRPr>
            </a:lvl5pPr>
            <a:lvl6pPr algn="l">
              <a:defRPr sz="3150" b="1">
                <a:solidFill>
                  <a:srgbClr val="14213D"/>
                </a:solidFill>
                <a:latin typeface="Arial"/>
                <a:ea typeface="Arial"/>
                <a:cs typeface="Arial"/>
              </a:defRPr>
            </a:lvl6pPr>
            <a:lvl7pPr algn="l">
              <a:defRPr sz="3150" b="1">
                <a:solidFill>
                  <a:srgbClr val="14213D"/>
                </a:solidFill>
                <a:latin typeface="Arial"/>
                <a:ea typeface="Arial"/>
                <a:cs typeface="Arial"/>
              </a:defRPr>
            </a:lvl7pPr>
            <a:lvl8pPr algn="l">
              <a:defRPr sz="3150" b="1">
                <a:solidFill>
                  <a:srgbClr val="14213D"/>
                </a:solidFill>
                <a:latin typeface="Arial"/>
                <a:ea typeface="Arial"/>
                <a:cs typeface="Arial"/>
              </a:defRPr>
            </a:lvl8pPr>
            <a:lvl9pPr algn="l">
              <a:defRPr sz="3150" b="1">
                <a:solidFill>
                  <a:srgbClr val="14213D"/>
                </a:solidFill>
                <a:latin typeface="Arial"/>
                <a:ea typeface="Arial"/>
                <a:cs typeface="Arial"/>
              </a:defRPr>
            </a:lvl9pPr>
          </a:lstStyle>
          <a:p>
            <a:pPr algn="l">
              <a:defRPr sz="3150" b="1">
                <a:solidFill>
                  <a:srgbClr val="14213D"/>
                </a:solidFill>
                <a:latin typeface="Arial"/>
                <a:ea typeface="Arial"/>
                <a:cs typeface="Arial"/>
              </a:defRPr>
            </a:pPr>
            <a:r>
              <a:rPr sz="3150" b="1">
                <a:solidFill>
                  <a:srgbClr val="14213D"/>
                </a:solidFill>
                <a:latin typeface="Arial"/>
                <a:ea typeface="Arial"/>
                <a:cs typeface="Arial"/>
              </a:rPr>
              <a:t>Rock–paper–scissors</a:t>
            </a:r>
          </a:p>
        </p:txBody>
      </p:sp>
      <p:sp>
        <p:nvSpPr>
          <p:cNvPr id="2" name="subtitle">
            <a:extLst>
              <a:ext uri="{FF2B5EF4-FFF2-40B4-BE49-F238E27FC236}">
                <a16:creationId xmlns:a16="http://schemas.microsoft.com/office/drawing/2014/main" id="{006CFBA1-86E6-44D8-9244-9743D7C00578}"/>
              </a:ext>
            </a:extLst>
          </p:cNvPr>
          <p:cNvSpPr>
            <a:spLocks noGrp="1"/>
          </p:cNvSpPr>
          <p:nvPr/>
        </p:nvSpPr>
        <p:spPr>
          <a:xfrm>
            <a:off x="628650" y="1123950"/>
            <a:ext cx="10934700" cy="457200"/>
          </a:xfrm>
          <a:prstGeom prst="rect">
            <a:avLst/>
          </a:prstGeom>
          <a:noFill/>
          <a:ln w="0">
            <a:noFill/>
            <a:prstDash val="solid"/>
          </a:ln>
        </p:spPr>
        <p:txBody>
          <a:bodyPr wrap="square" lIns="0" tIns="0" rIns="0" bIns="0" anchor="ctr">
            <a:noAutofit/>
          </a:bodyPr>
          <a:lstStyle>
            <a:defPPr algn="l">
              <a:defRPr sz="1875" b="0">
                <a:solidFill>
                  <a:srgbClr val="59657A"/>
                </a:solidFill>
                <a:latin typeface="Arial"/>
                <a:ea typeface="Arial"/>
                <a:cs typeface="Arial"/>
              </a:defRPr>
            </a:defPPr>
            <a:lvl1pPr algn="l">
              <a:defRPr sz="1875" b="0">
                <a:solidFill>
                  <a:srgbClr val="59657A"/>
                </a:solidFill>
                <a:latin typeface="Arial"/>
                <a:ea typeface="Arial"/>
                <a:cs typeface="Arial"/>
              </a:defRPr>
            </a:lvl1pPr>
            <a:lvl2pPr algn="l">
              <a:defRPr sz="1875" b="0">
                <a:solidFill>
                  <a:srgbClr val="59657A"/>
                </a:solidFill>
                <a:latin typeface="Arial"/>
                <a:ea typeface="Arial"/>
                <a:cs typeface="Arial"/>
              </a:defRPr>
            </a:lvl2pPr>
            <a:lvl3pPr algn="l">
              <a:defRPr sz="1875" b="0">
                <a:solidFill>
                  <a:srgbClr val="59657A"/>
                </a:solidFill>
                <a:latin typeface="Arial"/>
                <a:ea typeface="Arial"/>
                <a:cs typeface="Arial"/>
              </a:defRPr>
            </a:lvl3pPr>
            <a:lvl4pPr algn="l">
              <a:defRPr sz="1875" b="0">
                <a:solidFill>
                  <a:srgbClr val="59657A"/>
                </a:solidFill>
                <a:latin typeface="Arial"/>
                <a:ea typeface="Arial"/>
                <a:cs typeface="Arial"/>
              </a:defRPr>
            </a:lvl4pPr>
            <a:lvl5pPr algn="l">
              <a:defRPr sz="1875" b="0">
                <a:solidFill>
                  <a:srgbClr val="59657A"/>
                </a:solidFill>
                <a:latin typeface="Arial"/>
                <a:ea typeface="Arial"/>
                <a:cs typeface="Arial"/>
              </a:defRPr>
            </a:lvl5pPr>
            <a:lvl6pPr algn="l">
              <a:defRPr sz="1875" b="0">
                <a:solidFill>
                  <a:srgbClr val="59657A"/>
                </a:solidFill>
                <a:latin typeface="Arial"/>
                <a:ea typeface="Arial"/>
                <a:cs typeface="Arial"/>
              </a:defRPr>
            </a:lvl6pPr>
            <a:lvl7pPr algn="l">
              <a:defRPr sz="1875" b="0">
                <a:solidFill>
                  <a:srgbClr val="59657A"/>
                </a:solidFill>
                <a:latin typeface="Arial"/>
                <a:ea typeface="Arial"/>
                <a:cs typeface="Arial"/>
              </a:defRPr>
            </a:lvl7pPr>
            <a:lvl8pPr algn="l">
              <a:defRPr sz="1875" b="0">
                <a:solidFill>
                  <a:srgbClr val="59657A"/>
                </a:solidFill>
                <a:latin typeface="Arial"/>
                <a:ea typeface="Arial"/>
                <a:cs typeface="Arial"/>
              </a:defRPr>
            </a:lvl8pPr>
            <a:lvl9pPr algn="l">
              <a:defRPr sz="1875" b="0">
                <a:solidFill>
                  <a:srgbClr val="59657A"/>
                </a:solidFill>
                <a:latin typeface="Arial"/>
                <a:ea typeface="Arial"/>
                <a:cs typeface="Arial"/>
              </a:defRPr>
            </a:lvl9pPr>
          </a:lstStyle>
          <a:p>
            <a:pPr algn="l">
              <a:defRPr sz="1875" b="0">
                <a:solidFill>
                  <a:srgbClr val="59657A"/>
                </a:solidFill>
                <a:latin typeface="Arial"/>
                <a:ea typeface="Arial"/>
                <a:cs typeface="Arial"/>
              </a:defRPr>
            </a:pPr>
            <a:endParaRPr/>
          </a:p>
        </p:txBody>
      </p:sp>
      <p:sp>
        <p:nvSpPr>
          <p:cNvPr id="3" name="slide-number">
            <a:extLst>
              <a:ext uri="{FF2B5EF4-FFF2-40B4-BE49-F238E27FC236}">
                <a16:creationId xmlns:a16="http://schemas.microsoft.com/office/drawing/2014/main" id="{F3528BC7-8EB3-4B27-A1A1-C8E9ACBEF147}"/>
              </a:ext>
            </a:extLst>
          </p:cNvPr>
          <p:cNvSpPr>
            <a:spLocks noGrp="1"/>
          </p:cNvSpPr>
          <p:nvPr/>
        </p:nvSpPr>
        <p:spPr>
          <a:xfrm>
            <a:off x="11144250" y="6372225"/>
            <a:ext cx="438150" cy="247650"/>
          </a:xfrm>
          <a:prstGeom prst="rect">
            <a:avLst/>
          </a:prstGeom>
          <a:noFill/>
          <a:ln w="0">
            <a:noFill/>
            <a:prstDash val="solid"/>
          </a:ln>
        </p:spPr>
        <p:txBody>
          <a:bodyPr wrap="square" lIns="0" tIns="0" rIns="0" bIns="0" anchor="ctr">
            <a:noAutofit/>
          </a:bodyPr>
          <a:lstStyle>
            <a:defPPr algn="r">
              <a:defRPr sz="1275" b="0">
                <a:solidFill>
                  <a:srgbClr val="59657A"/>
                </a:solidFill>
                <a:latin typeface="Arial"/>
                <a:ea typeface="Arial"/>
                <a:cs typeface="Arial"/>
              </a:defRPr>
            </a:defPPr>
            <a:lvl1pPr algn="r">
              <a:defRPr sz="1275" b="0">
                <a:solidFill>
                  <a:srgbClr val="59657A"/>
                </a:solidFill>
                <a:latin typeface="Arial"/>
                <a:ea typeface="Arial"/>
                <a:cs typeface="Arial"/>
              </a:defRPr>
            </a:lvl1pPr>
            <a:lvl2pPr algn="r">
              <a:defRPr sz="1275" b="0">
                <a:solidFill>
                  <a:srgbClr val="59657A"/>
                </a:solidFill>
                <a:latin typeface="Arial"/>
                <a:ea typeface="Arial"/>
                <a:cs typeface="Arial"/>
              </a:defRPr>
            </a:lvl2pPr>
            <a:lvl3pPr algn="r">
              <a:defRPr sz="1275" b="0">
                <a:solidFill>
                  <a:srgbClr val="59657A"/>
                </a:solidFill>
                <a:latin typeface="Arial"/>
                <a:ea typeface="Arial"/>
                <a:cs typeface="Arial"/>
              </a:defRPr>
            </a:lvl3pPr>
            <a:lvl4pPr algn="r">
              <a:defRPr sz="1275" b="0">
                <a:solidFill>
                  <a:srgbClr val="59657A"/>
                </a:solidFill>
                <a:latin typeface="Arial"/>
                <a:ea typeface="Arial"/>
                <a:cs typeface="Arial"/>
              </a:defRPr>
            </a:lvl4pPr>
            <a:lvl5pPr algn="r">
              <a:defRPr sz="1275" b="0">
                <a:solidFill>
                  <a:srgbClr val="59657A"/>
                </a:solidFill>
                <a:latin typeface="Arial"/>
                <a:ea typeface="Arial"/>
                <a:cs typeface="Arial"/>
              </a:defRPr>
            </a:lvl5pPr>
            <a:lvl6pPr algn="r">
              <a:defRPr sz="1275" b="0">
                <a:solidFill>
                  <a:srgbClr val="59657A"/>
                </a:solidFill>
                <a:latin typeface="Arial"/>
                <a:ea typeface="Arial"/>
                <a:cs typeface="Arial"/>
              </a:defRPr>
            </a:lvl6pPr>
            <a:lvl7pPr algn="r">
              <a:defRPr sz="1275" b="0">
                <a:solidFill>
                  <a:srgbClr val="59657A"/>
                </a:solidFill>
                <a:latin typeface="Arial"/>
                <a:ea typeface="Arial"/>
                <a:cs typeface="Arial"/>
              </a:defRPr>
            </a:lvl7pPr>
            <a:lvl8pPr algn="r">
              <a:defRPr sz="1275" b="0">
                <a:solidFill>
                  <a:srgbClr val="59657A"/>
                </a:solidFill>
                <a:latin typeface="Arial"/>
                <a:ea typeface="Arial"/>
                <a:cs typeface="Arial"/>
              </a:defRPr>
            </a:lvl8pPr>
            <a:lvl9pPr algn="r">
              <a:defRPr sz="1275" b="0">
                <a:solidFill>
                  <a:srgbClr val="59657A"/>
                </a:solidFill>
                <a:latin typeface="Arial"/>
                <a:ea typeface="Arial"/>
                <a:cs typeface="Arial"/>
              </a:defRPr>
            </a:lvl9pPr>
          </a:lstStyle>
          <a:p>
            <a:pPr algn="r">
              <a:defRPr sz="1275" b="0">
                <a:solidFill>
                  <a:srgbClr val="59657A"/>
                </a:solidFill>
                <a:latin typeface="Arial"/>
                <a:ea typeface="Arial"/>
                <a:cs typeface="Arial"/>
              </a:defRPr>
            </a:pPr>
            <a:r>
              <a:rPr sz="1275" b="0">
                <a:solidFill>
                  <a:srgbClr val="59657A"/>
                </a:solidFill>
                <a:latin typeface="Arial"/>
                <a:ea typeface="Arial"/>
                <a:cs typeface="Arial"/>
              </a:rPr>
              <a:t>02</a:t>
            </a:r>
          </a:p>
        </p:txBody>
      </p:sp>
      <p:pic>
        <p:nvPicPr>
          <p:cNvPr id="4" name="Picture 3">
            <a:extLst>
              <a:ext uri="{FF2B5EF4-FFF2-40B4-BE49-F238E27FC236}">
                <a16:creationId xmlns:a16="http://schemas.microsoft.com/office/drawing/2014/main" id="{75171447-2BA3-4514-8608-521241381656}"/>
              </a:ext>
            </a:extLst>
          </p:cNvPr>
          <p:cNvPicPr>
            <a:picLocks noChangeAspect="1"/>
          </p:cNvPicPr>
          <p:nvPr/>
        </p:nvPicPr>
        <p:blipFill>
          <a:blip r:embed="rId7"/>
          <a:stretch/>
        </p:blipFill>
        <p:spPr>
          <a:xfrm>
            <a:off x="1724025" y="1685925"/>
            <a:ext cx="8743950" cy="2914650"/>
          </a:xfrm>
          <a:prstGeom prst="rect">
            <a:avLst/>
          </a:prstGeom>
        </p:spPr>
      </p:pic>
      <p:sp>
        <p:nvSpPr>
          <p:cNvPr id="5" name="move-0">
            <a:extLst>
              <a:ext uri="{FF2B5EF4-FFF2-40B4-BE49-F238E27FC236}">
                <a16:creationId xmlns:a16="http://schemas.microsoft.com/office/drawing/2014/main" id="{4DF3FEB3-937F-4E38-948B-E716511D3602}"/>
              </a:ext>
            </a:extLst>
          </p:cNvPr>
          <p:cNvSpPr>
            <a:spLocks noGrp="1"/>
          </p:cNvSpPr>
          <p:nvPr/>
        </p:nvSpPr>
        <p:spPr>
          <a:xfrm>
            <a:off x="2095500" y="4476750"/>
            <a:ext cx="2857500" cy="400050"/>
          </a:xfrm>
          <a:prstGeom prst="rect">
            <a:avLst/>
          </a:prstGeom>
          <a:noFill/>
          <a:ln w="0">
            <a:noFill/>
            <a:prstDash val="solid"/>
          </a:ln>
        </p:spPr>
        <p:txBody>
          <a:bodyPr wrap="square" lIns="0" tIns="0" rIns="0" bIns="0" anchor="ctr">
            <a:noAutofit/>
          </a:bodyPr>
          <a:lstStyle>
            <a:defPPr algn="ctr">
              <a:defRPr sz="2325" b="1">
                <a:solidFill>
                  <a:srgbClr val="2D5BCE"/>
                </a:solidFill>
                <a:latin typeface="Arial"/>
                <a:ea typeface="Arial"/>
                <a:cs typeface="Arial"/>
              </a:defRPr>
            </a:defPPr>
            <a:lvl1pPr algn="ctr">
              <a:defRPr sz="2325" b="1">
                <a:solidFill>
                  <a:srgbClr val="2D5BCE"/>
                </a:solidFill>
                <a:latin typeface="Arial"/>
                <a:ea typeface="Arial"/>
                <a:cs typeface="Arial"/>
              </a:defRPr>
            </a:lvl1pPr>
            <a:lvl2pPr algn="ctr">
              <a:defRPr sz="2325" b="1">
                <a:solidFill>
                  <a:srgbClr val="2D5BCE"/>
                </a:solidFill>
                <a:latin typeface="Arial"/>
                <a:ea typeface="Arial"/>
                <a:cs typeface="Arial"/>
              </a:defRPr>
            </a:lvl2pPr>
            <a:lvl3pPr algn="ctr">
              <a:defRPr sz="2325" b="1">
                <a:solidFill>
                  <a:srgbClr val="2D5BCE"/>
                </a:solidFill>
                <a:latin typeface="Arial"/>
                <a:ea typeface="Arial"/>
                <a:cs typeface="Arial"/>
              </a:defRPr>
            </a:lvl3pPr>
            <a:lvl4pPr algn="ctr">
              <a:defRPr sz="2325" b="1">
                <a:solidFill>
                  <a:srgbClr val="2D5BCE"/>
                </a:solidFill>
                <a:latin typeface="Arial"/>
                <a:ea typeface="Arial"/>
                <a:cs typeface="Arial"/>
              </a:defRPr>
            </a:lvl4pPr>
            <a:lvl5pPr algn="ctr">
              <a:defRPr sz="2325" b="1">
                <a:solidFill>
                  <a:srgbClr val="2D5BCE"/>
                </a:solidFill>
                <a:latin typeface="Arial"/>
                <a:ea typeface="Arial"/>
                <a:cs typeface="Arial"/>
              </a:defRPr>
            </a:lvl5pPr>
            <a:lvl6pPr algn="ctr">
              <a:defRPr sz="2325" b="1">
                <a:solidFill>
                  <a:srgbClr val="2D5BCE"/>
                </a:solidFill>
                <a:latin typeface="Arial"/>
                <a:ea typeface="Arial"/>
                <a:cs typeface="Arial"/>
              </a:defRPr>
            </a:lvl6pPr>
            <a:lvl7pPr algn="ctr">
              <a:defRPr sz="2325" b="1">
                <a:solidFill>
                  <a:srgbClr val="2D5BCE"/>
                </a:solidFill>
                <a:latin typeface="Arial"/>
                <a:ea typeface="Arial"/>
                <a:cs typeface="Arial"/>
              </a:defRPr>
            </a:lvl7pPr>
            <a:lvl8pPr algn="ctr">
              <a:defRPr sz="2325" b="1">
                <a:solidFill>
                  <a:srgbClr val="2D5BCE"/>
                </a:solidFill>
                <a:latin typeface="Arial"/>
                <a:ea typeface="Arial"/>
                <a:cs typeface="Arial"/>
              </a:defRPr>
            </a:lvl8pPr>
            <a:lvl9pPr algn="ctr">
              <a:defRPr sz="2325" b="1">
                <a:solidFill>
                  <a:srgbClr val="2D5BCE"/>
                </a:solidFill>
                <a:latin typeface="Arial"/>
                <a:ea typeface="Arial"/>
                <a:cs typeface="Arial"/>
              </a:defRPr>
            </a:lvl9pPr>
          </a:lstStyle>
          <a:p>
            <a:pPr algn="ctr">
              <a:defRPr sz="2325" b="1">
                <a:solidFill>
                  <a:srgbClr val="2D5BCE"/>
                </a:solidFill>
                <a:latin typeface="Arial"/>
                <a:ea typeface="Arial"/>
                <a:cs typeface="Arial"/>
              </a:defRPr>
            </a:pPr>
            <a:r>
              <a:rPr sz="2325" b="1">
                <a:solidFill>
                  <a:srgbClr val="2D5BCE"/>
                </a:solidFill>
                <a:latin typeface="Arial"/>
                <a:ea typeface="Arial"/>
                <a:cs typeface="Arial"/>
              </a:rPr>
              <a:t>Rock</a:t>
            </a:r>
          </a:p>
        </p:txBody>
      </p:sp>
      <p:sp>
        <p:nvSpPr>
          <p:cNvPr id="6" name="probability-0">
            <a:extLst>
              <a:ext uri="{FF2B5EF4-FFF2-40B4-BE49-F238E27FC236}">
                <a16:creationId xmlns:a16="http://schemas.microsoft.com/office/drawing/2014/main" id="{247DA23D-DDB0-4E79-99D2-34F95A121DFA}"/>
              </a:ext>
            </a:extLst>
          </p:cNvPr>
          <p:cNvSpPr>
            <a:spLocks noGrp="1"/>
          </p:cNvSpPr>
          <p:nvPr/>
        </p:nvSpPr>
        <p:spPr>
          <a:xfrm>
            <a:off x="2095500" y="4914900"/>
            <a:ext cx="2857500" cy="552450"/>
          </a:xfrm>
          <a:prstGeom prst="rect">
            <a:avLst/>
          </a:prstGeom>
          <a:noFill/>
          <a:ln w="0">
            <a:noFill/>
            <a:prstDash val="solid"/>
          </a:ln>
        </p:spPr>
        <p:txBody>
          <a:bodyPr wrap="square" lIns="0" tIns="0" rIns="0" bIns="0" anchor="ctr">
            <a:noAutofit/>
          </a:bodyPr>
          <a:lstStyle>
            <a:defPPr algn="ctr">
              <a:defRPr sz="3225" b="1">
                <a:solidFill>
                  <a:srgbClr val="14213D"/>
                </a:solidFill>
                <a:latin typeface="Arial"/>
                <a:ea typeface="Arial"/>
                <a:cs typeface="Arial"/>
              </a:defRPr>
            </a:defPPr>
            <a:lvl1pPr algn="ctr">
              <a:defRPr sz="3225" b="1">
                <a:solidFill>
                  <a:srgbClr val="14213D"/>
                </a:solidFill>
                <a:latin typeface="Arial"/>
                <a:ea typeface="Arial"/>
                <a:cs typeface="Arial"/>
              </a:defRPr>
            </a:lvl1pPr>
            <a:lvl2pPr algn="ctr">
              <a:defRPr sz="3225" b="1">
                <a:solidFill>
                  <a:srgbClr val="14213D"/>
                </a:solidFill>
                <a:latin typeface="Arial"/>
                <a:ea typeface="Arial"/>
                <a:cs typeface="Arial"/>
              </a:defRPr>
            </a:lvl2pPr>
            <a:lvl3pPr algn="ctr">
              <a:defRPr sz="3225" b="1">
                <a:solidFill>
                  <a:srgbClr val="14213D"/>
                </a:solidFill>
                <a:latin typeface="Arial"/>
                <a:ea typeface="Arial"/>
                <a:cs typeface="Arial"/>
              </a:defRPr>
            </a:lvl3pPr>
            <a:lvl4pPr algn="ctr">
              <a:defRPr sz="3225" b="1">
                <a:solidFill>
                  <a:srgbClr val="14213D"/>
                </a:solidFill>
                <a:latin typeface="Arial"/>
                <a:ea typeface="Arial"/>
                <a:cs typeface="Arial"/>
              </a:defRPr>
            </a:lvl4pPr>
            <a:lvl5pPr algn="ctr">
              <a:defRPr sz="3225" b="1">
                <a:solidFill>
                  <a:srgbClr val="14213D"/>
                </a:solidFill>
                <a:latin typeface="Arial"/>
                <a:ea typeface="Arial"/>
                <a:cs typeface="Arial"/>
              </a:defRPr>
            </a:lvl5pPr>
            <a:lvl6pPr algn="ctr">
              <a:defRPr sz="3225" b="1">
                <a:solidFill>
                  <a:srgbClr val="14213D"/>
                </a:solidFill>
                <a:latin typeface="Arial"/>
                <a:ea typeface="Arial"/>
                <a:cs typeface="Arial"/>
              </a:defRPr>
            </a:lvl6pPr>
            <a:lvl7pPr algn="ctr">
              <a:defRPr sz="3225" b="1">
                <a:solidFill>
                  <a:srgbClr val="14213D"/>
                </a:solidFill>
                <a:latin typeface="Arial"/>
                <a:ea typeface="Arial"/>
                <a:cs typeface="Arial"/>
              </a:defRPr>
            </a:lvl7pPr>
            <a:lvl8pPr algn="ctr">
              <a:defRPr sz="3225" b="1">
                <a:solidFill>
                  <a:srgbClr val="14213D"/>
                </a:solidFill>
                <a:latin typeface="Arial"/>
                <a:ea typeface="Arial"/>
                <a:cs typeface="Arial"/>
              </a:defRPr>
            </a:lvl8pPr>
            <a:lvl9pPr algn="ctr">
              <a:defRPr sz="3225" b="1">
                <a:solidFill>
                  <a:srgbClr val="14213D"/>
                </a:solidFill>
                <a:latin typeface="Arial"/>
                <a:ea typeface="Arial"/>
                <a:cs typeface="Arial"/>
              </a:defRPr>
            </a:lvl9pPr>
          </a:lstStyle>
          <a:p>
            <a:pPr algn="ctr">
              <a:defRPr sz="3225" b="1">
                <a:solidFill>
                  <a:srgbClr val="14213D"/>
                </a:solidFill>
                <a:latin typeface="Arial"/>
                <a:ea typeface="Arial"/>
                <a:cs typeface="Arial"/>
              </a:defRPr>
            </a:pPr>
            <a:endParaRPr/>
          </a:p>
        </p:txBody>
      </p:sp>
      <p:sp>
        <p:nvSpPr>
          <p:cNvPr id="7" name="move-1">
            <a:extLst>
              <a:ext uri="{FF2B5EF4-FFF2-40B4-BE49-F238E27FC236}">
                <a16:creationId xmlns:a16="http://schemas.microsoft.com/office/drawing/2014/main" id="{61A6AC51-28F9-4F39-88F3-CAADF94BAA28}"/>
              </a:ext>
            </a:extLst>
          </p:cNvPr>
          <p:cNvSpPr>
            <a:spLocks noGrp="1"/>
          </p:cNvSpPr>
          <p:nvPr/>
        </p:nvSpPr>
        <p:spPr>
          <a:xfrm>
            <a:off x="4762500" y="4476750"/>
            <a:ext cx="2857500" cy="400050"/>
          </a:xfrm>
          <a:prstGeom prst="rect">
            <a:avLst/>
          </a:prstGeom>
          <a:noFill/>
          <a:ln w="0">
            <a:noFill/>
            <a:prstDash val="solid"/>
          </a:ln>
        </p:spPr>
        <p:txBody>
          <a:bodyPr wrap="square" lIns="0" tIns="0" rIns="0" bIns="0" anchor="ctr">
            <a:noAutofit/>
          </a:bodyPr>
          <a:lstStyle>
            <a:defPPr algn="ctr">
              <a:defRPr sz="2325" b="1">
                <a:solidFill>
                  <a:srgbClr val="008F84"/>
                </a:solidFill>
                <a:latin typeface="Arial"/>
                <a:ea typeface="Arial"/>
                <a:cs typeface="Arial"/>
              </a:defRPr>
            </a:defPPr>
            <a:lvl1pPr algn="ctr">
              <a:defRPr sz="2325" b="1">
                <a:solidFill>
                  <a:srgbClr val="008F84"/>
                </a:solidFill>
                <a:latin typeface="Arial"/>
                <a:ea typeface="Arial"/>
                <a:cs typeface="Arial"/>
              </a:defRPr>
            </a:lvl1pPr>
            <a:lvl2pPr algn="ctr">
              <a:defRPr sz="2325" b="1">
                <a:solidFill>
                  <a:srgbClr val="008F84"/>
                </a:solidFill>
                <a:latin typeface="Arial"/>
                <a:ea typeface="Arial"/>
                <a:cs typeface="Arial"/>
              </a:defRPr>
            </a:lvl2pPr>
            <a:lvl3pPr algn="ctr">
              <a:defRPr sz="2325" b="1">
                <a:solidFill>
                  <a:srgbClr val="008F84"/>
                </a:solidFill>
                <a:latin typeface="Arial"/>
                <a:ea typeface="Arial"/>
                <a:cs typeface="Arial"/>
              </a:defRPr>
            </a:lvl3pPr>
            <a:lvl4pPr algn="ctr">
              <a:defRPr sz="2325" b="1">
                <a:solidFill>
                  <a:srgbClr val="008F84"/>
                </a:solidFill>
                <a:latin typeface="Arial"/>
                <a:ea typeface="Arial"/>
                <a:cs typeface="Arial"/>
              </a:defRPr>
            </a:lvl4pPr>
            <a:lvl5pPr algn="ctr">
              <a:defRPr sz="2325" b="1">
                <a:solidFill>
                  <a:srgbClr val="008F84"/>
                </a:solidFill>
                <a:latin typeface="Arial"/>
                <a:ea typeface="Arial"/>
                <a:cs typeface="Arial"/>
              </a:defRPr>
            </a:lvl5pPr>
            <a:lvl6pPr algn="ctr">
              <a:defRPr sz="2325" b="1">
                <a:solidFill>
                  <a:srgbClr val="008F84"/>
                </a:solidFill>
                <a:latin typeface="Arial"/>
                <a:ea typeface="Arial"/>
                <a:cs typeface="Arial"/>
              </a:defRPr>
            </a:lvl6pPr>
            <a:lvl7pPr algn="ctr">
              <a:defRPr sz="2325" b="1">
                <a:solidFill>
                  <a:srgbClr val="008F84"/>
                </a:solidFill>
                <a:latin typeface="Arial"/>
                <a:ea typeface="Arial"/>
                <a:cs typeface="Arial"/>
              </a:defRPr>
            </a:lvl7pPr>
            <a:lvl8pPr algn="ctr">
              <a:defRPr sz="2325" b="1">
                <a:solidFill>
                  <a:srgbClr val="008F84"/>
                </a:solidFill>
                <a:latin typeface="Arial"/>
                <a:ea typeface="Arial"/>
                <a:cs typeface="Arial"/>
              </a:defRPr>
            </a:lvl8pPr>
            <a:lvl9pPr algn="ctr">
              <a:defRPr sz="2325" b="1">
                <a:solidFill>
                  <a:srgbClr val="008F84"/>
                </a:solidFill>
                <a:latin typeface="Arial"/>
                <a:ea typeface="Arial"/>
                <a:cs typeface="Arial"/>
              </a:defRPr>
            </a:lvl9pPr>
          </a:lstStyle>
          <a:p>
            <a:pPr algn="ctr">
              <a:defRPr sz="2325" b="1">
                <a:solidFill>
                  <a:srgbClr val="008F84"/>
                </a:solidFill>
                <a:latin typeface="Arial"/>
                <a:ea typeface="Arial"/>
                <a:cs typeface="Arial"/>
              </a:defRPr>
            </a:pPr>
            <a:r>
              <a:rPr sz="2325" b="1">
                <a:solidFill>
                  <a:srgbClr val="008F84"/>
                </a:solidFill>
                <a:latin typeface="Arial"/>
                <a:ea typeface="Arial"/>
                <a:cs typeface="Arial"/>
              </a:rPr>
              <a:t>Paper</a:t>
            </a:r>
          </a:p>
        </p:txBody>
      </p:sp>
      <p:sp>
        <p:nvSpPr>
          <p:cNvPr id="8" name="probability-1">
            <a:extLst>
              <a:ext uri="{FF2B5EF4-FFF2-40B4-BE49-F238E27FC236}">
                <a16:creationId xmlns:a16="http://schemas.microsoft.com/office/drawing/2014/main" id="{2E5755AE-98EA-46C1-A115-7E5F930A7B04}"/>
              </a:ext>
            </a:extLst>
          </p:cNvPr>
          <p:cNvSpPr>
            <a:spLocks noGrp="1"/>
          </p:cNvSpPr>
          <p:nvPr/>
        </p:nvSpPr>
        <p:spPr>
          <a:xfrm>
            <a:off x="4762500" y="4914900"/>
            <a:ext cx="2857500" cy="552450"/>
          </a:xfrm>
          <a:prstGeom prst="rect">
            <a:avLst/>
          </a:prstGeom>
          <a:noFill/>
          <a:ln w="0">
            <a:noFill/>
            <a:prstDash val="solid"/>
          </a:ln>
        </p:spPr>
        <p:txBody>
          <a:bodyPr wrap="square" lIns="0" tIns="0" rIns="0" bIns="0" anchor="ctr">
            <a:noAutofit/>
          </a:bodyPr>
          <a:lstStyle>
            <a:defPPr algn="ctr">
              <a:defRPr sz="3225" b="1">
                <a:solidFill>
                  <a:srgbClr val="14213D"/>
                </a:solidFill>
                <a:latin typeface="Arial"/>
                <a:ea typeface="Arial"/>
                <a:cs typeface="Arial"/>
              </a:defRPr>
            </a:defPPr>
            <a:lvl1pPr algn="ctr">
              <a:defRPr sz="3225" b="1">
                <a:solidFill>
                  <a:srgbClr val="14213D"/>
                </a:solidFill>
                <a:latin typeface="Arial"/>
                <a:ea typeface="Arial"/>
                <a:cs typeface="Arial"/>
              </a:defRPr>
            </a:lvl1pPr>
            <a:lvl2pPr algn="ctr">
              <a:defRPr sz="3225" b="1">
                <a:solidFill>
                  <a:srgbClr val="14213D"/>
                </a:solidFill>
                <a:latin typeface="Arial"/>
                <a:ea typeface="Arial"/>
                <a:cs typeface="Arial"/>
              </a:defRPr>
            </a:lvl2pPr>
            <a:lvl3pPr algn="ctr">
              <a:defRPr sz="3225" b="1">
                <a:solidFill>
                  <a:srgbClr val="14213D"/>
                </a:solidFill>
                <a:latin typeface="Arial"/>
                <a:ea typeface="Arial"/>
                <a:cs typeface="Arial"/>
              </a:defRPr>
            </a:lvl3pPr>
            <a:lvl4pPr algn="ctr">
              <a:defRPr sz="3225" b="1">
                <a:solidFill>
                  <a:srgbClr val="14213D"/>
                </a:solidFill>
                <a:latin typeface="Arial"/>
                <a:ea typeface="Arial"/>
                <a:cs typeface="Arial"/>
              </a:defRPr>
            </a:lvl4pPr>
            <a:lvl5pPr algn="ctr">
              <a:defRPr sz="3225" b="1">
                <a:solidFill>
                  <a:srgbClr val="14213D"/>
                </a:solidFill>
                <a:latin typeface="Arial"/>
                <a:ea typeface="Arial"/>
                <a:cs typeface="Arial"/>
              </a:defRPr>
            </a:lvl5pPr>
            <a:lvl6pPr algn="ctr">
              <a:defRPr sz="3225" b="1">
                <a:solidFill>
                  <a:srgbClr val="14213D"/>
                </a:solidFill>
                <a:latin typeface="Arial"/>
                <a:ea typeface="Arial"/>
                <a:cs typeface="Arial"/>
              </a:defRPr>
            </a:lvl6pPr>
            <a:lvl7pPr algn="ctr">
              <a:defRPr sz="3225" b="1">
                <a:solidFill>
                  <a:srgbClr val="14213D"/>
                </a:solidFill>
                <a:latin typeface="Arial"/>
                <a:ea typeface="Arial"/>
                <a:cs typeface="Arial"/>
              </a:defRPr>
            </a:lvl7pPr>
            <a:lvl8pPr algn="ctr">
              <a:defRPr sz="3225" b="1">
                <a:solidFill>
                  <a:srgbClr val="14213D"/>
                </a:solidFill>
                <a:latin typeface="Arial"/>
                <a:ea typeface="Arial"/>
                <a:cs typeface="Arial"/>
              </a:defRPr>
            </a:lvl8pPr>
            <a:lvl9pPr algn="ctr">
              <a:defRPr sz="3225" b="1">
                <a:solidFill>
                  <a:srgbClr val="14213D"/>
                </a:solidFill>
                <a:latin typeface="Arial"/>
                <a:ea typeface="Arial"/>
                <a:cs typeface="Arial"/>
              </a:defRPr>
            </a:lvl9pPr>
          </a:lstStyle>
          <a:p>
            <a:pPr algn="ctr">
              <a:defRPr sz="3225" b="1">
                <a:solidFill>
                  <a:srgbClr val="14213D"/>
                </a:solidFill>
                <a:latin typeface="Arial"/>
                <a:ea typeface="Arial"/>
                <a:cs typeface="Arial"/>
              </a:defRPr>
            </a:pPr>
            <a:endParaRPr/>
          </a:p>
        </p:txBody>
      </p:sp>
      <p:sp>
        <p:nvSpPr>
          <p:cNvPr id="9" name="move-2">
            <a:extLst>
              <a:ext uri="{FF2B5EF4-FFF2-40B4-BE49-F238E27FC236}">
                <a16:creationId xmlns:a16="http://schemas.microsoft.com/office/drawing/2014/main" id="{5EEE081D-65B1-4483-BC8A-794502F9B94C}"/>
              </a:ext>
            </a:extLst>
          </p:cNvPr>
          <p:cNvSpPr>
            <a:spLocks noGrp="1"/>
          </p:cNvSpPr>
          <p:nvPr/>
        </p:nvSpPr>
        <p:spPr>
          <a:xfrm>
            <a:off x="7477125" y="4476750"/>
            <a:ext cx="2857500" cy="400050"/>
          </a:xfrm>
          <a:prstGeom prst="rect">
            <a:avLst/>
          </a:prstGeom>
          <a:noFill/>
          <a:ln w="0">
            <a:noFill/>
            <a:prstDash val="solid"/>
          </a:ln>
        </p:spPr>
        <p:txBody>
          <a:bodyPr wrap="square" lIns="0" tIns="0" rIns="0" bIns="0" anchor="ctr">
            <a:noAutofit/>
          </a:bodyPr>
          <a:lstStyle>
            <a:defPPr algn="ctr">
              <a:defRPr sz="2325" b="1">
                <a:solidFill>
                  <a:srgbClr val="D96546"/>
                </a:solidFill>
                <a:latin typeface="Arial"/>
                <a:ea typeface="Arial"/>
                <a:cs typeface="Arial"/>
              </a:defRPr>
            </a:defPPr>
            <a:lvl1pPr algn="ctr">
              <a:defRPr sz="2325" b="1">
                <a:solidFill>
                  <a:srgbClr val="D96546"/>
                </a:solidFill>
                <a:latin typeface="Arial"/>
                <a:ea typeface="Arial"/>
                <a:cs typeface="Arial"/>
              </a:defRPr>
            </a:lvl1pPr>
            <a:lvl2pPr algn="ctr">
              <a:defRPr sz="2325" b="1">
                <a:solidFill>
                  <a:srgbClr val="D96546"/>
                </a:solidFill>
                <a:latin typeface="Arial"/>
                <a:ea typeface="Arial"/>
                <a:cs typeface="Arial"/>
              </a:defRPr>
            </a:lvl2pPr>
            <a:lvl3pPr algn="ctr">
              <a:defRPr sz="2325" b="1">
                <a:solidFill>
                  <a:srgbClr val="D96546"/>
                </a:solidFill>
                <a:latin typeface="Arial"/>
                <a:ea typeface="Arial"/>
                <a:cs typeface="Arial"/>
              </a:defRPr>
            </a:lvl3pPr>
            <a:lvl4pPr algn="ctr">
              <a:defRPr sz="2325" b="1">
                <a:solidFill>
                  <a:srgbClr val="D96546"/>
                </a:solidFill>
                <a:latin typeface="Arial"/>
                <a:ea typeface="Arial"/>
                <a:cs typeface="Arial"/>
              </a:defRPr>
            </a:lvl4pPr>
            <a:lvl5pPr algn="ctr">
              <a:defRPr sz="2325" b="1">
                <a:solidFill>
                  <a:srgbClr val="D96546"/>
                </a:solidFill>
                <a:latin typeface="Arial"/>
                <a:ea typeface="Arial"/>
                <a:cs typeface="Arial"/>
              </a:defRPr>
            </a:lvl5pPr>
            <a:lvl6pPr algn="ctr">
              <a:defRPr sz="2325" b="1">
                <a:solidFill>
                  <a:srgbClr val="D96546"/>
                </a:solidFill>
                <a:latin typeface="Arial"/>
                <a:ea typeface="Arial"/>
                <a:cs typeface="Arial"/>
              </a:defRPr>
            </a:lvl6pPr>
            <a:lvl7pPr algn="ctr">
              <a:defRPr sz="2325" b="1">
                <a:solidFill>
                  <a:srgbClr val="D96546"/>
                </a:solidFill>
                <a:latin typeface="Arial"/>
                <a:ea typeface="Arial"/>
                <a:cs typeface="Arial"/>
              </a:defRPr>
            </a:lvl7pPr>
            <a:lvl8pPr algn="ctr">
              <a:defRPr sz="2325" b="1">
                <a:solidFill>
                  <a:srgbClr val="D96546"/>
                </a:solidFill>
                <a:latin typeface="Arial"/>
                <a:ea typeface="Arial"/>
                <a:cs typeface="Arial"/>
              </a:defRPr>
            </a:lvl8pPr>
            <a:lvl9pPr algn="ctr">
              <a:defRPr sz="2325" b="1">
                <a:solidFill>
                  <a:srgbClr val="D96546"/>
                </a:solidFill>
                <a:latin typeface="Arial"/>
                <a:ea typeface="Arial"/>
                <a:cs typeface="Arial"/>
              </a:defRPr>
            </a:lvl9pPr>
          </a:lstStyle>
          <a:p>
            <a:pPr algn="ctr">
              <a:defRPr sz="2325" b="1">
                <a:solidFill>
                  <a:srgbClr val="D96546"/>
                </a:solidFill>
                <a:latin typeface="Arial"/>
                <a:ea typeface="Arial"/>
                <a:cs typeface="Arial"/>
              </a:defRPr>
            </a:pPr>
            <a:r>
              <a:rPr sz="2325" b="1">
                <a:solidFill>
                  <a:srgbClr val="D96546"/>
                </a:solidFill>
                <a:latin typeface="Arial"/>
                <a:ea typeface="Arial"/>
                <a:cs typeface="Arial"/>
              </a:rPr>
              <a:t>Scissors</a:t>
            </a:r>
          </a:p>
        </p:txBody>
      </p:sp>
      <p:sp>
        <p:nvSpPr>
          <p:cNvPr id="10" name="probability-2">
            <a:extLst>
              <a:ext uri="{FF2B5EF4-FFF2-40B4-BE49-F238E27FC236}">
                <a16:creationId xmlns:a16="http://schemas.microsoft.com/office/drawing/2014/main" id="{9C8D0C5E-EC0A-4665-967A-AEC45991FD0F}"/>
              </a:ext>
            </a:extLst>
          </p:cNvPr>
          <p:cNvSpPr>
            <a:spLocks noGrp="1"/>
          </p:cNvSpPr>
          <p:nvPr/>
        </p:nvSpPr>
        <p:spPr>
          <a:xfrm>
            <a:off x="7477125" y="4914900"/>
            <a:ext cx="2857500" cy="552450"/>
          </a:xfrm>
          <a:prstGeom prst="rect">
            <a:avLst/>
          </a:prstGeom>
          <a:noFill/>
          <a:ln w="0">
            <a:noFill/>
            <a:prstDash val="solid"/>
          </a:ln>
        </p:spPr>
        <p:txBody>
          <a:bodyPr wrap="square" lIns="0" tIns="0" rIns="0" bIns="0" anchor="ctr">
            <a:noAutofit/>
          </a:bodyPr>
          <a:lstStyle>
            <a:defPPr algn="ctr">
              <a:defRPr sz="3225" b="1">
                <a:solidFill>
                  <a:srgbClr val="14213D"/>
                </a:solidFill>
                <a:latin typeface="Arial"/>
                <a:ea typeface="Arial"/>
                <a:cs typeface="Arial"/>
              </a:defRPr>
            </a:defPPr>
            <a:lvl1pPr algn="ctr">
              <a:defRPr sz="3225" b="1">
                <a:solidFill>
                  <a:srgbClr val="14213D"/>
                </a:solidFill>
                <a:latin typeface="Arial"/>
                <a:ea typeface="Arial"/>
                <a:cs typeface="Arial"/>
              </a:defRPr>
            </a:lvl1pPr>
            <a:lvl2pPr algn="ctr">
              <a:defRPr sz="3225" b="1">
                <a:solidFill>
                  <a:srgbClr val="14213D"/>
                </a:solidFill>
                <a:latin typeface="Arial"/>
                <a:ea typeface="Arial"/>
                <a:cs typeface="Arial"/>
              </a:defRPr>
            </a:lvl2pPr>
            <a:lvl3pPr algn="ctr">
              <a:defRPr sz="3225" b="1">
                <a:solidFill>
                  <a:srgbClr val="14213D"/>
                </a:solidFill>
                <a:latin typeface="Arial"/>
                <a:ea typeface="Arial"/>
                <a:cs typeface="Arial"/>
              </a:defRPr>
            </a:lvl3pPr>
            <a:lvl4pPr algn="ctr">
              <a:defRPr sz="3225" b="1">
                <a:solidFill>
                  <a:srgbClr val="14213D"/>
                </a:solidFill>
                <a:latin typeface="Arial"/>
                <a:ea typeface="Arial"/>
                <a:cs typeface="Arial"/>
              </a:defRPr>
            </a:lvl4pPr>
            <a:lvl5pPr algn="ctr">
              <a:defRPr sz="3225" b="1">
                <a:solidFill>
                  <a:srgbClr val="14213D"/>
                </a:solidFill>
                <a:latin typeface="Arial"/>
                <a:ea typeface="Arial"/>
                <a:cs typeface="Arial"/>
              </a:defRPr>
            </a:lvl5pPr>
            <a:lvl6pPr algn="ctr">
              <a:defRPr sz="3225" b="1">
                <a:solidFill>
                  <a:srgbClr val="14213D"/>
                </a:solidFill>
                <a:latin typeface="Arial"/>
                <a:ea typeface="Arial"/>
                <a:cs typeface="Arial"/>
              </a:defRPr>
            </a:lvl6pPr>
            <a:lvl7pPr algn="ctr">
              <a:defRPr sz="3225" b="1">
                <a:solidFill>
                  <a:srgbClr val="14213D"/>
                </a:solidFill>
                <a:latin typeface="Arial"/>
                <a:ea typeface="Arial"/>
                <a:cs typeface="Arial"/>
              </a:defRPr>
            </a:lvl7pPr>
            <a:lvl8pPr algn="ctr">
              <a:defRPr sz="3225" b="1">
                <a:solidFill>
                  <a:srgbClr val="14213D"/>
                </a:solidFill>
                <a:latin typeface="Arial"/>
                <a:ea typeface="Arial"/>
                <a:cs typeface="Arial"/>
              </a:defRPr>
            </a:lvl8pPr>
            <a:lvl9pPr algn="ctr">
              <a:defRPr sz="3225" b="1">
                <a:solidFill>
                  <a:srgbClr val="14213D"/>
                </a:solidFill>
                <a:latin typeface="Arial"/>
                <a:ea typeface="Arial"/>
                <a:cs typeface="Arial"/>
              </a:defRPr>
            </a:lvl9pPr>
          </a:lstStyle>
          <a:p>
            <a:pPr algn="ctr">
              <a:defRPr sz="3225" b="1">
                <a:solidFill>
                  <a:srgbClr val="14213D"/>
                </a:solidFill>
                <a:latin typeface="Arial"/>
                <a:ea typeface="Arial"/>
                <a:cs typeface="Arial"/>
              </a:defRPr>
            </a:pPr>
            <a:endParaRPr/>
          </a:p>
        </p:txBody>
      </p:sp>
      <p:cxnSp>
        <p:nvCxnSpPr>
          <p:cNvPr id="11" name="separator">
            <a:extLst>
              <a:ext uri="{FF2B5EF4-FFF2-40B4-BE49-F238E27FC236}">
                <a16:creationId xmlns:a16="http://schemas.microsoft.com/office/drawing/2014/main" id="{B2CF64AC-0F47-4585-8FF7-928BA7FBCD03}"/>
              </a:ext>
            </a:extLst>
          </p:cNvPr>
          <p:cNvCxnSpPr/>
          <p:nvPr/>
        </p:nvCxnSpPr>
        <p:spPr>
          <a:xfrm>
            <a:off x="609600" y="5667375"/>
            <a:ext cx="10972800" cy="0"/>
          </a:xfrm>
          <a:prstGeom prst="bentConnector4">
            <a:avLst/>
          </a:prstGeom>
          <a:ln w="19050">
            <a:solidFill>
              <a:srgbClr val="CCD5E4"/>
            </a:solidFill>
            <a:prstDash val="solid"/>
          </a:ln>
        </p:spPr>
      </p:cxnSp>
      <p:sp>
        <p:nvSpPr>
          <p:cNvPr id="12" name="nash-definition">
            <a:extLst>
              <a:ext uri="{FF2B5EF4-FFF2-40B4-BE49-F238E27FC236}">
                <a16:creationId xmlns:a16="http://schemas.microsoft.com/office/drawing/2014/main" id="{AEEDC080-E4FD-4242-A65A-707A8D5C5DEC}"/>
              </a:ext>
            </a:extLst>
          </p:cNvPr>
          <p:cNvSpPr>
            <a:spLocks noGrp="1"/>
          </p:cNvSpPr>
          <p:nvPr/>
        </p:nvSpPr>
        <p:spPr>
          <a:xfrm>
            <a:off x="609600" y="5819775"/>
            <a:ext cx="10972800" cy="409575"/>
          </a:xfrm>
          <a:prstGeom prst="rect">
            <a:avLst/>
          </a:prstGeom>
          <a:noFill/>
          <a:ln w="0">
            <a:noFill/>
            <a:prstDash val="solid"/>
          </a:ln>
        </p:spPr>
        <p:txBody>
          <a:bodyPr wrap="square" lIns="0" tIns="0" rIns="0" bIns="0" anchor="ctr">
            <a:noAutofit/>
          </a:bodyPr>
          <a:lstStyle>
            <a:defPPr algn="l">
              <a:defRPr sz="2025" b="0">
                <a:solidFill>
                  <a:srgbClr val="17243F"/>
                </a:solidFill>
                <a:latin typeface="Arial"/>
                <a:ea typeface="Arial"/>
                <a:cs typeface="Arial"/>
              </a:defRPr>
            </a:defPPr>
            <a:lvl1pPr algn="l">
              <a:defRPr sz="2025" b="0">
                <a:solidFill>
                  <a:srgbClr val="17243F"/>
                </a:solidFill>
                <a:latin typeface="Arial"/>
                <a:ea typeface="Arial"/>
                <a:cs typeface="Arial"/>
              </a:defRPr>
            </a:lvl1pPr>
            <a:lvl2pPr algn="l">
              <a:defRPr sz="2025" b="0">
                <a:solidFill>
                  <a:srgbClr val="17243F"/>
                </a:solidFill>
                <a:latin typeface="Arial"/>
                <a:ea typeface="Arial"/>
                <a:cs typeface="Arial"/>
              </a:defRPr>
            </a:lvl2pPr>
            <a:lvl3pPr algn="l">
              <a:defRPr sz="2025" b="0">
                <a:solidFill>
                  <a:srgbClr val="17243F"/>
                </a:solidFill>
                <a:latin typeface="Arial"/>
                <a:ea typeface="Arial"/>
                <a:cs typeface="Arial"/>
              </a:defRPr>
            </a:lvl3pPr>
            <a:lvl4pPr algn="l">
              <a:defRPr sz="2025" b="0">
                <a:solidFill>
                  <a:srgbClr val="17243F"/>
                </a:solidFill>
                <a:latin typeface="Arial"/>
                <a:ea typeface="Arial"/>
                <a:cs typeface="Arial"/>
              </a:defRPr>
            </a:lvl4pPr>
            <a:lvl5pPr algn="l">
              <a:defRPr sz="2025" b="0">
                <a:solidFill>
                  <a:srgbClr val="17243F"/>
                </a:solidFill>
                <a:latin typeface="Arial"/>
                <a:ea typeface="Arial"/>
                <a:cs typeface="Arial"/>
              </a:defRPr>
            </a:lvl5pPr>
            <a:lvl6pPr algn="l">
              <a:defRPr sz="2025" b="0">
                <a:solidFill>
                  <a:srgbClr val="17243F"/>
                </a:solidFill>
                <a:latin typeface="Arial"/>
                <a:ea typeface="Arial"/>
                <a:cs typeface="Arial"/>
              </a:defRPr>
            </a:lvl6pPr>
            <a:lvl7pPr algn="l">
              <a:defRPr sz="2025" b="0">
                <a:solidFill>
                  <a:srgbClr val="17243F"/>
                </a:solidFill>
                <a:latin typeface="Arial"/>
                <a:ea typeface="Arial"/>
                <a:cs typeface="Arial"/>
              </a:defRPr>
            </a:lvl7pPr>
            <a:lvl8pPr algn="l">
              <a:defRPr sz="2025" b="0">
                <a:solidFill>
                  <a:srgbClr val="17243F"/>
                </a:solidFill>
                <a:latin typeface="Arial"/>
                <a:ea typeface="Arial"/>
                <a:cs typeface="Arial"/>
              </a:defRPr>
            </a:lvl8pPr>
            <a:lvl9pPr algn="l">
              <a:defRPr sz="2025" b="0">
                <a:solidFill>
                  <a:srgbClr val="17243F"/>
                </a:solidFill>
                <a:latin typeface="Arial"/>
                <a:ea typeface="Arial"/>
                <a:cs typeface="Arial"/>
              </a:defRPr>
            </a:lvl9pPr>
          </a:lstStyle>
          <a:p>
            <a:pPr algn="l">
              <a:defRPr sz="2025" b="0">
                <a:solidFill>
                  <a:srgbClr val="17243F"/>
                </a:solidFill>
                <a:latin typeface="Arial"/>
                <a:ea typeface="Arial"/>
                <a:cs typeface="Arial"/>
              </a:defRPr>
            </a:pPr>
            <a:r>
              <a:rPr sz="2025" b="0">
                <a:solidFill>
                  <a:srgbClr val="17243F"/>
                </a:solidFill>
                <a:latin typeface="Arial"/>
                <a:ea typeface="Arial"/>
                <a:cs typeface="Arial"/>
              </a:rPr>
              <a:t>Nash equilibrium: no player gains by changing strategy alone.</a:t>
            </a:r>
          </a:p>
        </p:txBody>
      </p:sp>
      <p:pic>
        <p:nvPicPr>
          <p:cNvPr id="13" name="IguanaTex-equation-00" descr="LaTeX equation, editable with IguanaTex. Win: $+1$\qquad Lose: $-1$\qquad Tie: $0$">
            <a:extLst>
              <a:ext uri="{FF2B5EF4-FFF2-40B4-BE49-F238E27FC236}">
                <a16:creationId xmlns:a16="http://schemas.microsoft.com/office/drawing/2014/main" id="{19D48019-ACA8-4B8D-A77A-D1D956E06EEC}"/>
              </a:ext>
            </a:extLst>
          </p:cNvPr>
          <p:cNvPicPr>
            <a:picLocks noChangeAspect="1"/>
          </p:cNvPicPr>
          <p:nvPr>
            <p:custDataLst>
              <p:tags r:id="rId1"/>
            </p:custDataLst>
          </p:nvPr>
        </p:nvPicPr>
        <p:blipFill>
          <a:blip r:embed="rId8"/>
          <a:stretch/>
        </p:blipFill>
        <p:spPr>
          <a:xfrm>
            <a:off x="628650" y="1227582"/>
            <a:ext cx="3646932" cy="249936"/>
          </a:xfrm>
          <a:prstGeom prst="rect">
            <a:avLst/>
          </a:prstGeom>
        </p:spPr>
      </p:pic>
      <p:pic>
        <p:nvPicPr>
          <p:cNvPr id="14" name="IguanaTex-equation-01" descr="LaTeX equation, editable with IguanaTex. $\frac{1}{3}$">
            <a:extLst>
              <a:ext uri="{FF2B5EF4-FFF2-40B4-BE49-F238E27FC236}">
                <a16:creationId xmlns:a16="http://schemas.microsoft.com/office/drawing/2014/main" id="{31D48923-DBBD-4569-909F-EA608B260433}"/>
              </a:ext>
            </a:extLst>
          </p:cNvPr>
          <p:cNvPicPr>
            <a:picLocks noChangeAspect="1"/>
          </p:cNvPicPr>
          <p:nvPr>
            <p:custDataLst>
              <p:tags r:id="rId2"/>
            </p:custDataLst>
          </p:nvPr>
        </p:nvPicPr>
        <p:blipFill>
          <a:blip r:embed="rId9"/>
          <a:stretch/>
        </p:blipFill>
        <p:spPr>
          <a:xfrm>
            <a:off x="3371040" y="4914900"/>
            <a:ext cx="306420" cy="552450"/>
          </a:xfrm>
          <a:prstGeom prst="rect">
            <a:avLst/>
          </a:prstGeom>
        </p:spPr>
      </p:pic>
      <p:pic>
        <p:nvPicPr>
          <p:cNvPr id="15" name="IguanaTex-equation-02" descr="LaTeX equation, editable with IguanaTex. $\frac{1}{3}$">
            <a:extLst>
              <a:ext uri="{FF2B5EF4-FFF2-40B4-BE49-F238E27FC236}">
                <a16:creationId xmlns:a16="http://schemas.microsoft.com/office/drawing/2014/main" id="{6A8E6EAA-BFA9-455D-932E-BC463F28FBBB}"/>
              </a:ext>
            </a:extLst>
          </p:cNvPr>
          <p:cNvPicPr>
            <a:picLocks noChangeAspect="1"/>
          </p:cNvPicPr>
          <p:nvPr>
            <p:custDataLst>
              <p:tags r:id="rId3"/>
            </p:custDataLst>
          </p:nvPr>
        </p:nvPicPr>
        <p:blipFill>
          <a:blip r:embed="rId9"/>
          <a:stretch/>
        </p:blipFill>
        <p:spPr>
          <a:xfrm>
            <a:off x="6038040" y="4914900"/>
            <a:ext cx="306420" cy="552450"/>
          </a:xfrm>
          <a:prstGeom prst="rect">
            <a:avLst/>
          </a:prstGeom>
        </p:spPr>
      </p:pic>
      <p:pic>
        <p:nvPicPr>
          <p:cNvPr id="16" name="IguanaTex-equation-03" descr="LaTeX equation, editable with IguanaTex. $\frac{1}{3}$">
            <a:extLst>
              <a:ext uri="{FF2B5EF4-FFF2-40B4-BE49-F238E27FC236}">
                <a16:creationId xmlns:a16="http://schemas.microsoft.com/office/drawing/2014/main" id="{FE0AB820-BE7D-474B-B9C5-8851E81E4EDE}"/>
              </a:ext>
            </a:extLst>
          </p:cNvPr>
          <p:cNvPicPr>
            <a:picLocks noChangeAspect="1"/>
          </p:cNvPicPr>
          <p:nvPr>
            <p:custDataLst>
              <p:tags r:id="rId4"/>
            </p:custDataLst>
          </p:nvPr>
        </p:nvPicPr>
        <p:blipFill>
          <a:blip r:embed="rId9"/>
          <a:stretch/>
        </p:blipFill>
        <p:spPr>
          <a:xfrm>
            <a:off x="8752665" y="4914900"/>
            <a:ext cx="306420" cy="552450"/>
          </a:xfrm>
          <a:prstGeom prst="rect">
            <a:avLst/>
          </a:prstGeom>
        </p:spPr>
      </p:pic>
    </p:spTree>
    <p:extLst>
      <p:ext uri="{BB962C8B-B14F-4D97-AF65-F5344CB8AC3E}">
        <p14:creationId xmlns:p14="http://schemas.microsoft.com/office/powerpoint/2010/main" val="1337633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9" name="title">
            <a:extLst>
              <a:ext uri="{FF2B5EF4-FFF2-40B4-BE49-F238E27FC236}">
                <a16:creationId xmlns:a16="http://schemas.microsoft.com/office/drawing/2014/main" id="{CA2A1C88-7395-44D4-86EF-965857B86481}"/>
              </a:ext>
            </a:extLst>
          </p:cNvPr>
          <p:cNvSpPr>
            <a:spLocks noGrp="1"/>
          </p:cNvSpPr>
          <p:nvPr/>
        </p:nvSpPr>
        <p:spPr>
          <a:xfrm>
            <a:off x="609600" y="400050"/>
            <a:ext cx="10972800" cy="666750"/>
          </a:xfrm>
          <a:prstGeom prst="rect">
            <a:avLst/>
          </a:prstGeom>
          <a:noFill/>
          <a:ln w="0">
            <a:noFill/>
            <a:prstDash val="solid"/>
          </a:ln>
        </p:spPr>
        <p:txBody>
          <a:bodyPr wrap="square" lIns="0" tIns="0" rIns="0" bIns="0" anchor="ctr">
            <a:noAutofit/>
          </a:bodyPr>
          <a:lstStyle>
            <a:defPPr algn="l">
              <a:defRPr sz="3150" b="1">
                <a:solidFill>
                  <a:srgbClr val="14213D"/>
                </a:solidFill>
                <a:latin typeface="Arial"/>
                <a:ea typeface="Arial"/>
                <a:cs typeface="Arial"/>
              </a:defRPr>
            </a:defPPr>
            <a:lvl1pPr algn="l">
              <a:defRPr sz="3150" b="1">
                <a:solidFill>
                  <a:srgbClr val="14213D"/>
                </a:solidFill>
                <a:latin typeface="Arial"/>
                <a:ea typeface="Arial"/>
                <a:cs typeface="Arial"/>
              </a:defRPr>
            </a:lvl1pPr>
            <a:lvl2pPr algn="l">
              <a:defRPr sz="3150" b="1">
                <a:solidFill>
                  <a:srgbClr val="14213D"/>
                </a:solidFill>
                <a:latin typeface="Arial"/>
                <a:ea typeface="Arial"/>
                <a:cs typeface="Arial"/>
              </a:defRPr>
            </a:lvl2pPr>
            <a:lvl3pPr algn="l">
              <a:defRPr sz="3150" b="1">
                <a:solidFill>
                  <a:srgbClr val="14213D"/>
                </a:solidFill>
                <a:latin typeface="Arial"/>
                <a:ea typeface="Arial"/>
                <a:cs typeface="Arial"/>
              </a:defRPr>
            </a:lvl3pPr>
            <a:lvl4pPr algn="l">
              <a:defRPr sz="3150" b="1">
                <a:solidFill>
                  <a:srgbClr val="14213D"/>
                </a:solidFill>
                <a:latin typeface="Arial"/>
                <a:ea typeface="Arial"/>
                <a:cs typeface="Arial"/>
              </a:defRPr>
            </a:lvl4pPr>
            <a:lvl5pPr algn="l">
              <a:defRPr sz="3150" b="1">
                <a:solidFill>
                  <a:srgbClr val="14213D"/>
                </a:solidFill>
                <a:latin typeface="Arial"/>
                <a:ea typeface="Arial"/>
                <a:cs typeface="Arial"/>
              </a:defRPr>
            </a:lvl5pPr>
            <a:lvl6pPr algn="l">
              <a:defRPr sz="3150" b="1">
                <a:solidFill>
                  <a:srgbClr val="14213D"/>
                </a:solidFill>
                <a:latin typeface="Arial"/>
                <a:ea typeface="Arial"/>
                <a:cs typeface="Arial"/>
              </a:defRPr>
            </a:lvl6pPr>
            <a:lvl7pPr algn="l">
              <a:defRPr sz="3150" b="1">
                <a:solidFill>
                  <a:srgbClr val="14213D"/>
                </a:solidFill>
                <a:latin typeface="Arial"/>
                <a:ea typeface="Arial"/>
                <a:cs typeface="Arial"/>
              </a:defRPr>
            </a:lvl7pPr>
            <a:lvl8pPr algn="l">
              <a:defRPr sz="3150" b="1">
                <a:solidFill>
                  <a:srgbClr val="14213D"/>
                </a:solidFill>
                <a:latin typeface="Arial"/>
                <a:ea typeface="Arial"/>
                <a:cs typeface="Arial"/>
              </a:defRPr>
            </a:lvl8pPr>
            <a:lvl9pPr algn="l">
              <a:defRPr sz="3150" b="1">
                <a:solidFill>
                  <a:srgbClr val="14213D"/>
                </a:solidFill>
                <a:latin typeface="Arial"/>
                <a:ea typeface="Arial"/>
                <a:cs typeface="Arial"/>
              </a:defRPr>
            </a:lvl9pPr>
          </a:lstStyle>
          <a:p>
            <a:pPr algn="l">
              <a:defRPr sz="3150" b="1">
                <a:solidFill>
                  <a:srgbClr val="14213D"/>
                </a:solidFill>
                <a:latin typeface="Arial"/>
                <a:ea typeface="Arial"/>
                <a:cs typeface="Arial"/>
              </a:defRPr>
            </a:pPr>
            <a:r>
              <a:rPr sz="3150" b="1">
                <a:solidFill>
                  <a:srgbClr val="14213D"/>
                </a:solidFill>
                <a:latin typeface="Arial"/>
                <a:ea typeface="Arial"/>
                <a:cs typeface="Arial"/>
              </a:rPr>
              <a:t>What if rock wins twice as much?</a:t>
            </a:r>
          </a:p>
        </p:txBody>
      </p:sp>
      <p:sp>
        <p:nvSpPr>
          <p:cNvPr id="2" name="subtitle">
            <a:extLst>
              <a:ext uri="{FF2B5EF4-FFF2-40B4-BE49-F238E27FC236}">
                <a16:creationId xmlns:a16="http://schemas.microsoft.com/office/drawing/2014/main" id="{5A2166F2-341E-4157-A059-424FD50A01BA}"/>
              </a:ext>
            </a:extLst>
          </p:cNvPr>
          <p:cNvSpPr>
            <a:spLocks noGrp="1"/>
          </p:cNvSpPr>
          <p:nvPr/>
        </p:nvSpPr>
        <p:spPr>
          <a:xfrm>
            <a:off x="628650" y="1123950"/>
            <a:ext cx="10934700" cy="457200"/>
          </a:xfrm>
          <a:prstGeom prst="rect">
            <a:avLst/>
          </a:prstGeom>
          <a:noFill/>
          <a:ln w="0">
            <a:noFill/>
            <a:prstDash val="solid"/>
          </a:ln>
        </p:spPr>
        <p:txBody>
          <a:bodyPr wrap="square" lIns="0" tIns="0" rIns="0" bIns="0" anchor="ctr">
            <a:noAutofit/>
          </a:bodyPr>
          <a:lstStyle>
            <a:defPPr algn="l">
              <a:defRPr sz="1875" b="0">
                <a:solidFill>
                  <a:srgbClr val="59657A"/>
                </a:solidFill>
                <a:latin typeface="Arial"/>
                <a:ea typeface="Arial"/>
                <a:cs typeface="Arial"/>
              </a:defRPr>
            </a:defPPr>
            <a:lvl1pPr algn="l">
              <a:defRPr sz="1875" b="0">
                <a:solidFill>
                  <a:srgbClr val="59657A"/>
                </a:solidFill>
                <a:latin typeface="Arial"/>
                <a:ea typeface="Arial"/>
                <a:cs typeface="Arial"/>
              </a:defRPr>
            </a:lvl1pPr>
            <a:lvl2pPr algn="l">
              <a:defRPr sz="1875" b="0">
                <a:solidFill>
                  <a:srgbClr val="59657A"/>
                </a:solidFill>
                <a:latin typeface="Arial"/>
                <a:ea typeface="Arial"/>
                <a:cs typeface="Arial"/>
              </a:defRPr>
            </a:lvl2pPr>
            <a:lvl3pPr algn="l">
              <a:defRPr sz="1875" b="0">
                <a:solidFill>
                  <a:srgbClr val="59657A"/>
                </a:solidFill>
                <a:latin typeface="Arial"/>
                <a:ea typeface="Arial"/>
                <a:cs typeface="Arial"/>
              </a:defRPr>
            </a:lvl3pPr>
            <a:lvl4pPr algn="l">
              <a:defRPr sz="1875" b="0">
                <a:solidFill>
                  <a:srgbClr val="59657A"/>
                </a:solidFill>
                <a:latin typeface="Arial"/>
                <a:ea typeface="Arial"/>
                <a:cs typeface="Arial"/>
              </a:defRPr>
            </a:lvl4pPr>
            <a:lvl5pPr algn="l">
              <a:defRPr sz="1875" b="0">
                <a:solidFill>
                  <a:srgbClr val="59657A"/>
                </a:solidFill>
                <a:latin typeface="Arial"/>
                <a:ea typeface="Arial"/>
                <a:cs typeface="Arial"/>
              </a:defRPr>
            </a:lvl5pPr>
            <a:lvl6pPr algn="l">
              <a:defRPr sz="1875" b="0">
                <a:solidFill>
                  <a:srgbClr val="59657A"/>
                </a:solidFill>
                <a:latin typeface="Arial"/>
                <a:ea typeface="Arial"/>
                <a:cs typeface="Arial"/>
              </a:defRPr>
            </a:lvl6pPr>
            <a:lvl7pPr algn="l">
              <a:defRPr sz="1875" b="0">
                <a:solidFill>
                  <a:srgbClr val="59657A"/>
                </a:solidFill>
                <a:latin typeface="Arial"/>
                <a:ea typeface="Arial"/>
                <a:cs typeface="Arial"/>
              </a:defRPr>
            </a:lvl7pPr>
            <a:lvl8pPr algn="l">
              <a:defRPr sz="1875" b="0">
                <a:solidFill>
                  <a:srgbClr val="59657A"/>
                </a:solidFill>
                <a:latin typeface="Arial"/>
                <a:ea typeface="Arial"/>
                <a:cs typeface="Arial"/>
              </a:defRPr>
            </a:lvl8pPr>
            <a:lvl9pPr algn="l">
              <a:defRPr sz="1875" b="0">
                <a:solidFill>
                  <a:srgbClr val="59657A"/>
                </a:solidFill>
                <a:latin typeface="Arial"/>
                <a:ea typeface="Arial"/>
                <a:cs typeface="Arial"/>
              </a:defRPr>
            </a:lvl9pPr>
          </a:lstStyle>
          <a:p>
            <a:pPr algn="l">
              <a:defRPr sz="1875" b="0">
                <a:solidFill>
                  <a:srgbClr val="59657A"/>
                </a:solidFill>
                <a:latin typeface="Arial"/>
                <a:ea typeface="Arial"/>
                <a:cs typeface="Arial"/>
              </a:defRPr>
            </a:pPr>
            <a:endParaRPr/>
          </a:p>
        </p:txBody>
      </p:sp>
      <p:sp>
        <p:nvSpPr>
          <p:cNvPr id="3" name="slide-number">
            <a:extLst>
              <a:ext uri="{FF2B5EF4-FFF2-40B4-BE49-F238E27FC236}">
                <a16:creationId xmlns:a16="http://schemas.microsoft.com/office/drawing/2014/main" id="{E9A5732C-E6A2-41CA-8745-63E8A37B7E14}"/>
              </a:ext>
            </a:extLst>
          </p:cNvPr>
          <p:cNvSpPr>
            <a:spLocks noGrp="1"/>
          </p:cNvSpPr>
          <p:nvPr/>
        </p:nvSpPr>
        <p:spPr>
          <a:xfrm>
            <a:off x="11144250" y="6372225"/>
            <a:ext cx="438150" cy="247650"/>
          </a:xfrm>
          <a:prstGeom prst="rect">
            <a:avLst/>
          </a:prstGeom>
          <a:noFill/>
          <a:ln w="0">
            <a:noFill/>
            <a:prstDash val="solid"/>
          </a:ln>
        </p:spPr>
        <p:txBody>
          <a:bodyPr wrap="square" lIns="0" tIns="0" rIns="0" bIns="0" anchor="ctr">
            <a:noAutofit/>
          </a:bodyPr>
          <a:lstStyle>
            <a:defPPr algn="r">
              <a:defRPr sz="1275" b="0">
                <a:solidFill>
                  <a:srgbClr val="59657A"/>
                </a:solidFill>
                <a:latin typeface="Arial"/>
                <a:ea typeface="Arial"/>
                <a:cs typeface="Arial"/>
              </a:defRPr>
            </a:defPPr>
            <a:lvl1pPr algn="r">
              <a:defRPr sz="1275" b="0">
                <a:solidFill>
                  <a:srgbClr val="59657A"/>
                </a:solidFill>
                <a:latin typeface="Arial"/>
                <a:ea typeface="Arial"/>
                <a:cs typeface="Arial"/>
              </a:defRPr>
            </a:lvl1pPr>
            <a:lvl2pPr algn="r">
              <a:defRPr sz="1275" b="0">
                <a:solidFill>
                  <a:srgbClr val="59657A"/>
                </a:solidFill>
                <a:latin typeface="Arial"/>
                <a:ea typeface="Arial"/>
                <a:cs typeface="Arial"/>
              </a:defRPr>
            </a:lvl2pPr>
            <a:lvl3pPr algn="r">
              <a:defRPr sz="1275" b="0">
                <a:solidFill>
                  <a:srgbClr val="59657A"/>
                </a:solidFill>
                <a:latin typeface="Arial"/>
                <a:ea typeface="Arial"/>
                <a:cs typeface="Arial"/>
              </a:defRPr>
            </a:lvl3pPr>
            <a:lvl4pPr algn="r">
              <a:defRPr sz="1275" b="0">
                <a:solidFill>
                  <a:srgbClr val="59657A"/>
                </a:solidFill>
                <a:latin typeface="Arial"/>
                <a:ea typeface="Arial"/>
                <a:cs typeface="Arial"/>
              </a:defRPr>
            </a:lvl4pPr>
            <a:lvl5pPr algn="r">
              <a:defRPr sz="1275" b="0">
                <a:solidFill>
                  <a:srgbClr val="59657A"/>
                </a:solidFill>
                <a:latin typeface="Arial"/>
                <a:ea typeface="Arial"/>
                <a:cs typeface="Arial"/>
              </a:defRPr>
            </a:lvl5pPr>
            <a:lvl6pPr algn="r">
              <a:defRPr sz="1275" b="0">
                <a:solidFill>
                  <a:srgbClr val="59657A"/>
                </a:solidFill>
                <a:latin typeface="Arial"/>
                <a:ea typeface="Arial"/>
                <a:cs typeface="Arial"/>
              </a:defRPr>
            </a:lvl6pPr>
            <a:lvl7pPr algn="r">
              <a:defRPr sz="1275" b="0">
                <a:solidFill>
                  <a:srgbClr val="59657A"/>
                </a:solidFill>
                <a:latin typeface="Arial"/>
                <a:ea typeface="Arial"/>
                <a:cs typeface="Arial"/>
              </a:defRPr>
            </a:lvl7pPr>
            <a:lvl8pPr algn="r">
              <a:defRPr sz="1275" b="0">
                <a:solidFill>
                  <a:srgbClr val="59657A"/>
                </a:solidFill>
                <a:latin typeface="Arial"/>
                <a:ea typeface="Arial"/>
                <a:cs typeface="Arial"/>
              </a:defRPr>
            </a:lvl8pPr>
            <a:lvl9pPr algn="r">
              <a:defRPr sz="1275" b="0">
                <a:solidFill>
                  <a:srgbClr val="59657A"/>
                </a:solidFill>
                <a:latin typeface="Arial"/>
                <a:ea typeface="Arial"/>
                <a:cs typeface="Arial"/>
              </a:defRPr>
            </a:lvl9pPr>
          </a:lstStyle>
          <a:p>
            <a:pPr algn="r">
              <a:defRPr sz="1275" b="0">
                <a:solidFill>
                  <a:srgbClr val="59657A"/>
                </a:solidFill>
                <a:latin typeface="Arial"/>
                <a:ea typeface="Arial"/>
                <a:cs typeface="Arial"/>
              </a:defRPr>
            </a:pPr>
            <a:r>
              <a:rPr sz="1275" b="0">
                <a:solidFill>
                  <a:srgbClr val="59657A"/>
                </a:solidFill>
                <a:latin typeface="Arial"/>
                <a:ea typeface="Arial"/>
                <a:cs typeface="Arial"/>
              </a:rPr>
              <a:t>03</a:t>
            </a:r>
          </a:p>
        </p:txBody>
      </p:sp>
      <p:sp>
        <p:nvSpPr>
          <p:cNvPr id="4" name="table-title">
            <a:extLst>
              <a:ext uri="{FF2B5EF4-FFF2-40B4-BE49-F238E27FC236}">
                <a16:creationId xmlns:a16="http://schemas.microsoft.com/office/drawing/2014/main" id="{2AD64A2C-0700-41D3-9250-15D402FA9CB8}"/>
              </a:ext>
            </a:extLst>
          </p:cNvPr>
          <p:cNvSpPr>
            <a:spLocks noGrp="1"/>
          </p:cNvSpPr>
          <p:nvPr/>
        </p:nvSpPr>
        <p:spPr>
          <a:xfrm>
            <a:off x="609600" y="1819275"/>
            <a:ext cx="4667250" cy="361950"/>
          </a:xfrm>
          <a:prstGeom prst="rect">
            <a:avLst/>
          </a:prstGeom>
          <a:noFill/>
          <a:ln w="0">
            <a:noFill/>
            <a:prstDash val="solid"/>
          </a:ln>
        </p:spPr>
        <p:txBody>
          <a:bodyPr wrap="square" lIns="0" tIns="0" rIns="0" bIns="0" anchor="ctr">
            <a:noAutofit/>
          </a:bodyPr>
          <a:lstStyle>
            <a:defPPr algn="l">
              <a:defRPr sz="2025" b="1">
                <a:solidFill>
                  <a:srgbClr val="17243F"/>
                </a:solidFill>
                <a:latin typeface="Arial"/>
                <a:ea typeface="Arial"/>
                <a:cs typeface="Arial"/>
              </a:defRPr>
            </a:defPPr>
            <a:lvl1pPr algn="l">
              <a:defRPr sz="2025" b="1">
                <a:solidFill>
                  <a:srgbClr val="17243F"/>
                </a:solidFill>
                <a:latin typeface="Arial"/>
                <a:ea typeface="Arial"/>
                <a:cs typeface="Arial"/>
              </a:defRPr>
            </a:lvl1pPr>
            <a:lvl2pPr algn="l">
              <a:defRPr sz="2025" b="1">
                <a:solidFill>
                  <a:srgbClr val="17243F"/>
                </a:solidFill>
                <a:latin typeface="Arial"/>
                <a:ea typeface="Arial"/>
                <a:cs typeface="Arial"/>
              </a:defRPr>
            </a:lvl2pPr>
            <a:lvl3pPr algn="l">
              <a:defRPr sz="2025" b="1">
                <a:solidFill>
                  <a:srgbClr val="17243F"/>
                </a:solidFill>
                <a:latin typeface="Arial"/>
                <a:ea typeface="Arial"/>
                <a:cs typeface="Arial"/>
              </a:defRPr>
            </a:lvl3pPr>
            <a:lvl4pPr algn="l">
              <a:defRPr sz="2025" b="1">
                <a:solidFill>
                  <a:srgbClr val="17243F"/>
                </a:solidFill>
                <a:latin typeface="Arial"/>
                <a:ea typeface="Arial"/>
                <a:cs typeface="Arial"/>
              </a:defRPr>
            </a:lvl4pPr>
            <a:lvl5pPr algn="l">
              <a:defRPr sz="2025" b="1">
                <a:solidFill>
                  <a:srgbClr val="17243F"/>
                </a:solidFill>
                <a:latin typeface="Arial"/>
                <a:ea typeface="Arial"/>
                <a:cs typeface="Arial"/>
              </a:defRPr>
            </a:lvl5pPr>
            <a:lvl6pPr algn="l">
              <a:defRPr sz="2025" b="1">
                <a:solidFill>
                  <a:srgbClr val="17243F"/>
                </a:solidFill>
                <a:latin typeface="Arial"/>
                <a:ea typeface="Arial"/>
                <a:cs typeface="Arial"/>
              </a:defRPr>
            </a:lvl6pPr>
            <a:lvl7pPr algn="l">
              <a:defRPr sz="2025" b="1">
                <a:solidFill>
                  <a:srgbClr val="17243F"/>
                </a:solidFill>
                <a:latin typeface="Arial"/>
                <a:ea typeface="Arial"/>
                <a:cs typeface="Arial"/>
              </a:defRPr>
            </a:lvl7pPr>
            <a:lvl8pPr algn="l">
              <a:defRPr sz="2025" b="1">
                <a:solidFill>
                  <a:srgbClr val="17243F"/>
                </a:solidFill>
                <a:latin typeface="Arial"/>
                <a:ea typeface="Arial"/>
                <a:cs typeface="Arial"/>
              </a:defRPr>
            </a:lvl8pPr>
            <a:lvl9pPr algn="l">
              <a:defRPr sz="2025" b="1">
                <a:solidFill>
                  <a:srgbClr val="17243F"/>
                </a:solidFill>
                <a:latin typeface="Arial"/>
                <a:ea typeface="Arial"/>
                <a:cs typeface="Arial"/>
              </a:defRPr>
            </a:lvl9pPr>
          </a:lstStyle>
          <a:p>
            <a:pPr algn="l">
              <a:defRPr sz="2025" b="1">
                <a:solidFill>
                  <a:srgbClr val="17243F"/>
                </a:solidFill>
                <a:latin typeface="Arial"/>
                <a:ea typeface="Arial"/>
                <a:cs typeface="Arial"/>
              </a:defRPr>
            </a:pPr>
            <a:r>
              <a:rPr sz="2025" b="1">
                <a:solidFill>
                  <a:srgbClr val="17243F"/>
                </a:solidFill>
                <a:latin typeface="Arial"/>
                <a:ea typeface="Arial"/>
                <a:cs typeface="Arial"/>
              </a:rPr>
              <a:t>Your payoff</a:t>
            </a:r>
          </a:p>
        </p:txBody>
      </p:sp>
      <p:graphicFrame>
        <p:nvGraphicFramePr>
          <p:cNvPr id="5" name="Table 4">
            <a:extLst>
              <a:ext uri="{FF2B5EF4-FFF2-40B4-BE49-F238E27FC236}">
                <a16:creationId xmlns:a16="http://schemas.microsoft.com/office/drawing/2014/main" id="{C4125546-749D-4881-B38A-D256FB85D441}"/>
              </a:ext>
            </a:extLst>
          </p:cNvPr>
          <p:cNvGraphicFramePr/>
          <p:nvPr/>
        </p:nvGraphicFramePr>
        <p:xfrm>
          <a:off x="609600" y="2314575"/>
          <a:ext cx="4762500" cy="2552700"/>
        </p:xfrm>
        <a:graphic>
          <a:graphicData uri="http://schemas.openxmlformats.org/drawingml/2006/table">
            <a:tbl>
              <a:tblPr/>
              <a:tblGrid>
                <a:gridCol w="161925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tblGrid>
              <a:tr h="638175">
                <a:tc>
                  <a:txBody>
                    <a:bodyPr/>
                    <a:lstStyle/>
                    <a:p>
                      <a:pPr algn="ctr"/>
                      <a:r>
                        <a:rPr sz="1500" b="1">
                          <a:solidFill>
                            <a:srgbClr val="17243F"/>
                          </a:solidFill>
                          <a:latin typeface="Arial"/>
                          <a:ea typeface="Arial"/>
                          <a:cs typeface="Arial"/>
                        </a:rPr>
                        <a:t>You / Other</a:t>
                      </a:r>
                    </a:p>
                  </a:txBody>
                  <a:tcPr anchor="ctr">
                    <a:lnL w="9525">
                      <a:solidFill>
                        <a:srgbClr val="CCD5E4"/>
                      </a:solidFill>
                      <a:prstDash val="solid"/>
                    </a:lnL>
                    <a:lnR w="9525">
                      <a:solidFill>
                        <a:srgbClr val="CCD5E4"/>
                      </a:solidFill>
                      <a:prstDash val="solid"/>
                    </a:lnR>
                    <a:lnT w="9525">
                      <a:solidFill>
                        <a:srgbClr val="CCD5E4"/>
                      </a:solidFill>
                      <a:prstDash val="solid"/>
                    </a:lnT>
                    <a:lnB w="9525">
                      <a:solidFill>
                        <a:srgbClr val="CCD5E4"/>
                      </a:solidFill>
                      <a:prstDash val="solid"/>
                    </a:lnB>
                    <a:solidFill>
                      <a:srgbClr val="E7ECF6"/>
                    </a:solidFill>
                  </a:tcPr>
                </a:tc>
                <a:tc>
                  <a:txBody>
                    <a:bodyPr/>
                    <a:lstStyle/>
                    <a:p>
                      <a:pPr algn="ctr"/>
                      <a:r>
                        <a:rPr sz="1500" b="1">
                          <a:solidFill>
                            <a:srgbClr val="17243F"/>
                          </a:solidFill>
                          <a:latin typeface="Arial"/>
                          <a:ea typeface="Arial"/>
                          <a:cs typeface="Arial"/>
                        </a:rPr>
                        <a:t>Rock</a:t>
                      </a: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a:solidFill>
                        <a:srgbClr val="CCD5E4"/>
                      </a:solidFill>
                      <a:prstDash val="solid"/>
                    </a:lnT>
                    <a:lnB w="9525">
                      <a:solidFill>
                        <a:srgbClr val="CCD5E4"/>
                      </a:solidFill>
                      <a:prstDash val="solid"/>
                    </a:lnB>
                    <a:solidFill>
                      <a:srgbClr val="E7ECF6"/>
                    </a:solidFill>
                  </a:tcPr>
                </a:tc>
                <a:tc>
                  <a:txBody>
                    <a:bodyPr/>
                    <a:lstStyle/>
                    <a:p>
                      <a:pPr algn="ctr"/>
                      <a:r>
                        <a:rPr sz="1500" b="1">
                          <a:solidFill>
                            <a:srgbClr val="17243F"/>
                          </a:solidFill>
                          <a:latin typeface="Arial"/>
                          <a:ea typeface="Arial"/>
                          <a:cs typeface="Arial"/>
                        </a:rPr>
                        <a:t>Paper</a:t>
                      </a: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a:solidFill>
                        <a:srgbClr val="CCD5E4"/>
                      </a:solidFill>
                      <a:prstDash val="solid"/>
                    </a:lnT>
                    <a:lnB w="9525">
                      <a:solidFill>
                        <a:srgbClr val="CCD5E4"/>
                      </a:solidFill>
                      <a:prstDash val="solid"/>
                    </a:lnB>
                    <a:solidFill>
                      <a:srgbClr val="E7ECF6"/>
                    </a:solidFill>
                  </a:tcPr>
                </a:tc>
                <a:tc>
                  <a:txBody>
                    <a:bodyPr/>
                    <a:lstStyle/>
                    <a:p>
                      <a:pPr algn="ctr"/>
                      <a:r>
                        <a:rPr sz="1500" b="1">
                          <a:solidFill>
                            <a:srgbClr val="17243F"/>
                          </a:solidFill>
                          <a:latin typeface="Arial"/>
                          <a:ea typeface="Arial"/>
                          <a:cs typeface="Arial"/>
                        </a:rPr>
                        <a:t>Scissors</a:t>
                      </a: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a:solidFill>
                        <a:srgbClr val="CCD5E4"/>
                      </a:solidFill>
                      <a:prstDash val="solid"/>
                    </a:lnT>
                    <a:lnB w="9525">
                      <a:solidFill>
                        <a:srgbClr val="CCD5E4"/>
                      </a:solidFill>
                      <a:prstDash val="solid"/>
                    </a:lnB>
                    <a:solidFill>
                      <a:srgbClr val="E7ECF6"/>
                    </a:solidFill>
                  </a:tcPr>
                </a:tc>
                <a:extLst>
                  <a:ext uri="{0D108BD9-81ED-4DB2-BD59-A6C34878D82A}">
                    <a16:rowId xmlns:a16="http://schemas.microsoft.com/office/drawing/2014/main" val="10000"/>
                  </a:ext>
                </a:extLst>
              </a:tr>
              <a:tr h="638175">
                <a:tc>
                  <a:txBody>
                    <a:bodyPr/>
                    <a:lstStyle/>
                    <a:p>
                      <a:pPr algn="ctr"/>
                      <a:r>
                        <a:rPr sz="2025" b="1">
                          <a:solidFill>
                            <a:srgbClr val="17243F"/>
                          </a:solidFill>
                          <a:latin typeface="Arial"/>
                          <a:ea typeface="Arial"/>
                          <a:cs typeface="Arial"/>
                        </a:rPr>
                        <a:t>Rock</a:t>
                      </a:r>
                    </a:p>
                  </a:txBody>
                  <a:tcPr anchor="ctr">
                    <a:lnL w="9525">
                      <a:solidFill>
                        <a:srgbClr val="CCD5E4"/>
                      </a:solidFill>
                      <a:prstDash val="soli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E7ECF6"/>
                    </a:solidFill>
                  </a:tcPr>
                </a:tc>
                <a:tc>
                  <a:txBody>
                    <a:bodyPr/>
                    <a:lstStyle/>
                    <a:p>
                      <a:pPr algn="ctr"/>
                      <a:endParaRP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FFFFFF"/>
                    </a:solidFill>
                  </a:tcPr>
                </a:tc>
                <a:tc>
                  <a:txBody>
                    <a:bodyPr/>
                    <a:lstStyle/>
                    <a:p>
                      <a:pPr algn="ctr"/>
                      <a:endParaRP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FFFFFF"/>
                    </a:solidFill>
                  </a:tcPr>
                </a:tc>
                <a:tc>
                  <a:txBody>
                    <a:bodyPr/>
                    <a:lstStyle/>
                    <a:p>
                      <a:pPr algn="ctr"/>
                      <a:endParaRP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FCE9E2"/>
                    </a:solidFill>
                  </a:tcPr>
                </a:tc>
                <a:extLst>
                  <a:ext uri="{0D108BD9-81ED-4DB2-BD59-A6C34878D82A}">
                    <a16:rowId xmlns:a16="http://schemas.microsoft.com/office/drawing/2014/main" val="10001"/>
                  </a:ext>
                </a:extLst>
              </a:tr>
              <a:tr h="638175">
                <a:tc>
                  <a:txBody>
                    <a:bodyPr/>
                    <a:lstStyle/>
                    <a:p>
                      <a:pPr algn="ctr"/>
                      <a:r>
                        <a:rPr sz="2025" b="1">
                          <a:solidFill>
                            <a:srgbClr val="17243F"/>
                          </a:solidFill>
                          <a:latin typeface="Arial"/>
                          <a:ea typeface="Arial"/>
                          <a:cs typeface="Arial"/>
                        </a:rPr>
                        <a:t>Paper</a:t>
                      </a:r>
                    </a:p>
                  </a:txBody>
                  <a:tcPr anchor="ctr">
                    <a:lnL w="9525">
                      <a:solidFill>
                        <a:srgbClr val="CCD5E4"/>
                      </a:solidFill>
                      <a:prstDash val="soli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E7ECF6"/>
                    </a:solidFill>
                  </a:tcPr>
                </a:tc>
                <a:tc>
                  <a:txBody>
                    <a:bodyPr/>
                    <a:lstStyle/>
                    <a:p>
                      <a:pPr algn="ctr"/>
                      <a:endParaRP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FFFFFF"/>
                    </a:solidFill>
                  </a:tcPr>
                </a:tc>
                <a:tc>
                  <a:txBody>
                    <a:bodyPr/>
                    <a:lstStyle/>
                    <a:p>
                      <a:pPr algn="ctr"/>
                      <a:endParaRP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FFFFFF"/>
                    </a:solidFill>
                  </a:tcPr>
                </a:tc>
                <a:tc>
                  <a:txBody>
                    <a:bodyPr/>
                    <a:lstStyle/>
                    <a:p>
                      <a:pPr algn="ctr"/>
                      <a:endParaRP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FFFFFF"/>
                    </a:solidFill>
                  </a:tcPr>
                </a:tc>
                <a:extLst>
                  <a:ext uri="{0D108BD9-81ED-4DB2-BD59-A6C34878D82A}">
                    <a16:rowId xmlns:a16="http://schemas.microsoft.com/office/drawing/2014/main" val="10002"/>
                  </a:ext>
                </a:extLst>
              </a:tr>
              <a:tr h="638175">
                <a:tc>
                  <a:txBody>
                    <a:bodyPr/>
                    <a:lstStyle/>
                    <a:p>
                      <a:pPr algn="ctr"/>
                      <a:r>
                        <a:rPr sz="2025" b="1">
                          <a:solidFill>
                            <a:srgbClr val="17243F"/>
                          </a:solidFill>
                          <a:latin typeface="Arial"/>
                          <a:ea typeface="Arial"/>
                          <a:cs typeface="Arial"/>
                        </a:rPr>
                        <a:t>Scissors</a:t>
                      </a:r>
                    </a:p>
                  </a:txBody>
                  <a:tcPr anchor="ctr">
                    <a:lnL w="9525">
                      <a:solidFill>
                        <a:srgbClr val="CCD5E4"/>
                      </a:solidFill>
                      <a:prstDash val="soli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E7ECF6"/>
                    </a:solidFill>
                  </a:tcPr>
                </a:tc>
                <a:tc>
                  <a:txBody>
                    <a:bodyPr/>
                    <a:lstStyle/>
                    <a:p>
                      <a:pPr algn="ctr"/>
                      <a:endParaRP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FCE9E2"/>
                    </a:solidFill>
                  </a:tcPr>
                </a:tc>
                <a:tc>
                  <a:txBody>
                    <a:bodyPr/>
                    <a:lstStyle/>
                    <a:p>
                      <a:pPr algn="ctr"/>
                      <a:endParaRP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FFFFFF"/>
                    </a:solidFill>
                  </a:tcPr>
                </a:tc>
                <a:tc>
                  <a:txBody>
                    <a:bodyPr/>
                    <a:lstStyle/>
                    <a:p>
                      <a:pPr algn="ctr"/>
                      <a:endParaRPr/>
                    </a:p>
                  </a:txBody>
                  <a:tcPr anchor="ctr">
                    <a:lnL w="9525" cap="flat" cmpd="sng" algn="ctr">
                      <a:solidFill>
                        <a:srgbClr val="CCD5E4"/>
                      </a:solidFill>
                      <a:prstDash val="solid"/>
                      <a:round/>
                      <a:headEnd type="none" w="med" len="med"/>
                      <a:tailEnd type="none" w="med" len="med"/>
                    </a:lnL>
                    <a:lnR w="9525">
                      <a:solidFill>
                        <a:srgbClr val="CCD5E4"/>
                      </a:solidFill>
                      <a:prstDash val="solid"/>
                    </a:lnR>
                    <a:lnT w="9525" cap="flat" cmpd="sng" algn="ctr">
                      <a:solidFill>
                        <a:srgbClr val="CCD5E4"/>
                      </a:solidFill>
                      <a:prstDash val="solid"/>
                      <a:round/>
                      <a:headEnd type="none" w="med" len="med"/>
                      <a:tailEnd type="none" w="med" len="med"/>
                    </a:lnT>
                    <a:lnB w="9525">
                      <a:solidFill>
                        <a:srgbClr val="CCD5E4"/>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chart-title">
            <a:extLst>
              <a:ext uri="{FF2B5EF4-FFF2-40B4-BE49-F238E27FC236}">
                <a16:creationId xmlns:a16="http://schemas.microsoft.com/office/drawing/2014/main" id="{E1C95946-C5F3-4C70-BD02-84CD285A2A16}"/>
              </a:ext>
            </a:extLst>
          </p:cNvPr>
          <p:cNvSpPr>
            <a:spLocks noGrp="1"/>
          </p:cNvSpPr>
          <p:nvPr/>
        </p:nvSpPr>
        <p:spPr>
          <a:xfrm>
            <a:off x="6191250" y="1819275"/>
            <a:ext cx="5391150" cy="361950"/>
          </a:xfrm>
          <a:prstGeom prst="rect">
            <a:avLst/>
          </a:prstGeom>
          <a:noFill/>
          <a:ln w="0">
            <a:noFill/>
            <a:prstDash val="solid"/>
          </a:ln>
        </p:spPr>
        <p:txBody>
          <a:bodyPr wrap="square" lIns="0" tIns="0" rIns="0" bIns="0" anchor="ctr">
            <a:noAutofit/>
          </a:bodyPr>
          <a:lstStyle>
            <a:defPPr algn="l">
              <a:defRPr sz="2025" b="1">
                <a:solidFill>
                  <a:srgbClr val="17243F"/>
                </a:solidFill>
                <a:latin typeface="Arial"/>
                <a:ea typeface="Arial"/>
                <a:cs typeface="Arial"/>
              </a:defRPr>
            </a:defPPr>
            <a:lvl1pPr algn="l">
              <a:defRPr sz="2025" b="1">
                <a:solidFill>
                  <a:srgbClr val="17243F"/>
                </a:solidFill>
                <a:latin typeface="Arial"/>
                <a:ea typeface="Arial"/>
                <a:cs typeface="Arial"/>
              </a:defRPr>
            </a:lvl1pPr>
            <a:lvl2pPr algn="l">
              <a:defRPr sz="2025" b="1">
                <a:solidFill>
                  <a:srgbClr val="17243F"/>
                </a:solidFill>
                <a:latin typeface="Arial"/>
                <a:ea typeface="Arial"/>
                <a:cs typeface="Arial"/>
              </a:defRPr>
            </a:lvl2pPr>
            <a:lvl3pPr algn="l">
              <a:defRPr sz="2025" b="1">
                <a:solidFill>
                  <a:srgbClr val="17243F"/>
                </a:solidFill>
                <a:latin typeface="Arial"/>
                <a:ea typeface="Arial"/>
                <a:cs typeface="Arial"/>
              </a:defRPr>
            </a:lvl3pPr>
            <a:lvl4pPr algn="l">
              <a:defRPr sz="2025" b="1">
                <a:solidFill>
                  <a:srgbClr val="17243F"/>
                </a:solidFill>
                <a:latin typeface="Arial"/>
                <a:ea typeface="Arial"/>
                <a:cs typeface="Arial"/>
              </a:defRPr>
            </a:lvl4pPr>
            <a:lvl5pPr algn="l">
              <a:defRPr sz="2025" b="1">
                <a:solidFill>
                  <a:srgbClr val="17243F"/>
                </a:solidFill>
                <a:latin typeface="Arial"/>
                <a:ea typeface="Arial"/>
                <a:cs typeface="Arial"/>
              </a:defRPr>
            </a:lvl5pPr>
            <a:lvl6pPr algn="l">
              <a:defRPr sz="2025" b="1">
                <a:solidFill>
                  <a:srgbClr val="17243F"/>
                </a:solidFill>
                <a:latin typeface="Arial"/>
                <a:ea typeface="Arial"/>
                <a:cs typeface="Arial"/>
              </a:defRPr>
            </a:lvl6pPr>
            <a:lvl7pPr algn="l">
              <a:defRPr sz="2025" b="1">
                <a:solidFill>
                  <a:srgbClr val="17243F"/>
                </a:solidFill>
                <a:latin typeface="Arial"/>
                <a:ea typeface="Arial"/>
                <a:cs typeface="Arial"/>
              </a:defRPr>
            </a:lvl7pPr>
            <a:lvl8pPr algn="l">
              <a:defRPr sz="2025" b="1">
                <a:solidFill>
                  <a:srgbClr val="17243F"/>
                </a:solidFill>
                <a:latin typeface="Arial"/>
                <a:ea typeface="Arial"/>
                <a:cs typeface="Arial"/>
              </a:defRPr>
            </a:lvl8pPr>
            <a:lvl9pPr algn="l">
              <a:defRPr sz="2025" b="1">
                <a:solidFill>
                  <a:srgbClr val="17243F"/>
                </a:solidFill>
                <a:latin typeface="Arial"/>
                <a:ea typeface="Arial"/>
                <a:cs typeface="Arial"/>
              </a:defRPr>
            </a:lvl9pPr>
          </a:lstStyle>
          <a:p>
            <a:pPr algn="l">
              <a:defRPr sz="2025" b="1">
                <a:solidFill>
                  <a:srgbClr val="17243F"/>
                </a:solidFill>
                <a:latin typeface="Arial"/>
                <a:ea typeface="Arial"/>
                <a:cs typeface="Arial"/>
              </a:defRPr>
            </a:pPr>
            <a:r>
              <a:rPr sz="2025" b="1">
                <a:solidFill>
                  <a:srgbClr val="17243F"/>
                </a:solidFill>
                <a:latin typeface="Arial"/>
                <a:ea typeface="Arial"/>
                <a:cs typeface="Arial"/>
              </a:rPr>
              <a:t>Equilibrium for both players</a:t>
            </a:r>
          </a:p>
        </p:txBody>
      </p:sp>
      <p:graphicFrame>
        <p:nvGraphicFramePr>
          <p:cNvPr id="7" name="Chart">
            <a:extLst>
              <a:ext uri="{FF2B5EF4-FFF2-40B4-BE49-F238E27FC236}">
                <a16:creationId xmlns:a16="http://schemas.microsoft.com/office/drawing/2014/main" id="{7BA95E13-CDE3-45AF-A833-D8AC62709C9F}"/>
              </a:ext>
            </a:extLst>
          </p:cNvPr>
          <p:cNvGraphicFramePr/>
          <p:nvPr/>
        </p:nvGraphicFramePr>
        <p:xfrm>
          <a:off x="6143625" y="2238375"/>
          <a:ext cx="5429250" cy="2914650"/>
        </p:xfrm>
        <a:graphic>
          <a:graphicData uri="http://schemas.openxmlformats.org/drawingml/2006/chart">
            <c:chart xmlns:c="http://schemas.openxmlformats.org/drawingml/2006/chart" xmlns:r="http://schemas.openxmlformats.org/officeDocument/2006/relationships" r:id="rId13"/>
          </a:graphicData>
        </a:graphic>
      </p:graphicFrame>
      <p:sp>
        <p:nvSpPr>
          <p:cNvPr id="8" name="surprise">
            <a:extLst>
              <a:ext uri="{FF2B5EF4-FFF2-40B4-BE49-F238E27FC236}">
                <a16:creationId xmlns:a16="http://schemas.microsoft.com/office/drawing/2014/main" id="{46764507-88B0-4132-83F9-240D49EC5B79}"/>
              </a:ext>
            </a:extLst>
          </p:cNvPr>
          <p:cNvSpPr>
            <a:spLocks noGrp="1"/>
          </p:cNvSpPr>
          <p:nvPr/>
        </p:nvSpPr>
        <p:spPr>
          <a:xfrm>
            <a:off x="609600" y="5410200"/>
            <a:ext cx="10972800" cy="571500"/>
          </a:xfrm>
          <a:prstGeom prst="rect">
            <a:avLst/>
          </a:prstGeom>
          <a:noFill/>
          <a:ln w="0">
            <a:noFill/>
            <a:prstDash val="solid"/>
          </a:ln>
        </p:spPr>
        <p:txBody>
          <a:bodyPr wrap="square" lIns="0" tIns="0" rIns="0" bIns="0" anchor="ctr">
            <a:noAutofit/>
          </a:bodyPr>
          <a:lstStyle>
            <a:defPPr algn="l">
              <a:defRPr sz="2850" b="1">
                <a:solidFill>
                  <a:srgbClr val="008F84"/>
                </a:solidFill>
                <a:latin typeface="Arial"/>
                <a:ea typeface="Arial"/>
                <a:cs typeface="Arial"/>
              </a:defRPr>
            </a:defPPr>
            <a:lvl1pPr algn="l">
              <a:defRPr sz="2850" b="1">
                <a:solidFill>
                  <a:srgbClr val="008F84"/>
                </a:solidFill>
                <a:latin typeface="Arial"/>
                <a:ea typeface="Arial"/>
                <a:cs typeface="Arial"/>
              </a:defRPr>
            </a:lvl1pPr>
            <a:lvl2pPr algn="l">
              <a:defRPr sz="2850" b="1">
                <a:solidFill>
                  <a:srgbClr val="008F84"/>
                </a:solidFill>
                <a:latin typeface="Arial"/>
                <a:ea typeface="Arial"/>
                <a:cs typeface="Arial"/>
              </a:defRPr>
            </a:lvl2pPr>
            <a:lvl3pPr algn="l">
              <a:defRPr sz="2850" b="1">
                <a:solidFill>
                  <a:srgbClr val="008F84"/>
                </a:solidFill>
                <a:latin typeface="Arial"/>
                <a:ea typeface="Arial"/>
                <a:cs typeface="Arial"/>
              </a:defRPr>
            </a:lvl3pPr>
            <a:lvl4pPr algn="l">
              <a:defRPr sz="2850" b="1">
                <a:solidFill>
                  <a:srgbClr val="008F84"/>
                </a:solidFill>
                <a:latin typeface="Arial"/>
                <a:ea typeface="Arial"/>
                <a:cs typeface="Arial"/>
              </a:defRPr>
            </a:lvl4pPr>
            <a:lvl5pPr algn="l">
              <a:defRPr sz="2850" b="1">
                <a:solidFill>
                  <a:srgbClr val="008F84"/>
                </a:solidFill>
                <a:latin typeface="Arial"/>
                <a:ea typeface="Arial"/>
                <a:cs typeface="Arial"/>
              </a:defRPr>
            </a:lvl5pPr>
            <a:lvl6pPr algn="l">
              <a:defRPr sz="2850" b="1">
                <a:solidFill>
                  <a:srgbClr val="008F84"/>
                </a:solidFill>
                <a:latin typeface="Arial"/>
                <a:ea typeface="Arial"/>
                <a:cs typeface="Arial"/>
              </a:defRPr>
            </a:lvl6pPr>
            <a:lvl7pPr algn="l">
              <a:defRPr sz="2850" b="1">
                <a:solidFill>
                  <a:srgbClr val="008F84"/>
                </a:solidFill>
                <a:latin typeface="Arial"/>
                <a:ea typeface="Arial"/>
                <a:cs typeface="Arial"/>
              </a:defRPr>
            </a:lvl7pPr>
            <a:lvl8pPr algn="l">
              <a:defRPr sz="2850" b="1">
                <a:solidFill>
                  <a:srgbClr val="008F84"/>
                </a:solidFill>
                <a:latin typeface="Arial"/>
                <a:ea typeface="Arial"/>
                <a:cs typeface="Arial"/>
              </a:defRPr>
            </a:lvl8pPr>
            <a:lvl9pPr algn="l">
              <a:defRPr sz="2850" b="1">
                <a:solidFill>
                  <a:srgbClr val="008F84"/>
                </a:solidFill>
                <a:latin typeface="Arial"/>
                <a:ea typeface="Arial"/>
                <a:cs typeface="Arial"/>
              </a:defRPr>
            </a:lvl9pPr>
          </a:lstStyle>
          <a:p>
            <a:pPr algn="l">
              <a:defRPr sz="2850" b="1">
                <a:solidFill>
                  <a:srgbClr val="008F84"/>
                </a:solidFill>
                <a:latin typeface="Arial"/>
                <a:ea typeface="Arial"/>
                <a:cs typeface="Arial"/>
              </a:defRPr>
            </a:pPr>
            <a:r>
              <a:rPr sz="2850" b="1">
                <a:solidFill>
                  <a:srgbClr val="008F84"/>
                </a:solidFill>
                <a:latin typeface="Arial"/>
                <a:ea typeface="Arial"/>
                <a:cs typeface="Arial"/>
              </a:rPr>
              <a:t>Paper becomes more common.</a:t>
            </a:r>
          </a:p>
        </p:txBody>
      </p:sp>
      <p:pic>
        <p:nvPicPr>
          <p:cNvPr id="9" name="IguanaTex-equation-04" descr="LaTeX equation, editable with IguanaTex. Rock beating scissors is worth $+2$. The loser gets $-2$.">
            <a:extLst>
              <a:ext uri="{FF2B5EF4-FFF2-40B4-BE49-F238E27FC236}">
                <a16:creationId xmlns:a16="http://schemas.microsoft.com/office/drawing/2014/main" id="{026C95BB-F032-4E8E-9A96-48F6749D6282}"/>
              </a:ext>
            </a:extLst>
          </p:cNvPr>
          <p:cNvPicPr>
            <a:picLocks noChangeAspect="1"/>
          </p:cNvPicPr>
          <p:nvPr>
            <p:custDataLst>
              <p:tags r:id="rId1"/>
            </p:custDataLst>
          </p:nvPr>
        </p:nvPicPr>
        <p:blipFill>
          <a:blip r:embed="rId14"/>
          <a:stretch/>
        </p:blipFill>
        <p:spPr>
          <a:xfrm>
            <a:off x="628650" y="1199388"/>
            <a:ext cx="6044184" cy="306324"/>
          </a:xfrm>
          <a:prstGeom prst="rect">
            <a:avLst/>
          </a:prstGeom>
        </p:spPr>
      </p:pic>
      <p:pic>
        <p:nvPicPr>
          <p:cNvPr id="10" name="IguanaTex-equation-05" descr="LaTeX equation, editable with IguanaTex. $0$">
            <a:extLst>
              <a:ext uri="{FF2B5EF4-FFF2-40B4-BE49-F238E27FC236}">
                <a16:creationId xmlns:a16="http://schemas.microsoft.com/office/drawing/2014/main" id="{E2CB7C47-63CB-4E84-A6C6-5D9C9C6DD62B}"/>
              </a:ext>
            </a:extLst>
          </p:cNvPr>
          <p:cNvPicPr>
            <a:picLocks noChangeAspect="1"/>
          </p:cNvPicPr>
          <p:nvPr>
            <p:custDataLst>
              <p:tags r:id="rId2"/>
            </p:custDataLst>
          </p:nvPr>
        </p:nvPicPr>
        <p:blipFill>
          <a:blip r:embed="rId15"/>
          <a:stretch/>
        </p:blipFill>
        <p:spPr>
          <a:xfrm>
            <a:off x="2650198" y="3140393"/>
            <a:ext cx="205054" cy="262890"/>
          </a:xfrm>
          <a:prstGeom prst="rect">
            <a:avLst/>
          </a:prstGeom>
        </p:spPr>
      </p:pic>
      <p:pic>
        <p:nvPicPr>
          <p:cNvPr id="11" name="IguanaTex-equation-06" descr="LaTeX equation, editable with IguanaTex. $-1$">
            <a:extLst>
              <a:ext uri="{FF2B5EF4-FFF2-40B4-BE49-F238E27FC236}">
                <a16:creationId xmlns:a16="http://schemas.microsoft.com/office/drawing/2014/main" id="{EBA5FAB3-A72C-4796-9B73-B7FDE6E11117}"/>
              </a:ext>
            </a:extLst>
          </p:cNvPr>
          <p:cNvPicPr>
            <a:picLocks noChangeAspect="1"/>
          </p:cNvPicPr>
          <p:nvPr>
            <p:custDataLst>
              <p:tags r:id="rId3"/>
            </p:custDataLst>
          </p:nvPr>
        </p:nvPicPr>
        <p:blipFill>
          <a:blip r:embed="rId16"/>
          <a:stretch/>
        </p:blipFill>
        <p:spPr>
          <a:xfrm>
            <a:off x="3577019" y="3128124"/>
            <a:ext cx="446913" cy="287426"/>
          </a:xfrm>
          <a:prstGeom prst="rect">
            <a:avLst/>
          </a:prstGeom>
        </p:spPr>
      </p:pic>
      <p:pic>
        <p:nvPicPr>
          <p:cNvPr id="12" name="IguanaTex-equation-07" descr="LaTeX equation, editable with IguanaTex. $+2$">
            <a:extLst>
              <a:ext uri="{FF2B5EF4-FFF2-40B4-BE49-F238E27FC236}">
                <a16:creationId xmlns:a16="http://schemas.microsoft.com/office/drawing/2014/main" id="{12C84B50-FF60-46C3-B75C-FDD6E8D4472C}"/>
              </a:ext>
            </a:extLst>
          </p:cNvPr>
          <p:cNvPicPr>
            <a:picLocks noChangeAspect="1"/>
          </p:cNvPicPr>
          <p:nvPr>
            <p:custDataLst>
              <p:tags r:id="rId4"/>
            </p:custDataLst>
          </p:nvPr>
        </p:nvPicPr>
        <p:blipFill>
          <a:blip r:embed="rId17"/>
          <a:stretch/>
        </p:blipFill>
        <p:spPr>
          <a:xfrm>
            <a:off x="4624769" y="3130753"/>
            <a:ext cx="446913" cy="282169"/>
          </a:xfrm>
          <a:prstGeom prst="rect">
            <a:avLst/>
          </a:prstGeom>
        </p:spPr>
      </p:pic>
      <p:pic>
        <p:nvPicPr>
          <p:cNvPr id="13" name="IguanaTex-equation-08" descr="LaTeX equation, editable with IguanaTex. $+1$">
            <a:extLst>
              <a:ext uri="{FF2B5EF4-FFF2-40B4-BE49-F238E27FC236}">
                <a16:creationId xmlns:a16="http://schemas.microsoft.com/office/drawing/2014/main" id="{A94B2A15-3503-426E-AC79-F1371C148DB1}"/>
              </a:ext>
            </a:extLst>
          </p:cNvPr>
          <p:cNvPicPr>
            <a:picLocks noChangeAspect="1"/>
          </p:cNvPicPr>
          <p:nvPr>
            <p:custDataLst>
              <p:tags r:id="rId5"/>
            </p:custDataLst>
          </p:nvPr>
        </p:nvPicPr>
        <p:blipFill>
          <a:blip r:embed="rId18"/>
          <a:stretch/>
        </p:blipFill>
        <p:spPr>
          <a:xfrm>
            <a:off x="2529269" y="3766299"/>
            <a:ext cx="446913" cy="287426"/>
          </a:xfrm>
          <a:prstGeom prst="rect">
            <a:avLst/>
          </a:prstGeom>
        </p:spPr>
      </p:pic>
      <p:pic>
        <p:nvPicPr>
          <p:cNvPr id="14" name="IguanaTex-equation-09" descr="LaTeX equation, editable with IguanaTex. $0$">
            <a:extLst>
              <a:ext uri="{FF2B5EF4-FFF2-40B4-BE49-F238E27FC236}">
                <a16:creationId xmlns:a16="http://schemas.microsoft.com/office/drawing/2014/main" id="{ABF0E740-3A05-4A96-BBDC-8CCDD45BE9B3}"/>
              </a:ext>
            </a:extLst>
          </p:cNvPr>
          <p:cNvPicPr>
            <a:picLocks noChangeAspect="1"/>
          </p:cNvPicPr>
          <p:nvPr>
            <p:custDataLst>
              <p:tags r:id="rId6"/>
            </p:custDataLst>
          </p:nvPr>
        </p:nvPicPr>
        <p:blipFill>
          <a:blip r:embed="rId15"/>
          <a:stretch/>
        </p:blipFill>
        <p:spPr>
          <a:xfrm>
            <a:off x="3697948" y="3778568"/>
            <a:ext cx="205054" cy="262890"/>
          </a:xfrm>
          <a:prstGeom prst="rect">
            <a:avLst/>
          </a:prstGeom>
        </p:spPr>
      </p:pic>
      <p:pic>
        <p:nvPicPr>
          <p:cNvPr id="15" name="IguanaTex-equation-10" descr="LaTeX equation, editable with IguanaTex. $-1$">
            <a:extLst>
              <a:ext uri="{FF2B5EF4-FFF2-40B4-BE49-F238E27FC236}">
                <a16:creationId xmlns:a16="http://schemas.microsoft.com/office/drawing/2014/main" id="{45B0FBDE-465B-45A1-87BB-A92AD85358DD}"/>
              </a:ext>
            </a:extLst>
          </p:cNvPr>
          <p:cNvPicPr>
            <a:picLocks noChangeAspect="1"/>
          </p:cNvPicPr>
          <p:nvPr>
            <p:custDataLst>
              <p:tags r:id="rId7"/>
            </p:custDataLst>
          </p:nvPr>
        </p:nvPicPr>
        <p:blipFill>
          <a:blip r:embed="rId16"/>
          <a:stretch/>
        </p:blipFill>
        <p:spPr>
          <a:xfrm>
            <a:off x="4624769" y="3766299"/>
            <a:ext cx="446913" cy="287426"/>
          </a:xfrm>
          <a:prstGeom prst="rect">
            <a:avLst/>
          </a:prstGeom>
        </p:spPr>
      </p:pic>
      <p:pic>
        <p:nvPicPr>
          <p:cNvPr id="16" name="IguanaTex-equation-11" descr="LaTeX equation, editable with IguanaTex. $-2$">
            <a:extLst>
              <a:ext uri="{FF2B5EF4-FFF2-40B4-BE49-F238E27FC236}">
                <a16:creationId xmlns:a16="http://schemas.microsoft.com/office/drawing/2014/main" id="{6B8CCE24-70C8-4A4C-A561-825EA8BFA323}"/>
              </a:ext>
            </a:extLst>
          </p:cNvPr>
          <p:cNvPicPr>
            <a:picLocks noChangeAspect="1"/>
          </p:cNvPicPr>
          <p:nvPr>
            <p:custDataLst>
              <p:tags r:id="rId8"/>
            </p:custDataLst>
          </p:nvPr>
        </p:nvPicPr>
        <p:blipFill>
          <a:blip r:embed="rId19"/>
          <a:stretch/>
        </p:blipFill>
        <p:spPr>
          <a:xfrm>
            <a:off x="2529269" y="4407103"/>
            <a:ext cx="446913" cy="282169"/>
          </a:xfrm>
          <a:prstGeom prst="rect">
            <a:avLst/>
          </a:prstGeom>
        </p:spPr>
      </p:pic>
      <p:pic>
        <p:nvPicPr>
          <p:cNvPr id="17" name="IguanaTex-equation-12" descr="LaTeX equation, editable with IguanaTex. $+1$">
            <a:extLst>
              <a:ext uri="{FF2B5EF4-FFF2-40B4-BE49-F238E27FC236}">
                <a16:creationId xmlns:a16="http://schemas.microsoft.com/office/drawing/2014/main" id="{82492CB0-CCA3-4E18-84B8-2A2F7CFDFE69}"/>
              </a:ext>
            </a:extLst>
          </p:cNvPr>
          <p:cNvPicPr>
            <a:picLocks noChangeAspect="1"/>
          </p:cNvPicPr>
          <p:nvPr>
            <p:custDataLst>
              <p:tags r:id="rId9"/>
            </p:custDataLst>
          </p:nvPr>
        </p:nvPicPr>
        <p:blipFill>
          <a:blip r:embed="rId18"/>
          <a:stretch/>
        </p:blipFill>
        <p:spPr>
          <a:xfrm>
            <a:off x="3577019" y="4404474"/>
            <a:ext cx="446913" cy="287426"/>
          </a:xfrm>
          <a:prstGeom prst="rect">
            <a:avLst/>
          </a:prstGeom>
        </p:spPr>
      </p:pic>
      <p:pic>
        <p:nvPicPr>
          <p:cNvPr id="18" name="IguanaTex-equation-13" descr="LaTeX equation, editable with IguanaTex. $0$">
            <a:extLst>
              <a:ext uri="{FF2B5EF4-FFF2-40B4-BE49-F238E27FC236}">
                <a16:creationId xmlns:a16="http://schemas.microsoft.com/office/drawing/2014/main" id="{46565D2E-E7C6-4547-B4D6-84C1CC5F20FC}"/>
              </a:ext>
            </a:extLst>
          </p:cNvPr>
          <p:cNvPicPr>
            <a:picLocks noChangeAspect="1"/>
          </p:cNvPicPr>
          <p:nvPr>
            <p:custDataLst>
              <p:tags r:id="rId10"/>
            </p:custDataLst>
          </p:nvPr>
        </p:nvPicPr>
        <p:blipFill>
          <a:blip r:embed="rId15"/>
          <a:stretch/>
        </p:blipFill>
        <p:spPr>
          <a:xfrm>
            <a:off x="4745698" y="4416743"/>
            <a:ext cx="205054" cy="262890"/>
          </a:xfrm>
          <a:prstGeom prst="rect">
            <a:avLst/>
          </a:prstGeom>
        </p:spPr>
      </p:pic>
    </p:spTree>
    <p:extLst>
      <p:ext uri="{BB962C8B-B14F-4D97-AF65-F5344CB8AC3E}">
        <p14:creationId xmlns:p14="http://schemas.microsoft.com/office/powerpoint/2010/main" val="667102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5" name="title">
            <a:extLst>
              <a:ext uri="{FF2B5EF4-FFF2-40B4-BE49-F238E27FC236}">
                <a16:creationId xmlns:a16="http://schemas.microsoft.com/office/drawing/2014/main" id="{44F2D459-5D01-4E3D-9AC7-7BECE15A17C7}"/>
              </a:ext>
            </a:extLst>
          </p:cNvPr>
          <p:cNvSpPr>
            <a:spLocks noGrp="1"/>
          </p:cNvSpPr>
          <p:nvPr/>
        </p:nvSpPr>
        <p:spPr>
          <a:xfrm>
            <a:off x="609600" y="400050"/>
            <a:ext cx="10972800" cy="666750"/>
          </a:xfrm>
          <a:prstGeom prst="rect">
            <a:avLst/>
          </a:prstGeom>
          <a:noFill/>
          <a:ln w="0">
            <a:noFill/>
            <a:prstDash val="solid"/>
          </a:ln>
        </p:spPr>
        <p:txBody>
          <a:bodyPr wrap="square" lIns="0" tIns="0" rIns="0" bIns="0" anchor="ctr">
            <a:noAutofit/>
          </a:bodyPr>
          <a:lstStyle>
            <a:defPPr algn="l">
              <a:defRPr sz="3150" b="1">
                <a:solidFill>
                  <a:srgbClr val="14213D"/>
                </a:solidFill>
                <a:latin typeface="Arial"/>
                <a:ea typeface="Arial"/>
                <a:cs typeface="Arial"/>
              </a:defRPr>
            </a:defPPr>
            <a:lvl1pPr algn="l">
              <a:defRPr sz="3150" b="1">
                <a:solidFill>
                  <a:srgbClr val="14213D"/>
                </a:solidFill>
                <a:latin typeface="Arial"/>
                <a:ea typeface="Arial"/>
                <a:cs typeface="Arial"/>
              </a:defRPr>
            </a:lvl1pPr>
            <a:lvl2pPr algn="l">
              <a:defRPr sz="3150" b="1">
                <a:solidFill>
                  <a:srgbClr val="14213D"/>
                </a:solidFill>
                <a:latin typeface="Arial"/>
                <a:ea typeface="Arial"/>
                <a:cs typeface="Arial"/>
              </a:defRPr>
            </a:lvl2pPr>
            <a:lvl3pPr algn="l">
              <a:defRPr sz="3150" b="1">
                <a:solidFill>
                  <a:srgbClr val="14213D"/>
                </a:solidFill>
                <a:latin typeface="Arial"/>
                <a:ea typeface="Arial"/>
                <a:cs typeface="Arial"/>
              </a:defRPr>
            </a:lvl3pPr>
            <a:lvl4pPr algn="l">
              <a:defRPr sz="3150" b="1">
                <a:solidFill>
                  <a:srgbClr val="14213D"/>
                </a:solidFill>
                <a:latin typeface="Arial"/>
                <a:ea typeface="Arial"/>
                <a:cs typeface="Arial"/>
              </a:defRPr>
            </a:lvl4pPr>
            <a:lvl5pPr algn="l">
              <a:defRPr sz="3150" b="1">
                <a:solidFill>
                  <a:srgbClr val="14213D"/>
                </a:solidFill>
                <a:latin typeface="Arial"/>
                <a:ea typeface="Arial"/>
                <a:cs typeface="Arial"/>
              </a:defRPr>
            </a:lvl5pPr>
            <a:lvl6pPr algn="l">
              <a:defRPr sz="3150" b="1">
                <a:solidFill>
                  <a:srgbClr val="14213D"/>
                </a:solidFill>
                <a:latin typeface="Arial"/>
                <a:ea typeface="Arial"/>
                <a:cs typeface="Arial"/>
              </a:defRPr>
            </a:lvl6pPr>
            <a:lvl7pPr algn="l">
              <a:defRPr sz="3150" b="1">
                <a:solidFill>
                  <a:srgbClr val="14213D"/>
                </a:solidFill>
                <a:latin typeface="Arial"/>
                <a:ea typeface="Arial"/>
                <a:cs typeface="Arial"/>
              </a:defRPr>
            </a:lvl7pPr>
            <a:lvl8pPr algn="l">
              <a:defRPr sz="3150" b="1">
                <a:solidFill>
                  <a:srgbClr val="14213D"/>
                </a:solidFill>
                <a:latin typeface="Arial"/>
                <a:ea typeface="Arial"/>
                <a:cs typeface="Arial"/>
              </a:defRPr>
            </a:lvl8pPr>
            <a:lvl9pPr algn="l">
              <a:defRPr sz="3150" b="1">
                <a:solidFill>
                  <a:srgbClr val="14213D"/>
                </a:solidFill>
                <a:latin typeface="Arial"/>
                <a:ea typeface="Arial"/>
                <a:cs typeface="Arial"/>
              </a:defRPr>
            </a:lvl9pPr>
          </a:lstStyle>
          <a:p>
            <a:pPr algn="l">
              <a:defRPr sz="3150" b="1">
                <a:solidFill>
                  <a:srgbClr val="14213D"/>
                </a:solidFill>
                <a:latin typeface="Arial"/>
                <a:ea typeface="Arial"/>
                <a:cs typeface="Arial"/>
              </a:defRPr>
            </a:pPr>
            <a:r>
              <a:rPr sz="3150" b="1">
                <a:solidFill>
                  <a:srgbClr val="14213D"/>
                </a:solidFill>
                <a:latin typeface="Arial"/>
                <a:ea typeface="Arial"/>
                <a:cs typeface="Arial"/>
              </a:rPr>
              <a:t>Optimization turns games into algorithms</a:t>
            </a:r>
          </a:p>
        </p:txBody>
      </p:sp>
      <p:sp>
        <p:nvSpPr>
          <p:cNvPr id="2" name="slide-number">
            <a:extLst>
              <a:ext uri="{FF2B5EF4-FFF2-40B4-BE49-F238E27FC236}">
                <a16:creationId xmlns:a16="http://schemas.microsoft.com/office/drawing/2014/main" id="{FD9BFE7A-B62F-45D1-B73D-B96622C328F3}"/>
              </a:ext>
            </a:extLst>
          </p:cNvPr>
          <p:cNvSpPr>
            <a:spLocks noGrp="1"/>
          </p:cNvSpPr>
          <p:nvPr/>
        </p:nvSpPr>
        <p:spPr>
          <a:xfrm>
            <a:off x="11144250" y="6372225"/>
            <a:ext cx="438150" cy="247650"/>
          </a:xfrm>
          <a:prstGeom prst="rect">
            <a:avLst/>
          </a:prstGeom>
          <a:noFill/>
          <a:ln w="0">
            <a:noFill/>
            <a:prstDash val="solid"/>
          </a:ln>
        </p:spPr>
        <p:txBody>
          <a:bodyPr wrap="square" lIns="0" tIns="0" rIns="0" bIns="0" anchor="ctr">
            <a:noAutofit/>
          </a:bodyPr>
          <a:lstStyle>
            <a:defPPr algn="r">
              <a:defRPr sz="1275" b="0">
                <a:solidFill>
                  <a:srgbClr val="59657A"/>
                </a:solidFill>
                <a:latin typeface="Arial"/>
                <a:ea typeface="Arial"/>
                <a:cs typeface="Arial"/>
              </a:defRPr>
            </a:defPPr>
            <a:lvl1pPr algn="r">
              <a:defRPr sz="1275" b="0">
                <a:solidFill>
                  <a:srgbClr val="59657A"/>
                </a:solidFill>
                <a:latin typeface="Arial"/>
                <a:ea typeface="Arial"/>
                <a:cs typeface="Arial"/>
              </a:defRPr>
            </a:lvl1pPr>
            <a:lvl2pPr algn="r">
              <a:defRPr sz="1275" b="0">
                <a:solidFill>
                  <a:srgbClr val="59657A"/>
                </a:solidFill>
                <a:latin typeface="Arial"/>
                <a:ea typeface="Arial"/>
                <a:cs typeface="Arial"/>
              </a:defRPr>
            </a:lvl2pPr>
            <a:lvl3pPr algn="r">
              <a:defRPr sz="1275" b="0">
                <a:solidFill>
                  <a:srgbClr val="59657A"/>
                </a:solidFill>
                <a:latin typeface="Arial"/>
                <a:ea typeface="Arial"/>
                <a:cs typeface="Arial"/>
              </a:defRPr>
            </a:lvl3pPr>
            <a:lvl4pPr algn="r">
              <a:defRPr sz="1275" b="0">
                <a:solidFill>
                  <a:srgbClr val="59657A"/>
                </a:solidFill>
                <a:latin typeface="Arial"/>
                <a:ea typeface="Arial"/>
                <a:cs typeface="Arial"/>
              </a:defRPr>
            </a:lvl4pPr>
            <a:lvl5pPr algn="r">
              <a:defRPr sz="1275" b="0">
                <a:solidFill>
                  <a:srgbClr val="59657A"/>
                </a:solidFill>
                <a:latin typeface="Arial"/>
                <a:ea typeface="Arial"/>
                <a:cs typeface="Arial"/>
              </a:defRPr>
            </a:lvl5pPr>
            <a:lvl6pPr algn="r">
              <a:defRPr sz="1275" b="0">
                <a:solidFill>
                  <a:srgbClr val="59657A"/>
                </a:solidFill>
                <a:latin typeface="Arial"/>
                <a:ea typeface="Arial"/>
                <a:cs typeface="Arial"/>
              </a:defRPr>
            </a:lvl6pPr>
            <a:lvl7pPr algn="r">
              <a:defRPr sz="1275" b="0">
                <a:solidFill>
                  <a:srgbClr val="59657A"/>
                </a:solidFill>
                <a:latin typeface="Arial"/>
                <a:ea typeface="Arial"/>
                <a:cs typeface="Arial"/>
              </a:defRPr>
            </a:lvl7pPr>
            <a:lvl8pPr algn="r">
              <a:defRPr sz="1275" b="0">
                <a:solidFill>
                  <a:srgbClr val="59657A"/>
                </a:solidFill>
                <a:latin typeface="Arial"/>
                <a:ea typeface="Arial"/>
                <a:cs typeface="Arial"/>
              </a:defRPr>
            </a:lvl8pPr>
            <a:lvl9pPr algn="r">
              <a:defRPr sz="1275" b="0">
                <a:solidFill>
                  <a:srgbClr val="59657A"/>
                </a:solidFill>
                <a:latin typeface="Arial"/>
                <a:ea typeface="Arial"/>
                <a:cs typeface="Arial"/>
              </a:defRPr>
            </a:lvl9pPr>
          </a:lstStyle>
          <a:p>
            <a:pPr algn="r">
              <a:defRPr sz="1275" b="0">
                <a:solidFill>
                  <a:srgbClr val="59657A"/>
                </a:solidFill>
                <a:latin typeface="Arial"/>
                <a:ea typeface="Arial"/>
                <a:cs typeface="Arial"/>
              </a:defRPr>
            </a:pPr>
            <a:r>
              <a:rPr sz="1275" b="0">
                <a:solidFill>
                  <a:srgbClr val="59657A"/>
                </a:solidFill>
                <a:latin typeface="Arial"/>
                <a:ea typeface="Arial"/>
                <a:cs typeface="Arial"/>
              </a:rPr>
              <a:t>04</a:t>
            </a:r>
          </a:p>
        </p:txBody>
      </p:sp>
      <p:sp>
        <p:nvSpPr>
          <p:cNvPr id="3" name="compute-heading">
            <a:extLst>
              <a:ext uri="{FF2B5EF4-FFF2-40B4-BE49-F238E27FC236}">
                <a16:creationId xmlns:a16="http://schemas.microsoft.com/office/drawing/2014/main" id="{28B07B8A-747F-4D12-9628-9CD7CAE2444A}"/>
              </a:ext>
            </a:extLst>
          </p:cNvPr>
          <p:cNvSpPr>
            <a:spLocks noGrp="1"/>
          </p:cNvSpPr>
          <p:nvPr/>
        </p:nvSpPr>
        <p:spPr>
          <a:xfrm>
            <a:off x="609600" y="1495425"/>
            <a:ext cx="4429125" cy="390525"/>
          </a:xfrm>
          <a:prstGeom prst="rect">
            <a:avLst/>
          </a:prstGeom>
          <a:noFill/>
          <a:ln w="0">
            <a:noFill/>
            <a:prstDash val="solid"/>
          </a:ln>
        </p:spPr>
        <p:txBody>
          <a:bodyPr wrap="square" lIns="0" tIns="0" rIns="0" bIns="0" anchor="ctr">
            <a:noAutofit/>
          </a:bodyPr>
          <a:lstStyle>
            <a:defPPr algn="l">
              <a:defRPr sz="2325" b="1">
                <a:solidFill>
                  <a:srgbClr val="2D5BCE"/>
                </a:solidFill>
                <a:latin typeface="Arial"/>
                <a:ea typeface="Arial"/>
                <a:cs typeface="Arial"/>
              </a:defRPr>
            </a:defPPr>
            <a:lvl1pPr algn="l">
              <a:defRPr sz="2325" b="1">
                <a:solidFill>
                  <a:srgbClr val="2D5BCE"/>
                </a:solidFill>
                <a:latin typeface="Arial"/>
                <a:ea typeface="Arial"/>
                <a:cs typeface="Arial"/>
              </a:defRPr>
            </a:lvl1pPr>
            <a:lvl2pPr algn="l">
              <a:defRPr sz="2325" b="1">
                <a:solidFill>
                  <a:srgbClr val="2D5BCE"/>
                </a:solidFill>
                <a:latin typeface="Arial"/>
                <a:ea typeface="Arial"/>
                <a:cs typeface="Arial"/>
              </a:defRPr>
            </a:lvl2pPr>
            <a:lvl3pPr algn="l">
              <a:defRPr sz="2325" b="1">
                <a:solidFill>
                  <a:srgbClr val="2D5BCE"/>
                </a:solidFill>
                <a:latin typeface="Arial"/>
                <a:ea typeface="Arial"/>
                <a:cs typeface="Arial"/>
              </a:defRPr>
            </a:lvl3pPr>
            <a:lvl4pPr algn="l">
              <a:defRPr sz="2325" b="1">
                <a:solidFill>
                  <a:srgbClr val="2D5BCE"/>
                </a:solidFill>
                <a:latin typeface="Arial"/>
                <a:ea typeface="Arial"/>
                <a:cs typeface="Arial"/>
              </a:defRPr>
            </a:lvl4pPr>
            <a:lvl5pPr algn="l">
              <a:defRPr sz="2325" b="1">
                <a:solidFill>
                  <a:srgbClr val="2D5BCE"/>
                </a:solidFill>
                <a:latin typeface="Arial"/>
                <a:ea typeface="Arial"/>
                <a:cs typeface="Arial"/>
              </a:defRPr>
            </a:lvl5pPr>
            <a:lvl6pPr algn="l">
              <a:defRPr sz="2325" b="1">
                <a:solidFill>
                  <a:srgbClr val="2D5BCE"/>
                </a:solidFill>
                <a:latin typeface="Arial"/>
                <a:ea typeface="Arial"/>
                <a:cs typeface="Arial"/>
              </a:defRPr>
            </a:lvl6pPr>
            <a:lvl7pPr algn="l">
              <a:defRPr sz="2325" b="1">
                <a:solidFill>
                  <a:srgbClr val="2D5BCE"/>
                </a:solidFill>
                <a:latin typeface="Arial"/>
                <a:ea typeface="Arial"/>
                <a:cs typeface="Arial"/>
              </a:defRPr>
            </a:lvl7pPr>
            <a:lvl8pPr algn="l">
              <a:defRPr sz="2325" b="1">
                <a:solidFill>
                  <a:srgbClr val="2D5BCE"/>
                </a:solidFill>
                <a:latin typeface="Arial"/>
                <a:ea typeface="Arial"/>
                <a:cs typeface="Arial"/>
              </a:defRPr>
            </a:lvl8pPr>
            <a:lvl9pPr algn="l">
              <a:defRPr sz="2325" b="1">
                <a:solidFill>
                  <a:srgbClr val="2D5BCE"/>
                </a:solidFill>
                <a:latin typeface="Arial"/>
                <a:ea typeface="Arial"/>
                <a:cs typeface="Arial"/>
              </a:defRPr>
            </a:lvl9pPr>
          </a:lstStyle>
          <a:p>
            <a:pPr algn="l">
              <a:defRPr sz="2325" b="1">
                <a:solidFill>
                  <a:srgbClr val="2D5BCE"/>
                </a:solidFill>
                <a:latin typeface="Arial"/>
                <a:ea typeface="Arial"/>
                <a:cs typeface="Arial"/>
              </a:defRPr>
            </a:pPr>
            <a:r>
              <a:rPr sz="2325" b="1">
                <a:solidFill>
                  <a:srgbClr val="2D5BCE"/>
                </a:solidFill>
                <a:latin typeface="Arial"/>
                <a:ea typeface="Arial"/>
                <a:cs typeface="Arial"/>
              </a:rPr>
              <a:t>Compute a strategy</a:t>
            </a:r>
          </a:p>
        </p:txBody>
      </p:sp>
      <p:sp>
        <p:nvSpPr>
          <p:cNvPr id="4" name="compute-body">
            <a:extLst>
              <a:ext uri="{FF2B5EF4-FFF2-40B4-BE49-F238E27FC236}">
                <a16:creationId xmlns:a16="http://schemas.microsoft.com/office/drawing/2014/main" id="{874FEF02-D4DB-4F74-B45C-234E5E26F7E2}"/>
              </a:ext>
            </a:extLst>
          </p:cNvPr>
          <p:cNvSpPr>
            <a:spLocks noGrp="1"/>
          </p:cNvSpPr>
          <p:nvPr/>
        </p:nvSpPr>
        <p:spPr>
          <a:xfrm>
            <a:off x="609600" y="1990725"/>
            <a:ext cx="4610100" cy="733425"/>
          </a:xfrm>
          <a:prstGeom prst="rect">
            <a:avLst/>
          </a:prstGeom>
          <a:noFill/>
          <a:ln w="0">
            <a:noFill/>
            <a:prstDash val="solid"/>
          </a:ln>
        </p:spPr>
        <p:txBody>
          <a:bodyPr wrap="square" lIns="0" tIns="0" rIns="0" bIns="0" anchor="ctr">
            <a:noAutofit/>
          </a:bodyPr>
          <a:lstStyle>
            <a:defPPr algn="l">
              <a:defRPr sz="2175" b="0">
                <a:solidFill>
                  <a:srgbClr val="17243F"/>
                </a:solidFill>
                <a:latin typeface="Arial"/>
                <a:ea typeface="Arial"/>
                <a:cs typeface="Arial"/>
              </a:defRPr>
            </a:defPPr>
            <a:lvl1pPr algn="l">
              <a:defRPr sz="2175" b="0">
                <a:solidFill>
                  <a:srgbClr val="17243F"/>
                </a:solidFill>
                <a:latin typeface="Arial"/>
                <a:ea typeface="Arial"/>
                <a:cs typeface="Arial"/>
              </a:defRPr>
            </a:lvl1pPr>
            <a:lvl2pPr algn="l">
              <a:defRPr sz="2175" b="0">
                <a:solidFill>
                  <a:srgbClr val="17243F"/>
                </a:solidFill>
                <a:latin typeface="Arial"/>
                <a:ea typeface="Arial"/>
                <a:cs typeface="Arial"/>
              </a:defRPr>
            </a:lvl2pPr>
            <a:lvl3pPr algn="l">
              <a:defRPr sz="2175" b="0">
                <a:solidFill>
                  <a:srgbClr val="17243F"/>
                </a:solidFill>
                <a:latin typeface="Arial"/>
                <a:ea typeface="Arial"/>
                <a:cs typeface="Arial"/>
              </a:defRPr>
            </a:lvl3pPr>
            <a:lvl4pPr algn="l">
              <a:defRPr sz="2175" b="0">
                <a:solidFill>
                  <a:srgbClr val="17243F"/>
                </a:solidFill>
                <a:latin typeface="Arial"/>
                <a:ea typeface="Arial"/>
                <a:cs typeface="Arial"/>
              </a:defRPr>
            </a:lvl4pPr>
            <a:lvl5pPr algn="l">
              <a:defRPr sz="2175" b="0">
                <a:solidFill>
                  <a:srgbClr val="17243F"/>
                </a:solidFill>
                <a:latin typeface="Arial"/>
                <a:ea typeface="Arial"/>
                <a:cs typeface="Arial"/>
              </a:defRPr>
            </a:lvl5pPr>
            <a:lvl6pPr algn="l">
              <a:defRPr sz="2175" b="0">
                <a:solidFill>
                  <a:srgbClr val="17243F"/>
                </a:solidFill>
                <a:latin typeface="Arial"/>
                <a:ea typeface="Arial"/>
                <a:cs typeface="Arial"/>
              </a:defRPr>
            </a:lvl6pPr>
            <a:lvl7pPr algn="l">
              <a:defRPr sz="2175" b="0">
                <a:solidFill>
                  <a:srgbClr val="17243F"/>
                </a:solidFill>
                <a:latin typeface="Arial"/>
                <a:ea typeface="Arial"/>
                <a:cs typeface="Arial"/>
              </a:defRPr>
            </a:lvl7pPr>
            <a:lvl8pPr algn="l">
              <a:defRPr sz="2175" b="0">
                <a:solidFill>
                  <a:srgbClr val="17243F"/>
                </a:solidFill>
                <a:latin typeface="Arial"/>
                <a:ea typeface="Arial"/>
                <a:cs typeface="Arial"/>
              </a:defRPr>
            </a:lvl8pPr>
            <a:lvl9pPr algn="l">
              <a:defRPr sz="2175" b="0">
                <a:solidFill>
                  <a:srgbClr val="17243F"/>
                </a:solidFill>
                <a:latin typeface="Arial"/>
                <a:ea typeface="Arial"/>
                <a:cs typeface="Arial"/>
              </a:defRPr>
            </a:lvl9pPr>
          </a:lstStyle>
          <a:p>
            <a:pPr algn="l">
              <a:defRPr sz="2175" b="0">
                <a:solidFill>
                  <a:srgbClr val="17243F"/>
                </a:solidFill>
                <a:latin typeface="Arial"/>
                <a:ea typeface="Arial"/>
                <a:cs typeface="Arial"/>
              </a:defRPr>
            </a:pPr>
            <a:r>
              <a:rPr sz="2175" b="0">
                <a:solidFill>
                  <a:srgbClr val="17243F"/>
                </a:solidFill>
                <a:latin typeface="Arial"/>
                <a:ea typeface="Arial"/>
                <a:cs typeface="Arial"/>
              </a:rPr>
              <a:t>Choose probabilities to maximize</a:t>
            </a:r>
          </a:p>
          <a:p>
            <a:pPr algn="l">
              <a:defRPr sz="2175" b="0">
                <a:solidFill>
                  <a:srgbClr val="17243F"/>
                </a:solidFill>
                <a:latin typeface="Arial"/>
                <a:ea typeface="Arial"/>
                <a:cs typeface="Arial"/>
              </a:defRPr>
            </a:pPr>
            <a:r>
              <a:rPr sz="2175" b="0">
                <a:solidFill>
                  <a:srgbClr val="17243F"/>
                </a:solidFill>
                <a:latin typeface="Arial"/>
                <a:ea typeface="Arial"/>
                <a:cs typeface="Arial"/>
              </a:rPr>
              <a:t>your worst-case payoff.</a:t>
            </a:r>
          </a:p>
        </p:txBody>
      </p:sp>
      <p:sp>
        <p:nvSpPr>
          <p:cNvPr id="5" name="minmax-equation">
            <a:extLst>
              <a:ext uri="{FF2B5EF4-FFF2-40B4-BE49-F238E27FC236}">
                <a16:creationId xmlns:a16="http://schemas.microsoft.com/office/drawing/2014/main" id="{EBA1E718-E876-4FF1-B4FA-DB8E0791B172}"/>
              </a:ext>
            </a:extLst>
          </p:cNvPr>
          <p:cNvSpPr>
            <a:spLocks noGrp="1"/>
          </p:cNvSpPr>
          <p:nvPr/>
        </p:nvSpPr>
        <p:spPr>
          <a:xfrm>
            <a:off x="609600" y="2847975"/>
            <a:ext cx="4667250" cy="619125"/>
          </a:xfrm>
          <a:prstGeom prst="rect">
            <a:avLst/>
          </a:prstGeom>
          <a:noFill/>
          <a:ln w="0">
            <a:noFill/>
            <a:prstDash val="solid"/>
          </a:ln>
        </p:spPr>
        <p:txBody>
          <a:bodyPr wrap="square" lIns="0" tIns="0" rIns="0" bIns="0" anchor="ctr">
            <a:noAutofit/>
          </a:bodyPr>
          <a:lstStyle>
            <a:defPPr algn="l">
              <a:defRPr sz="3375" b="1">
                <a:solidFill>
                  <a:srgbClr val="14213D"/>
                </a:solidFill>
                <a:latin typeface="Arial"/>
                <a:ea typeface="Arial"/>
                <a:cs typeface="Arial"/>
              </a:defRPr>
            </a:defPPr>
            <a:lvl1pPr algn="l">
              <a:defRPr sz="3375" b="1">
                <a:solidFill>
                  <a:srgbClr val="14213D"/>
                </a:solidFill>
                <a:latin typeface="Arial"/>
                <a:ea typeface="Arial"/>
                <a:cs typeface="Arial"/>
              </a:defRPr>
            </a:lvl1pPr>
            <a:lvl2pPr algn="l">
              <a:defRPr sz="3375" b="1">
                <a:solidFill>
                  <a:srgbClr val="14213D"/>
                </a:solidFill>
                <a:latin typeface="Arial"/>
                <a:ea typeface="Arial"/>
                <a:cs typeface="Arial"/>
              </a:defRPr>
            </a:lvl2pPr>
            <a:lvl3pPr algn="l">
              <a:defRPr sz="3375" b="1">
                <a:solidFill>
                  <a:srgbClr val="14213D"/>
                </a:solidFill>
                <a:latin typeface="Arial"/>
                <a:ea typeface="Arial"/>
                <a:cs typeface="Arial"/>
              </a:defRPr>
            </a:lvl3pPr>
            <a:lvl4pPr algn="l">
              <a:defRPr sz="3375" b="1">
                <a:solidFill>
                  <a:srgbClr val="14213D"/>
                </a:solidFill>
                <a:latin typeface="Arial"/>
                <a:ea typeface="Arial"/>
                <a:cs typeface="Arial"/>
              </a:defRPr>
            </a:lvl4pPr>
            <a:lvl5pPr algn="l">
              <a:defRPr sz="3375" b="1">
                <a:solidFill>
                  <a:srgbClr val="14213D"/>
                </a:solidFill>
                <a:latin typeface="Arial"/>
                <a:ea typeface="Arial"/>
                <a:cs typeface="Arial"/>
              </a:defRPr>
            </a:lvl5pPr>
            <a:lvl6pPr algn="l">
              <a:defRPr sz="3375" b="1">
                <a:solidFill>
                  <a:srgbClr val="14213D"/>
                </a:solidFill>
                <a:latin typeface="Arial"/>
                <a:ea typeface="Arial"/>
                <a:cs typeface="Arial"/>
              </a:defRPr>
            </a:lvl6pPr>
            <a:lvl7pPr algn="l">
              <a:defRPr sz="3375" b="1">
                <a:solidFill>
                  <a:srgbClr val="14213D"/>
                </a:solidFill>
                <a:latin typeface="Arial"/>
                <a:ea typeface="Arial"/>
                <a:cs typeface="Arial"/>
              </a:defRPr>
            </a:lvl7pPr>
            <a:lvl8pPr algn="l">
              <a:defRPr sz="3375" b="1">
                <a:solidFill>
                  <a:srgbClr val="14213D"/>
                </a:solidFill>
                <a:latin typeface="Arial"/>
                <a:ea typeface="Arial"/>
                <a:cs typeface="Arial"/>
              </a:defRPr>
            </a:lvl8pPr>
            <a:lvl9pPr algn="l">
              <a:defRPr sz="3375" b="1">
                <a:solidFill>
                  <a:srgbClr val="14213D"/>
                </a:solidFill>
                <a:latin typeface="Arial"/>
                <a:ea typeface="Arial"/>
                <a:cs typeface="Arial"/>
              </a:defRPr>
            </a:lvl9pPr>
          </a:lstStyle>
          <a:p>
            <a:pPr algn="l">
              <a:defRPr sz="3375" b="1">
                <a:solidFill>
                  <a:srgbClr val="14213D"/>
                </a:solidFill>
                <a:latin typeface="Arial"/>
                <a:ea typeface="Arial"/>
                <a:cs typeface="Arial"/>
              </a:defRPr>
            </a:pPr>
            <a:endParaRPr/>
          </a:p>
        </p:txBody>
      </p:sp>
      <p:sp>
        <p:nvSpPr>
          <p:cNvPr id="6" name="minmax-variables">
            <a:extLst>
              <a:ext uri="{FF2B5EF4-FFF2-40B4-BE49-F238E27FC236}">
                <a16:creationId xmlns:a16="http://schemas.microsoft.com/office/drawing/2014/main" id="{31829757-12E2-4CF9-B6DD-B670278499CF}"/>
              </a:ext>
            </a:extLst>
          </p:cNvPr>
          <p:cNvSpPr>
            <a:spLocks noGrp="1"/>
          </p:cNvSpPr>
          <p:nvPr/>
        </p:nvSpPr>
        <p:spPr>
          <a:xfrm>
            <a:off x="847725" y="3362325"/>
            <a:ext cx="1685925" cy="247650"/>
          </a:xfrm>
          <a:prstGeom prst="rect">
            <a:avLst/>
          </a:prstGeom>
          <a:noFill/>
          <a:ln w="0">
            <a:noFill/>
            <a:prstDash val="solid"/>
          </a:ln>
        </p:spPr>
        <p:txBody>
          <a:bodyPr wrap="square" lIns="0" tIns="0" rIns="0" bIns="0" anchor="ctr">
            <a:noAutofit/>
          </a:bodyPr>
          <a:lstStyle>
            <a:defPPr algn="l">
              <a:defRPr sz="1575" b="0">
                <a:solidFill>
                  <a:srgbClr val="14213D"/>
                </a:solidFill>
                <a:latin typeface="Arial"/>
                <a:ea typeface="Arial"/>
                <a:cs typeface="Arial"/>
              </a:defRPr>
            </a:defPPr>
            <a:lvl1pPr algn="l">
              <a:defRPr sz="1575" b="0">
                <a:solidFill>
                  <a:srgbClr val="14213D"/>
                </a:solidFill>
                <a:latin typeface="Arial"/>
                <a:ea typeface="Arial"/>
                <a:cs typeface="Arial"/>
              </a:defRPr>
            </a:lvl1pPr>
            <a:lvl2pPr algn="l">
              <a:defRPr sz="1575" b="0">
                <a:solidFill>
                  <a:srgbClr val="14213D"/>
                </a:solidFill>
                <a:latin typeface="Arial"/>
                <a:ea typeface="Arial"/>
                <a:cs typeface="Arial"/>
              </a:defRPr>
            </a:lvl2pPr>
            <a:lvl3pPr algn="l">
              <a:defRPr sz="1575" b="0">
                <a:solidFill>
                  <a:srgbClr val="14213D"/>
                </a:solidFill>
                <a:latin typeface="Arial"/>
                <a:ea typeface="Arial"/>
                <a:cs typeface="Arial"/>
              </a:defRPr>
            </a:lvl3pPr>
            <a:lvl4pPr algn="l">
              <a:defRPr sz="1575" b="0">
                <a:solidFill>
                  <a:srgbClr val="14213D"/>
                </a:solidFill>
                <a:latin typeface="Arial"/>
                <a:ea typeface="Arial"/>
                <a:cs typeface="Arial"/>
              </a:defRPr>
            </a:lvl4pPr>
            <a:lvl5pPr algn="l">
              <a:defRPr sz="1575" b="0">
                <a:solidFill>
                  <a:srgbClr val="14213D"/>
                </a:solidFill>
                <a:latin typeface="Arial"/>
                <a:ea typeface="Arial"/>
                <a:cs typeface="Arial"/>
              </a:defRPr>
            </a:lvl5pPr>
            <a:lvl6pPr algn="l">
              <a:defRPr sz="1575" b="0">
                <a:solidFill>
                  <a:srgbClr val="14213D"/>
                </a:solidFill>
                <a:latin typeface="Arial"/>
                <a:ea typeface="Arial"/>
                <a:cs typeface="Arial"/>
              </a:defRPr>
            </a:lvl6pPr>
            <a:lvl7pPr algn="l">
              <a:defRPr sz="1575" b="0">
                <a:solidFill>
                  <a:srgbClr val="14213D"/>
                </a:solidFill>
                <a:latin typeface="Arial"/>
                <a:ea typeface="Arial"/>
                <a:cs typeface="Arial"/>
              </a:defRPr>
            </a:lvl7pPr>
            <a:lvl8pPr algn="l">
              <a:defRPr sz="1575" b="0">
                <a:solidFill>
                  <a:srgbClr val="14213D"/>
                </a:solidFill>
                <a:latin typeface="Arial"/>
                <a:ea typeface="Arial"/>
                <a:cs typeface="Arial"/>
              </a:defRPr>
            </a:lvl8pPr>
            <a:lvl9pPr algn="l">
              <a:defRPr sz="1575" b="0">
                <a:solidFill>
                  <a:srgbClr val="14213D"/>
                </a:solidFill>
                <a:latin typeface="Arial"/>
                <a:ea typeface="Arial"/>
                <a:cs typeface="Arial"/>
              </a:defRPr>
            </a:lvl9pPr>
          </a:lstStyle>
          <a:p>
            <a:pPr algn="l">
              <a:defRPr sz="1575" b="0">
                <a:solidFill>
                  <a:srgbClr val="14213D"/>
                </a:solidFill>
                <a:latin typeface="Arial"/>
                <a:ea typeface="Arial"/>
                <a:cs typeface="Arial"/>
              </a:defRPr>
            </a:pPr>
            <a:endParaRPr/>
          </a:p>
        </p:txBody>
      </p:sp>
      <p:sp>
        <p:nvSpPr>
          <p:cNvPr id="7" name="compute-caption">
            <a:extLst>
              <a:ext uri="{FF2B5EF4-FFF2-40B4-BE49-F238E27FC236}">
                <a16:creationId xmlns:a16="http://schemas.microsoft.com/office/drawing/2014/main" id="{70E188D1-4F50-46A7-A5DA-D2EFBAE0EE69}"/>
              </a:ext>
            </a:extLst>
          </p:cNvPr>
          <p:cNvSpPr>
            <a:spLocks noGrp="1"/>
          </p:cNvSpPr>
          <p:nvPr/>
        </p:nvSpPr>
        <p:spPr>
          <a:xfrm>
            <a:off x="619125" y="3638550"/>
            <a:ext cx="4629150" cy="609600"/>
          </a:xfrm>
          <a:prstGeom prst="rect">
            <a:avLst/>
          </a:prstGeom>
          <a:noFill/>
          <a:ln w="0">
            <a:noFill/>
            <a:prstDash val="solid"/>
          </a:ln>
        </p:spPr>
        <p:txBody>
          <a:bodyPr wrap="square" lIns="0" tIns="0" rIns="0" bIns="0" anchor="ctr">
            <a:noAutofit/>
          </a:bodyPr>
          <a:lstStyle>
            <a:defPPr algn="l">
              <a:defRPr sz="1725" b="0">
                <a:solidFill>
                  <a:srgbClr val="59657A"/>
                </a:solidFill>
                <a:latin typeface="Arial"/>
                <a:ea typeface="Arial"/>
                <a:cs typeface="Arial"/>
              </a:defRPr>
            </a:defPPr>
            <a:lvl1pPr algn="l">
              <a:defRPr sz="1725" b="0">
                <a:solidFill>
                  <a:srgbClr val="59657A"/>
                </a:solidFill>
                <a:latin typeface="Arial"/>
                <a:ea typeface="Arial"/>
                <a:cs typeface="Arial"/>
              </a:defRPr>
            </a:lvl1pPr>
            <a:lvl2pPr algn="l">
              <a:defRPr sz="1725" b="0">
                <a:solidFill>
                  <a:srgbClr val="59657A"/>
                </a:solidFill>
                <a:latin typeface="Arial"/>
                <a:ea typeface="Arial"/>
                <a:cs typeface="Arial"/>
              </a:defRPr>
            </a:lvl2pPr>
            <a:lvl3pPr algn="l">
              <a:defRPr sz="1725" b="0">
                <a:solidFill>
                  <a:srgbClr val="59657A"/>
                </a:solidFill>
                <a:latin typeface="Arial"/>
                <a:ea typeface="Arial"/>
                <a:cs typeface="Arial"/>
              </a:defRPr>
            </a:lvl3pPr>
            <a:lvl4pPr algn="l">
              <a:defRPr sz="1725" b="0">
                <a:solidFill>
                  <a:srgbClr val="59657A"/>
                </a:solidFill>
                <a:latin typeface="Arial"/>
                <a:ea typeface="Arial"/>
                <a:cs typeface="Arial"/>
              </a:defRPr>
            </a:lvl4pPr>
            <a:lvl5pPr algn="l">
              <a:defRPr sz="1725" b="0">
                <a:solidFill>
                  <a:srgbClr val="59657A"/>
                </a:solidFill>
                <a:latin typeface="Arial"/>
                <a:ea typeface="Arial"/>
                <a:cs typeface="Arial"/>
              </a:defRPr>
            </a:lvl5pPr>
            <a:lvl6pPr algn="l">
              <a:defRPr sz="1725" b="0">
                <a:solidFill>
                  <a:srgbClr val="59657A"/>
                </a:solidFill>
                <a:latin typeface="Arial"/>
                <a:ea typeface="Arial"/>
                <a:cs typeface="Arial"/>
              </a:defRPr>
            </a:lvl6pPr>
            <a:lvl7pPr algn="l">
              <a:defRPr sz="1725" b="0">
                <a:solidFill>
                  <a:srgbClr val="59657A"/>
                </a:solidFill>
                <a:latin typeface="Arial"/>
                <a:ea typeface="Arial"/>
                <a:cs typeface="Arial"/>
              </a:defRPr>
            </a:lvl7pPr>
            <a:lvl8pPr algn="l">
              <a:defRPr sz="1725" b="0">
                <a:solidFill>
                  <a:srgbClr val="59657A"/>
                </a:solidFill>
                <a:latin typeface="Arial"/>
                <a:ea typeface="Arial"/>
                <a:cs typeface="Arial"/>
              </a:defRPr>
            </a:lvl8pPr>
            <a:lvl9pPr algn="l">
              <a:defRPr sz="1725" b="0">
                <a:solidFill>
                  <a:srgbClr val="59657A"/>
                </a:solidFill>
                <a:latin typeface="Arial"/>
                <a:ea typeface="Arial"/>
                <a:cs typeface="Arial"/>
              </a:defRPr>
            </a:lvl9pPr>
          </a:lstStyle>
          <a:p>
            <a:pPr algn="l">
              <a:defRPr sz="1725" b="0">
                <a:solidFill>
                  <a:srgbClr val="59657A"/>
                </a:solidFill>
                <a:latin typeface="Arial"/>
                <a:ea typeface="Arial"/>
                <a:cs typeface="Arial"/>
              </a:defRPr>
            </a:pPr>
            <a:endParaRPr/>
          </a:p>
        </p:txBody>
      </p:sp>
      <p:sp>
        <p:nvSpPr>
          <p:cNvPr id="8" name="lp">
            <a:extLst>
              <a:ext uri="{FF2B5EF4-FFF2-40B4-BE49-F238E27FC236}">
                <a16:creationId xmlns:a16="http://schemas.microsoft.com/office/drawing/2014/main" id="{58EE8C2D-A5F0-4647-83F6-FCCA5E4B1952}"/>
              </a:ext>
            </a:extLst>
          </p:cNvPr>
          <p:cNvSpPr>
            <a:spLocks noGrp="1"/>
          </p:cNvSpPr>
          <p:nvPr/>
        </p:nvSpPr>
        <p:spPr>
          <a:xfrm>
            <a:off x="619125" y="4495800"/>
            <a:ext cx="4629150" cy="714375"/>
          </a:xfrm>
          <a:prstGeom prst="rect">
            <a:avLst/>
          </a:prstGeom>
          <a:noFill/>
          <a:ln w="0">
            <a:noFill/>
            <a:prstDash val="solid"/>
          </a:ln>
        </p:spPr>
        <p:txBody>
          <a:bodyPr wrap="square" lIns="0" tIns="0" rIns="0" bIns="0" anchor="ctr">
            <a:noAutofit/>
          </a:bodyPr>
          <a:lstStyle>
            <a:defPPr algn="l">
              <a:defRPr sz="2100" b="1">
                <a:solidFill>
                  <a:srgbClr val="2D5BCE"/>
                </a:solidFill>
                <a:latin typeface="Arial"/>
                <a:ea typeface="Arial"/>
                <a:cs typeface="Arial"/>
              </a:defRPr>
            </a:defPPr>
            <a:lvl1pPr algn="l">
              <a:defRPr sz="2100" b="1">
                <a:solidFill>
                  <a:srgbClr val="2D5BCE"/>
                </a:solidFill>
                <a:latin typeface="Arial"/>
                <a:ea typeface="Arial"/>
                <a:cs typeface="Arial"/>
              </a:defRPr>
            </a:lvl1pPr>
            <a:lvl2pPr algn="l">
              <a:defRPr sz="2100" b="1">
                <a:solidFill>
                  <a:srgbClr val="2D5BCE"/>
                </a:solidFill>
                <a:latin typeface="Arial"/>
                <a:ea typeface="Arial"/>
                <a:cs typeface="Arial"/>
              </a:defRPr>
            </a:lvl2pPr>
            <a:lvl3pPr algn="l">
              <a:defRPr sz="2100" b="1">
                <a:solidFill>
                  <a:srgbClr val="2D5BCE"/>
                </a:solidFill>
                <a:latin typeface="Arial"/>
                <a:ea typeface="Arial"/>
                <a:cs typeface="Arial"/>
              </a:defRPr>
            </a:lvl3pPr>
            <a:lvl4pPr algn="l">
              <a:defRPr sz="2100" b="1">
                <a:solidFill>
                  <a:srgbClr val="2D5BCE"/>
                </a:solidFill>
                <a:latin typeface="Arial"/>
                <a:ea typeface="Arial"/>
                <a:cs typeface="Arial"/>
              </a:defRPr>
            </a:lvl4pPr>
            <a:lvl5pPr algn="l">
              <a:defRPr sz="2100" b="1">
                <a:solidFill>
                  <a:srgbClr val="2D5BCE"/>
                </a:solidFill>
                <a:latin typeface="Arial"/>
                <a:ea typeface="Arial"/>
                <a:cs typeface="Arial"/>
              </a:defRPr>
            </a:lvl5pPr>
            <a:lvl6pPr algn="l">
              <a:defRPr sz="2100" b="1">
                <a:solidFill>
                  <a:srgbClr val="2D5BCE"/>
                </a:solidFill>
                <a:latin typeface="Arial"/>
                <a:ea typeface="Arial"/>
                <a:cs typeface="Arial"/>
              </a:defRPr>
            </a:lvl6pPr>
            <a:lvl7pPr algn="l">
              <a:defRPr sz="2100" b="1">
                <a:solidFill>
                  <a:srgbClr val="2D5BCE"/>
                </a:solidFill>
                <a:latin typeface="Arial"/>
                <a:ea typeface="Arial"/>
                <a:cs typeface="Arial"/>
              </a:defRPr>
            </a:lvl7pPr>
            <a:lvl8pPr algn="l">
              <a:defRPr sz="2100" b="1">
                <a:solidFill>
                  <a:srgbClr val="2D5BCE"/>
                </a:solidFill>
                <a:latin typeface="Arial"/>
                <a:ea typeface="Arial"/>
                <a:cs typeface="Arial"/>
              </a:defRPr>
            </a:lvl8pPr>
            <a:lvl9pPr algn="l">
              <a:defRPr sz="2100" b="1">
                <a:solidFill>
                  <a:srgbClr val="2D5BCE"/>
                </a:solidFill>
                <a:latin typeface="Arial"/>
                <a:ea typeface="Arial"/>
                <a:cs typeface="Arial"/>
              </a:defRPr>
            </a:lvl9pPr>
          </a:lstStyle>
          <a:p>
            <a:pPr algn="l">
              <a:defRPr sz="2100" b="1">
                <a:solidFill>
                  <a:srgbClr val="2D5BCE"/>
                </a:solidFill>
                <a:latin typeface="Arial"/>
                <a:ea typeface="Arial"/>
                <a:cs typeface="Arial"/>
              </a:defRPr>
            </a:pPr>
            <a:r>
              <a:rPr sz="2100" b="1">
                <a:solidFill>
                  <a:srgbClr val="2D5BCE"/>
                </a:solidFill>
                <a:latin typeface="Arial"/>
                <a:ea typeface="Arial"/>
                <a:cs typeface="Arial"/>
              </a:rPr>
              <a:t>Two-player zero-sum games:</a:t>
            </a:r>
          </a:p>
          <a:p>
            <a:pPr algn="l">
              <a:defRPr sz="2100" b="1">
                <a:solidFill>
                  <a:srgbClr val="2D5BCE"/>
                </a:solidFill>
                <a:latin typeface="Arial"/>
                <a:ea typeface="Arial"/>
                <a:cs typeface="Arial"/>
              </a:defRPr>
            </a:pPr>
            <a:r>
              <a:rPr sz="2100" b="1">
                <a:solidFill>
                  <a:srgbClr val="2D5BCE"/>
                </a:solidFill>
                <a:latin typeface="Arial"/>
                <a:ea typeface="Arial"/>
                <a:cs typeface="Arial"/>
              </a:rPr>
              <a:t>efficient linear programming.</a:t>
            </a:r>
          </a:p>
        </p:txBody>
      </p:sp>
      <p:sp>
        <p:nvSpPr>
          <p:cNvPr id="9" name="learn-heading">
            <a:extLst>
              <a:ext uri="{FF2B5EF4-FFF2-40B4-BE49-F238E27FC236}">
                <a16:creationId xmlns:a16="http://schemas.microsoft.com/office/drawing/2014/main" id="{20912B7D-DBEB-440E-BC5B-61DDE32EBC13}"/>
              </a:ext>
            </a:extLst>
          </p:cNvPr>
          <p:cNvSpPr>
            <a:spLocks noGrp="1"/>
          </p:cNvSpPr>
          <p:nvPr/>
        </p:nvSpPr>
        <p:spPr>
          <a:xfrm>
            <a:off x="5915025" y="1495425"/>
            <a:ext cx="5667375" cy="390525"/>
          </a:xfrm>
          <a:prstGeom prst="rect">
            <a:avLst/>
          </a:prstGeom>
          <a:noFill/>
          <a:ln w="0">
            <a:noFill/>
            <a:prstDash val="solid"/>
          </a:ln>
        </p:spPr>
        <p:txBody>
          <a:bodyPr wrap="square" lIns="0" tIns="0" rIns="0" bIns="0" anchor="ctr">
            <a:noAutofit/>
          </a:bodyPr>
          <a:lstStyle>
            <a:defPPr algn="l">
              <a:defRPr sz="2325" b="1">
                <a:solidFill>
                  <a:srgbClr val="008F84"/>
                </a:solidFill>
                <a:latin typeface="Arial"/>
                <a:ea typeface="Arial"/>
                <a:cs typeface="Arial"/>
              </a:defRPr>
            </a:defPPr>
            <a:lvl1pPr algn="l">
              <a:defRPr sz="2325" b="1">
                <a:solidFill>
                  <a:srgbClr val="008F84"/>
                </a:solidFill>
                <a:latin typeface="Arial"/>
                <a:ea typeface="Arial"/>
                <a:cs typeface="Arial"/>
              </a:defRPr>
            </a:lvl1pPr>
            <a:lvl2pPr algn="l">
              <a:defRPr sz="2325" b="1">
                <a:solidFill>
                  <a:srgbClr val="008F84"/>
                </a:solidFill>
                <a:latin typeface="Arial"/>
                <a:ea typeface="Arial"/>
                <a:cs typeface="Arial"/>
              </a:defRPr>
            </a:lvl2pPr>
            <a:lvl3pPr algn="l">
              <a:defRPr sz="2325" b="1">
                <a:solidFill>
                  <a:srgbClr val="008F84"/>
                </a:solidFill>
                <a:latin typeface="Arial"/>
                <a:ea typeface="Arial"/>
                <a:cs typeface="Arial"/>
              </a:defRPr>
            </a:lvl3pPr>
            <a:lvl4pPr algn="l">
              <a:defRPr sz="2325" b="1">
                <a:solidFill>
                  <a:srgbClr val="008F84"/>
                </a:solidFill>
                <a:latin typeface="Arial"/>
                <a:ea typeface="Arial"/>
                <a:cs typeface="Arial"/>
              </a:defRPr>
            </a:lvl4pPr>
            <a:lvl5pPr algn="l">
              <a:defRPr sz="2325" b="1">
                <a:solidFill>
                  <a:srgbClr val="008F84"/>
                </a:solidFill>
                <a:latin typeface="Arial"/>
                <a:ea typeface="Arial"/>
                <a:cs typeface="Arial"/>
              </a:defRPr>
            </a:lvl5pPr>
            <a:lvl6pPr algn="l">
              <a:defRPr sz="2325" b="1">
                <a:solidFill>
                  <a:srgbClr val="008F84"/>
                </a:solidFill>
                <a:latin typeface="Arial"/>
                <a:ea typeface="Arial"/>
                <a:cs typeface="Arial"/>
              </a:defRPr>
            </a:lvl6pPr>
            <a:lvl7pPr algn="l">
              <a:defRPr sz="2325" b="1">
                <a:solidFill>
                  <a:srgbClr val="008F84"/>
                </a:solidFill>
                <a:latin typeface="Arial"/>
                <a:ea typeface="Arial"/>
                <a:cs typeface="Arial"/>
              </a:defRPr>
            </a:lvl7pPr>
            <a:lvl8pPr algn="l">
              <a:defRPr sz="2325" b="1">
                <a:solidFill>
                  <a:srgbClr val="008F84"/>
                </a:solidFill>
                <a:latin typeface="Arial"/>
                <a:ea typeface="Arial"/>
                <a:cs typeface="Arial"/>
              </a:defRPr>
            </a:lvl8pPr>
            <a:lvl9pPr algn="l">
              <a:defRPr sz="2325" b="1">
                <a:solidFill>
                  <a:srgbClr val="008F84"/>
                </a:solidFill>
                <a:latin typeface="Arial"/>
                <a:ea typeface="Arial"/>
                <a:cs typeface="Arial"/>
              </a:defRPr>
            </a:lvl9pPr>
          </a:lstStyle>
          <a:p>
            <a:pPr algn="l">
              <a:defRPr sz="2325" b="1">
                <a:solidFill>
                  <a:srgbClr val="008F84"/>
                </a:solidFill>
                <a:latin typeface="Arial"/>
                <a:ea typeface="Arial"/>
                <a:cs typeface="Arial"/>
              </a:defRPr>
            </a:pPr>
            <a:r>
              <a:rPr sz="2325" b="1">
                <a:solidFill>
                  <a:srgbClr val="008F84"/>
                </a:solidFill>
                <a:latin typeface="Arial"/>
                <a:ea typeface="Arial"/>
                <a:cs typeface="Arial"/>
              </a:rPr>
              <a:t>Learn from repeated play</a:t>
            </a:r>
          </a:p>
        </p:txBody>
      </p:sp>
      <p:graphicFrame>
        <p:nvGraphicFramePr>
          <p:cNvPr id="10" name="Chart">
            <a:extLst>
              <a:ext uri="{FF2B5EF4-FFF2-40B4-BE49-F238E27FC236}">
                <a16:creationId xmlns:a16="http://schemas.microsoft.com/office/drawing/2014/main" id="{D862A1ED-9CA2-4949-9363-C007B1E7CCB7}"/>
              </a:ext>
            </a:extLst>
          </p:cNvPr>
          <p:cNvGraphicFramePr/>
          <p:nvPr/>
        </p:nvGraphicFramePr>
        <p:xfrm>
          <a:off x="5857875" y="2105025"/>
          <a:ext cx="5743575" cy="3028950"/>
        </p:xfrm>
        <a:graphic>
          <a:graphicData uri="http://schemas.openxmlformats.org/drawingml/2006/chart">
            <c:chart xmlns:c="http://schemas.openxmlformats.org/drawingml/2006/chart" xmlns:r="http://schemas.openxmlformats.org/officeDocument/2006/relationships" r:id="rId5"/>
          </a:graphicData>
        </a:graphic>
      </p:graphicFrame>
      <p:sp>
        <p:nvSpPr>
          <p:cNvPr id="11" name="learn-caption">
            <a:extLst>
              <a:ext uri="{FF2B5EF4-FFF2-40B4-BE49-F238E27FC236}">
                <a16:creationId xmlns:a16="http://schemas.microsoft.com/office/drawing/2014/main" id="{B4A019F0-A005-49F2-BEB0-FC6BD5FB8BDC}"/>
              </a:ext>
            </a:extLst>
          </p:cNvPr>
          <p:cNvSpPr>
            <a:spLocks noGrp="1"/>
          </p:cNvSpPr>
          <p:nvPr/>
        </p:nvSpPr>
        <p:spPr>
          <a:xfrm>
            <a:off x="5972175" y="5257800"/>
            <a:ext cx="5524500" cy="647700"/>
          </a:xfrm>
          <a:prstGeom prst="rect">
            <a:avLst/>
          </a:prstGeom>
          <a:noFill/>
          <a:ln w="0">
            <a:noFill/>
            <a:prstDash val="solid"/>
          </a:ln>
        </p:spPr>
        <p:txBody>
          <a:bodyPr wrap="square" lIns="0" tIns="0" rIns="0" bIns="0" anchor="ctr">
            <a:noAutofit/>
          </a:bodyPr>
          <a:lstStyle>
            <a:defPPr algn="l">
              <a:defRPr sz="2025" b="1">
                <a:solidFill>
                  <a:srgbClr val="008F84"/>
                </a:solidFill>
                <a:latin typeface="Arial"/>
                <a:ea typeface="Arial"/>
                <a:cs typeface="Arial"/>
              </a:defRPr>
            </a:defPPr>
            <a:lvl1pPr algn="l">
              <a:defRPr sz="2025" b="1">
                <a:solidFill>
                  <a:srgbClr val="008F84"/>
                </a:solidFill>
                <a:latin typeface="Arial"/>
                <a:ea typeface="Arial"/>
                <a:cs typeface="Arial"/>
              </a:defRPr>
            </a:lvl1pPr>
            <a:lvl2pPr algn="l">
              <a:defRPr sz="2025" b="1">
                <a:solidFill>
                  <a:srgbClr val="008F84"/>
                </a:solidFill>
                <a:latin typeface="Arial"/>
                <a:ea typeface="Arial"/>
                <a:cs typeface="Arial"/>
              </a:defRPr>
            </a:lvl2pPr>
            <a:lvl3pPr algn="l">
              <a:defRPr sz="2025" b="1">
                <a:solidFill>
                  <a:srgbClr val="008F84"/>
                </a:solidFill>
                <a:latin typeface="Arial"/>
                <a:ea typeface="Arial"/>
                <a:cs typeface="Arial"/>
              </a:defRPr>
            </a:lvl3pPr>
            <a:lvl4pPr algn="l">
              <a:defRPr sz="2025" b="1">
                <a:solidFill>
                  <a:srgbClr val="008F84"/>
                </a:solidFill>
                <a:latin typeface="Arial"/>
                <a:ea typeface="Arial"/>
                <a:cs typeface="Arial"/>
              </a:defRPr>
            </a:lvl4pPr>
            <a:lvl5pPr algn="l">
              <a:defRPr sz="2025" b="1">
                <a:solidFill>
                  <a:srgbClr val="008F84"/>
                </a:solidFill>
                <a:latin typeface="Arial"/>
                <a:ea typeface="Arial"/>
                <a:cs typeface="Arial"/>
              </a:defRPr>
            </a:lvl5pPr>
            <a:lvl6pPr algn="l">
              <a:defRPr sz="2025" b="1">
                <a:solidFill>
                  <a:srgbClr val="008F84"/>
                </a:solidFill>
                <a:latin typeface="Arial"/>
                <a:ea typeface="Arial"/>
                <a:cs typeface="Arial"/>
              </a:defRPr>
            </a:lvl6pPr>
            <a:lvl7pPr algn="l">
              <a:defRPr sz="2025" b="1">
                <a:solidFill>
                  <a:srgbClr val="008F84"/>
                </a:solidFill>
                <a:latin typeface="Arial"/>
                <a:ea typeface="Arial"/>
                <a:cs typeface="Arial"/>
              </a:defRPr>
            </a:lvl7pPr>
            <a:lvl8pPr algn="l">
              <a:defRPr sz="2025" b="1">
                <a:solidFill>
                  <a:srgbClr val="008F84"/>
                </a:solidFill>
                <a:latin typeface="Arial"/>
                <a:ea typeface="Arial"/>
                <a:cs typeface="Arial"/>
              </a:defRPr>
            </a:lvl8pPr>
            <a:lvl9pPr algn="l">
              <a:defRPr sz="2025" b="1">
                <a:solidFill>
                  <a:srgbClr val="008F84"/>
                </a:solidFill>
                <a:latin typeface="Arial"/>
                <a:ea typeface="Arial"/>
                <a:cs typeface="Arial"/>
              </a:defRPr>
            </a:lvl9pPr>
          </a:lstStyle>
          <a:p>
            <a:pPr algn="l">
              <a:defRPr sz="2025" b="1">
                <a:solidFill>
                  <a:srgbClr val="008F84"/>
                </a:solidFill>
                <a:latin typeface="Arial"/>
                <a:ea typeface="Arial"/>
                <a:cs typeface="Arial"/>
              </a:defRPr>
            </a:pPr>
            <a:r>
              <a:rPr sz="2025" b="1">
                <a:solidFill>
                  <a:srgbClr val="008F84"/>
                </a:solidFill>
                <a:latin typeface="Arial"/>
                <a:ea typeface="Arial"/>
                <a:cs typeface="Arial"/>
              </a:rPr>
              <a:t>Low-regret learners approach equilibrium</a:t>
            </a:r>
          </a:p>
          <a:p>
            <a:pPr algn="l">
              <a:defRPr sz="2025" b="1">
                <a:solidFill>
                  <a:srgbClr val="008F84"/>
                </a:solidFill>
                <a:latin typeface="Arial"/>
                <a:ea typeface="Arial"/>
                <a:cs typeface="Arial"/>
              </a:defRPr>
            </a:pPr>
            <a:r>
              <a:rPr sz="2025" b="1">
                <a:solidFill>
                  <a:srgbClr val="008F84"/>
                </a:solidFill>
                <a:latin typeface="Arial"/>
                <a:ea typeface="Arial"/>
                <a:cs typeface="Arial"/>
              </a:rPr>
              <a:t>in their average strategies.</a:t>
            </a:r>
          </a:p>
        </p:txBody>
      </p:sp>
      <p:sp>
        <p:nvSpPr>
          <p:cNvPr id="12" name="source-short">
            <a:extLst>
              <a:ext uri="{FF2B5EF4-FFF2-40B4-BE49-F238E27FC236}">
                <a16:creationId xmlns:a16="http://schemas.microsoft.com/office/drawing/2014/main" id="{2BCD18C3-5E48-45FF-9233-C8DC1E1111A3}"/>
              </a:ext>
            </a:extLst>
          </p:cNvPr>
          <p:cNvSpPr>
            <a:spLocks noGrp="1"/>
          </p:cNvSpPr>
          <p:nvPr/>
        </p:nvSpPr>
        <p:spPr>
          <a:xfrm>
            <a:off x="609600" y="6315075"/>
            <a:ext cx="10048875" cy="295275"/>
          </a:xfrm>
          <a:prstGeom prst="rect">
            <a:avLst/>
          </a:prstGeom>
          <a:noFill/>
          <a:ln w="0">
            <a:noFill/>
            <a:prstDash val="solid"/>
          </a:ln>
        </p:spPr>
        <p:txBody>
          <a:bodyPr wrap="square" lIns="0" tIns="0" rIns="0" bIns="0" anchor="ctr">
            <a:noAutofit/>
          </a:bodyPr>
          <a:lstStyle>
            <a:defPPr algn="l">
              <a:defRPr sz="1200" b="0">
                <a:solidFill>
                  <a:srgbClr val="59657A"/>
                </a:solidFill>
                <a:latin typeface="Arial"/>
                <a:ea typeface="Arial"/>
                <a:cs typeface="Arial"/>
              </a:defRPr>
            </a:defPPr>
            <a:lvl1pPr algn="l">
              <a:defRPr sz="1200" b="0">
                <a:solidFill>
                  <a:srgbClr val="59657A"/>
                </a:solidFill>
                <a:latin typeface="Arial"/>
                <a:ea typeface="Arial"/>
                <a:cs typeface="Arial"/>
              </a:defRPr>
            </a:lvl1pPr>
            <a:lvl2pPr algn="l">
              <a:defRPr sz="1200" b="0">
                <a:solidFill>
                  <a:srgbClr val="59657A"/>
                </a:solidFill>
                <a:latin typeface="Arial"/>
                <a:ea typeface="Arial"/>
                <a:cs typeface="Arial"/>
              </a:defRPr>
            </a:lvl2pPr>
            <a:lvl3pPr algn="l">
              <a:defRPr sz="1200" b="0">
                <a:solidFill>
                  <a:srgbClr val="59657A"/>
                </a:solidFill>
                <a:latin typeface="Arial"/>
                <a:ea typeface="Arial"/>
                <a:cs typeface="Arial"/>
              </a:defRPr>
            </a:lvl3pPr>
            <a:lvl4pPr algn="l">
              <a:defRPr sz="1200" b="0">
                <a:solidFill>
                  <a:srgbClr val="59657A"/>
                </a:solidFill>
                <a:latin typeface="Arial"/>
                <a:ea typeface="Arial"/>
                <a:cs typeface="Arial"/>
              </a:defRPr>
            </a:lvl4pPr>
            <a:lvl5pPr algn="l">
              <a:defRPr sz="1200" b="0">
                <a:solidFill>
                  <a:srgbClr val="59657A"/>
                </a:solidFill>
                <a:latin typeface="Arial"/>
                <a:ea typeface="Arial"/>
                <a:cs typeface="Arial"/>
              </a:defRPr>
            </a:lvl5pPr>
            <a:lvl6pPr algn="l">
              <a:defRPr sz="1200" b="0">
                <a:solidFill>
                  <a:srgbClr val="59657A"/>
                </a:solidFill>
                <a:latin typeface="Arial"/>
                <a:ea typeface="Arial"/>
                <a:cs typeface="Arial"/>
              </a:defRPr>
            </a:lvl6pPr>
            <a:lvl7pPr algn="l">
              <a:defRPr sz="1200" b="0">
                <a:solidFill>
                  <a:srgbClr val="59657A"/>
                </a:solidFill>
                <a:latin typeface="Arial"/>
                <a:ea typeface="Arial"/>
                <a:cs typeface="Arial"/>
              </a:defRPr>
            </a:lvl7pPr>
            <a:lvl8pPr algn="l">
              <a:defRPr sz="1200" b="0">
                <a:solidFill>
                  <a:srgbClr val="59657A"/>
                </a:solidFill>
                <a:latin typeface="Arial"/>
                <a:ea typeface="Arial"/>
                <a:cs typeface="Arial"/>
              </a:defRPr>
            </a:lvl8pPr>
            <a:lvl9pPr algn="l">
              <a:defRPr sz="1200" b="0">
                <a:solidFill>
                  <a:srgbClr val="59657A"/>
                </a:solidFill>
                <a:latin typeface="Arial"/>
                <a:ea typeface="Arial"/>
                <a:cs typeface="Arial"/>
              </a:defRPr>
            </a:lvl9pPr>
          </a:lstStyle>
          <a:p>
            <a:pPr algn="l">
              <a:defRPr sz="1200" b="0">
                <a:solidFill>
                  <a:srgbClr val="59657A"/>
                </a:solidFill>
                <a:latin typeface="Arial"/>
                <a:ea typeface="Arial"/>
                <a:cs typeface="Arial"/>
              </a:defRPr>
            </a:pPr>
            <a:r>
              <a:rPr sz="1200" b="0">
                <a:solidFill>
                  <a:srgbClr val="59657A"/>
                </a:solidFill>
                <a:latin typeface="Arial"/>
                <a:ea typeface="Arial"/>
                <a:cs typeface="Arial"/>
              </a:rPr>
              <a:t>Illustrative learning run in the modified RPS game. Lower gap means closer to equilibrium.</a:t>
            </a:r>
          </a:p>
        </p:txBody>
      </p:sp>
      <p:pic>
        <p:nvPicPr>
          <p:cNvPr id="13" name="IguanaTex-equation-14" descr="LaTeX equation, editable with IguanaTex. $\displaystyle\max_{p}\;\min_{q}\;p^{\mathsf T}Aq$">
            <a:extLst>
              <a:ext uri="{FF2B5EF4-FFF2-40B4-BE49-F238E27FC236}">
                <a16:creationId xmlns:a16="http://schemas.microsoft.com/office/drawing/2014/main" id="{46045839-F914-4D37-91A3-52C411CE5AFE}"/>
              </a:ext>
            </a:extLst>
          </p:cNvPr>
          <p:cNvPicPr>
            <a:picLocks noChangeAspect="1"/>
          </p:cNvPicPr>
          <p:nvPr>
            <p:custDataLst>
              <p:tags r:id="rId1"/>
            </p:custDataLst>
          </p:nvPr>
        </p:nvPicPr>
        <p:blipFill>
          <a:blip r:embed="rId6"/>
          <a:stretch/>
        </p:blipFill>
        <p:spPr>
          <a:xfrm>
            <a:off x="609600" y="2878836"/>
            <a:ext cx="2750058" cy="795528"/>
          </a:xfrm>
          <a:prstGeom prst="rect">
            <a:avLst/>
          </a:prstGeom>
        </p:spPr>
      </p:pic>
      <p:pic>
        <p:nvPicPr>
          <p:cNvPr id="14" name="IguanaTex-equation-15" descr="LaTeX equation, editable with IguanaTex. \begin{tabular}{@{}l@{}}$p$ and $q$ are probability distributions.\\$A$ is the payoff matrix.\end{tabular}">
            <a:extLst>
              <a:ext uri="{FF2B5EF4-FFF2-40B4-BE49-F238E27FC236}">
                <a16:creationId xmlns:a16="http://schemas.microsoft.com/office/drawing/2014/main" id="{BABA3C42-E734-498A-8782-05559FCC41F7}"/>
              </a:ext>
            </a:extLst>
          </p:cNvPr>
          <p:cNvPicPr>
            <a:picLocks noChangeAspect="1"/>
          </p:cNvPicPr>
          <p:nvPr>
            <p:custDataLst>
              <p:tags r:id="rId2"/>
            </p:custDataLst>
          </p:nvPr>
        </p:nvPicPr>
        <p:blipFill>
          <a:blip r:embed="rId7"/>
          <a:stretch/>
        </p:blipFill>
        <p:spPr>
          <a:xfrm>
            <a:off x="619125" y="3792131"/>
            <a:ext cx="3568827" cy="559613"/>
          </a:xfrm>
          <a:prstGeom prst="rect">
            <a:avLst/>
          </a:prstGeom>
        </p:spPr>
      </p:pic>
    </p:spTree>
    <p:extLst>
      <p:ext uri="{BB962C8B-B14F-4D97-AF65-F5344CB8AC3E}">
        <p14:creationId xmlns:p14="http://schemas.microsoft.com/office/powerpoint/2010/main" val="1066540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7C870642-42AF-4E97-B176-C743FB8DD205}"/>
              </a:ext>
            </a:extLst>
          </p:cNvPr>
          <p:cNvSpPr>
            <a:spLocks noGrp="1"/>
          </p:cNvSpPr>
          <p:nvPr/>
        </p:nvSpPr>
        <p:spPr>
          <a:xfrm>
            <a:off x="609600" y="400050"/>
            <a:ext cx="10972800" cy="666750"/>
          </a:xfrm>
          <a:prstGeom prst="rect">
            <a:avLst/>
          </a:prstGeom>
          <a:noFill/>
          <a:ln w="0">
            <a:noFill/>
            <a:prstDash val="solid"/>
          </a:ln>
        </p:spPr>
        <p:txBody>
          <a:bodyPr wrap="square" lIns="0" tIns="0" rIns="0" bIns="0" anchor="ctr">
            <a:noAutofit/>
          </a:bodyPr>
          <a:lstStyle>
            <a:defPPr algn="l">
              <a:defRPr sz="3150" b="1">
                <a:solidFill>
                  <a:srgbClr val="14213D"/>
                </a:solidFill>
                <a:latin typeface="Arial"/>
                <a:ea typeface="Arial"/>
                <a:cs typeface="Arial"/>
              </a:defRPr>
            </a:defPPr>
            <a:lvl1pPr algn="l">
              <a:defRPr sz="3150" b="1">
                <a:solidFill>
                  <a:srgbClr val="14213D"/>
                </a:solidFill>
                <a:latin typeface="Arial"/>
                <a:ea typeface="Arial"/>
                <a:cs typeface="Arial"/>
              </a:defRPr>
            </a:lvl1pPr>
            <a:lvl2pPr algn="l">
              <a:defRPr sz="3150" b="1">
                <a:solidFill>
                  <a:srgbClr val="14213D"/>
                </a:solidFill>
                <a:latin typeface="Arial"/>
                <a:ea typeface="Arial"/>
                <a:cs typeface="Arial"/>
              </a:defRPr>
            </a:lvl2pPr>
            <a:lvl3pPr algn="l">
              <a:defRPr sz="3150" b="1">
                <a:solidFill>
                  <a:srgbClr val="14213D"/>
                </a:solidFill>
                <a:latin typeface="Arial"/>
                <a:ea typeface="Arial"/>
                <a:cs typeface="Arial"/>
              </a:defRPr>
            </a:lvl3pPr>
            <a:lvl4pPr algn="l">
              <a:defRPr sz="3150" b="1">
                <a:solidFill>
                  <a:srgbClr val="14213D"/>
                </a:solidFill>
                <a:latin typeface="Arial"/>
                <a:ea typeface="Arial"/>
                <a:cs typeface="Arial"/>
              </a:defRPr>
            </a:lvl4pPr>
            <a:lvl5pPr algn="l">
              <a:defRPr sz="3150" b="1">
                <a:solidFill>
                  <a:srgbClr val="14213D"/>
                </a:solidFill>
                <a:latin typeface="Arial"/>
                <a:ea typeface="Arial"/>
                <a:cs typeface="Arial"/>
              </a:defRPr>
            </a:lvl5pPr>
            <a:lvl6pPr algn="l">
              <a:defRPr sz="3150" b="1">
                <a:solidFill>
                  <a:srgbClr val="14213D"/>
                </a:solidFill>
                <a:latin typeface="Arial"/>
                <a:ea typeface="Arial"/>
                <a:cs typeface="Arial"/>
              </a:defRPr>
            </a:lvl6pPr>
            <a:lvl7pPr algn="l">
              <a:defRPr sz="3150" b="1">
                <a:solidFill>
                  <a:srgbClr val="14213D"/>
                </a:solidFill>
                <a:latin typeface="Arial"/>
                <a:ea typeface="Arial"/>
                <a:cs typeface="Arial"/>
              </a:defRPr>
            </a:lvl7pPr>
            <a:lvl8pPr algn="l">
              <a:defRPr sz="3150" b="1">
                <a:solidFill>
                  <a:srgbClr val="14213D"/>
                </a:solidFill>
                <a:latin typeface="Arial"/>
                <a:ea typeface="Arial"/>
                <a:cs typeface="Arial"/>
              </a:defRPr>
            </a:lvl8pPr>
            <a:lvl9pPr algn="l">
              <a:defRPr sz="3150" b="1">
                <a:solidFill>
                  <a:srgbClr val="14213D"/>
                </a:solidFill>
                <a:latin typeface="Arial"/>
                <a:ea typeface="Arial"/>
                <a:cs typeface="Arial"/>
              </a:defRPr>
            </a:lvl9pPr>
          </a:lstStyle>
          <a:p>
            <a:pPr algn="l">
              <a:defRPr sz="3150" b="1">
                <a:solidFill>
                  <a:srgbClr val="14213D"/>
                </a:solidFill>
                <a:latin typeface="Arial"/>
                <a:ea typeface="Arial"/>
                <a:cs typeface="Arial"/>
              </a:defRPr>
            </a:pPr>
            <a:r>
              <a:rPr sz="3150" b="1">
                <a:solidFill>
                  <a:srgbClr val="14213D"/>
                </a:solidFill>
                <a:latin typeface="Arial"/>
                <a:ea typeface="Arial"/>
                <a:cs typeface="Arial"/>
              </a:rPr>
              <a:t>Why gradient descent avoids strict saddles</a:t>
            </a:r>
          </a:p>
        </p:txBody>
      </p:sp>
      <p:sp>
        <p:nvSpPr>
          <p:cNvPr id="2" name="subtitle">
            <a:extLst>
              <a:ext uri="{FF2B5EF4-FFF2-40B4-BE49-F238E27FC236}">
                <a16:creationId xmlns:a16="http://schemas.microsoft.com/office/drawing/2014/main" id="{849ED43E-C568-42EF-838E-496B4D6EC9B0}"/>
              </a:ext>
            </a:extLst>
          </p:cNvPr>
          <p:cNvSpPr>
            <a:spLocks noGrp="1"/>
          </p:cNvSpPr>
          <p:nvPr/>
        </p:nvSpPr>
        <p:spPr>
          <a:xfrm>
            <a:off x="628650" y="1123950"/>
            <a:ext cx="10934700" cy="457200"/>
          </a:xfrm>
          <a:prstGeom prst="rect">
            <a:avLst/>
          </a:prstGeom>
          <a:noFill/>
          <a:ln w="0">
            <a:noFill/>
            <a:prstDash val="solid"/>
          </a:ln>
        </p:spPr>
        <p:txBody>
          <a:bodyPr wrap="square" lIns="0" tIns="0" rIns="0" bIns="0" anchor="ctr">
            <a:noAutofit/>
          </a:bodyPr>
          <a:lstStyle>
            <a:defPPr algn="l">
              <a:defRPr sz="1875" b="0">
                <a:solidFill>
                  <a:srgbClr val="59657A"/>
                </a:solidFill>
                <a:latin typeface="Arial"/>
                <a:ea typeface="Arial"/>
                <a:cs typeface="Arial"/>
              </a:defRPr>
            </a:defPPr>
            <a:lvl1pPr algn="l">
              <a:defRPr sz="1875" b="0">
                <a:solidFill>
                  <a:srgbClr val="59657A"/>
                </a:solidFill>
                <a:latin typeface="Arial"/>
                <a:ea typeface="Arial"/>
                <a:cs typeface="Arial"/>
              </a:defRPr>
            </a:lvl1pPr>
            <a:lvl2pPr algn="l">
              <a:defRPr sz="1875" b="0">
                <a:solidFill>
                  <a:srgbClr val="59657A"/>
                </a:solidFill>
                <a:latin typeface="Arial"/>
                <a:ea typeface="Arial"/>
                <a:cs typeface="Arial"/>
              </a:defRPr>
            </a:lvl2pPr>
            <a:lvl3pPr algn="l">
              <a:defRPr sz="1875" b="0">
                <a:solidFill>
                  <a:srgbClr val="59657A"/>
                </a:solidFill>
                <a:latin typeface="Arial"/>
                <a:ea typeface="Arial"/>
                <a:cs typeface="Arial"/>
              </a:defRPr>
            </a:lvl3pPr>
            <a:lvl4pPr algn="l">
              <a:defRPr sz="1875" b="0">
                <a:solidFill>
                  <a:srgbClr val="59657A"/>
                </a:solidFill>
                <a:latin typeface="Arial"/>
                <a:ea typeface="Arial"/>
                <a:cs typeface="Arial"/>
              </a:defRPr>
            </a:lvl4pPr>
            <a:lvl5pPr algn="l">
              <a:defRPr sz="1875" b="0">
                <a:solidFill>
                  <a:srgbClr val="59657A"/>
                </a:solidFill>
                <a:latin typeface="Arial"/>
                <a:ea typeface="Arial"/>
                <a:cs typeface="Arial"/>
              </a:defRPr>
            </a:lvl5pPr>
            <a:lvl6pPr algn="l">
              <a:defRPr sz="1875" b="0">
                <a:solidFill>
                  <a:srgbClr val="59657A"/>
                </a:solidFill>
                <a:latin typeface="Arial"/>
                <a:ea typeface="Arial"/>
                <a:cs typeface="Arial"/>
              </a:defRPr>
            </a:lvl6pPr>
            <a:lvl7pPr algn="l">
              <a:defRPr sz="1875" b="0">
                <a:solidFill>
                  <a:srgbClr val="59657A"/>
                </a:solidFill>
                <a:latin typeface="Arial"/>
                <a:ea typeface="Arial"/>
                <a:cs typeface="Arial"/>
              </a:defRPr>
            </a:lvl7pPr>
            <a:lvl8pPr algn="l">
              <a:defRPr sz="1875" b="0">
                <a:solidFill>
                  <a:srgbClr val="59657A"/>
                </a:solidFill>
                <a:latin typeface="Arial"/>
                <a:ea typeface="Arial"/>
                <a:cs typeface="Arial"/>
              </a:defRPr>
            </a:lvl8pPr>
            <a:lvl9pPr algn="l">
              <a:defRPr sz="1875" b="0">
                <a:solidFill>
                  <a:srgbClr val="59657A"/>
                </a:solidFill>
                <a:latin typeface="Arial"/>
                <a:ea typeface="Arial"/>
                <a:cs typeface="Arial"/>
              </a:defRPr>
            </a:lvl9pPr>
          </a:lstStyle>
          <a:p>
            <a:pPr algn="l">
              <a:defRPr sz="1875" b="0">
                <a:solidFill>
                  <a:srgbClr val="59657A"/>
                </a:solidFill>
                <a:latin typeface="Arial"/>
                <a:ea typeface="Arial"/>
                <a:cs typeface="Arial"/>
              </a:defRPr>
            </a:pPr>
            <a:r>
              <a:rPr sz="1875" b="0">
                <a:solidFill>
                  <a:srgbClr val="59657A"/>
                </a:solidFill>
                <a:latin typeface="Arial"/>
                <a:ea typeface="Arial"/>
                <a:cs typeface="Arial"/>
              </a:rPr>
              <a:t>Optimization: minimize a loss by taking small downhill steps.</a:t>
            </a:r>
          </a:p>
        </p:txBody>
      </p:sp>
      <p:sp>
        <p:nvSpPr>
          <p:cNvPr id="3" name="slide-number">
            <a:extLst>
              <a:ext uri="{FF2B5EF4-FFF2-40B4-BE49-F238E27FC236}">
                <a16:creationId xmlns:a16="http://schemas.microsoft.com/office/drawing/2014/main" id="{D82383EE-3218-4089-9597-65DAE0042E8D}"/>
              </a:ext>
            </a:extLst>
          </p:cNvPr>
          <p:cNvSpPr>
            <a:spLocks noGrp="1"/>
          </p:cNvSpPr>
          <p:nvPr/>
        </p:nvSpPr>
        <p:spPr>
          <a:xfrm>
            <a:off x="11144250" y="6372225"/>
            <a:ext cx="438150" cy="247650"/>
          </a:xfrm>
          <a:prstGeom prst="rect">
            <a:avLst/>
          </a:prstGeom>
          <a:noFill/>
          <a:ln w="0">
            <a:noFill/>
            <a:prstDash val="solid"/>
          </a:ln>
        </p:spPr>
        <p:txBody>
          <a:bodyPr wrap="square" lIns="0" tIns="0" rIns="0" bIns="0" anchor="ctr">
            <a:noAutofit/>
          </a:bodyPr>
          <a:lstStyle>
            <a:defPPr algn="r">
              <a:defRPr sz="1275" b="0">
                <a:solidFill>
                  <a:srgbClr val="59657A"/>
                </a:solidFill>
                <a:latin typeface="Arial"/>
                <a:ea typeface="Arial"/>
                <a:cs typeface="Arial"/>
              </a:defRPr>
            </a:defPPr>
            <a:lvl1pPr algn="r">
              <a:defRPr sz="1275" b="0">
                <a:solidFill>
                  <a:srgbClr val="59657A"/>
                </a:solidFill>
                <a:latin typeface="Arial"/>
                <a:ea typeface="Arial"/>
                <a:cs typeface="Arial"/>
              </a:defRPr>
            </a:lvl1pPr>
            <a:lvl2pPr algn="r">
              <a:defRPr sz="1275" b="0">
                <a:solidFill>
                  <a:srgbClr val="59657A"/>
                </a:solidFill>
                <a:latin typeface="Arial"/>
                <a:ea typeface="Arial"/>
                <a:cs typeface="Arial"/>
              </a:defRPr>
            </a:lvl2pPr>
            <a:lvl3pPr algn="r">
              <a:defRPr sz="1275" b="0">
                <a:solidFill>
                  <a:srgbClr val="59657A"/>
                </a:solidFill>
                <a:latin typeface="Arial"/>
                <a:ea typeface="Arial"/>
                <a:cs typeface="Arial"/>
              </a:defRPr>
            </a:lvl3pPr>
            <a:lvl4pPr algn="r">
              <a:defRPr sz="1275" b="0">
                <a:solidFill>
                  <a:srgbClr val="59657A"/>
                </a:solidFill>
                <a:latin typeface="Arial"/>
                <a:ea typeface="Arial"/>
                <a:cs typeface="Arial"/>
              </a:defRPr>
            </a:lvl4pPr>
            <a:lvl5pPr algn="r">
              <a:defRPr sz="1275" b="0">
                <a:solidFill>
                  <a:srgbClr val="59657A"/>
                </a:solidFill>
                <a:latin typeface="Arial"/>
                <a:ea typeface="Arial"/>
                <a:cs typeface="Arial"/>
              </a:defRPr>
            </a:lvl5pPr>
            <a:lvl6pPr algn="r">
              <a:defRPr sz="1275" b="0">
                <a:solidFill>
                  <a:srgbClr val="59657A"/>
                </a:solidFill>
                <a:latin typeface="Arial"/>
                <a:ea typeface="Arial"/>
                <a:cs typeface="Arial"/>
              </a:defRPr>
            </a:lvl6pPr>
            <a:lvl7pPr algn="r">
              <a:defRPr sz="1275" b="0">
                <a:solidFill>
                  <a:srgbClr val="59657A"/>
                </a:solidFill>
                <a:latin typeface="Arial"/>
                <a:ea typeface="Arial"/>
                <a:cs typeface="Arial"/>
              </a:defRPr>
            </a:lvl7pPr>
            <a:lvl8pPr algn="r">
              <a:defRPr sz="1275" b="0">
                <a:solidFill>
                  <a:srgbClr val="59657A"/>
                </a:solidFill>
                <a:latin typeface="Arial"/>
                <a:ea typeface="Arial"/>
                <a:cs typeface="Arial"/>
              </a:defRPr>
            </a:lvl8pPr>
            <a:lvl9pPr algn="r">
              <a:defRPr sz="1275" b="0">
                <a:solidFill>
                  <a:srgbClr val="59657A"/>
                </a:solidFill>
                <a:latin typeface="Arial"/>
                <a:ea typeface="Arial"/>
                <a:cs typeface="Arial"/>
              </a:defRPr>
            </a:lvl9pPr>
          </a:lstStyle>
          <a:p>
            <a:pPr algn="r">
              <a:defRPr sz="1275" b="0">
                <a:solidFill>
                  <a:srgbClr val="59657A"/>
                </a:solidFill>
                <a:latin typeface="Arial"/>
                <a:ea typeface="Arial"/>
                <a:cs typeface="Arial"/>
              </a:defRPr>
            </a:pPr>
            <a:r>
              <a:rPr sz="1275" b="0">
                <a:solidFill>
                  <a:srgbClr val="59657A"/>
                </a:solidFill>
                <a:latin typeface="Arial"/>
                <a:ea typeface="Arial"/>
                <a:cs typeface="Arial"/>
              </a:rPr>
              <a:t>05</a:t>
            </a:r>
          </a:p>
        </p:txBody>
      </p:sp>
      <p:pic>
        <p:nvPicPr>
          <p:cNvPr id="4" name="Picture 3">
            <a:extLst>
              <a:ext uri="{FF2B5EF4-FFF2-40B4-BE49-F238E27FC236}">
                <a16:creationId xmlns:a16="http://schemas.microsoft.com/office/drawing/2014/main" id="{91BD7DDF-1BCA-4545-AA06-E0C5BA3C9EDC}"/>
              </a:ext>
            </a:extLst>
          </p:cNvPr>
          <p:cNvPicPr>
            <a:picLocks noChangeAspect="1"/>
          </p:cNvPicPr>
          <p:nvPr/>
        </p:nvPicPr>
        <p:blipFill>
          <a:blip r:embed="rId4"/>
          <a:stretch/>
        </p:blipFill>
        <p:spPr>
          <a:xfrm>
            <a:off x="1562100" y="1714500"/>
            <a:ext cx="4305300" cy="4305300"/>
          </a:xfrm>
          <a:prstGeom prst="rect">
            <a:avLst/>
          </a:prstGeom>
        </p:spPr>
      </p:pic>
      <p:sp>
        <p:nvSpPr>
          <p:cNvPr id="5" name="saddle-equation">
            <a:extLst>
              <a:ext uri="{FF2B5EF4-FFF2-40B4-BE49-F238E27FC236}">
                <a16:creationId xmlns:a16="http://schemas.microsoft.com/office/drawing/2014/main" id="{F2A833D8-DC24-4090-A415-1AAAF97EEA87}"/>
              </a:ext>
            </a:extLst>
          </p:cNvPr>
          <p:cNvSpPr>
            <a:spLocks noGrp="1"/>
          </p:cNvSpPr>
          <p:nvPr/>
        </p:nvSpPr>
        <p:spPr>
          <a:xfrm>
            <a:off x="809625" y="1695450"/>
            <a:ext cx="5715000" cy="428625"/>
          </a:xfrm>
          <a:prstGeom prst="rect">
            <a:avLst/>
          </a:prstGeom>
          <a:noFill/>
          <a:ln w="0">
            <a:noFill/>
            <a:prstDash val="solid"/>
          </a:ln>
        </p:spPr>
        <p:txBody>
          <a:bodyPr wrap="square" lIns="0" tIns="0" rIns="0" bIns="0" anchor="ctr">
            <a:noAutofit/>
          </a:bodyPr>
          <a:lstStyle>
            <a:defPPr algn="l">
              <a:defRPr sz="2325" b="1">
                <a:solidFill>
                  <a:srgbClr val="14213D"/>
                </a:solidFill>
                <a:latin typeface="Arial"/>
                <a:ea typeface="Arial"/>
                <a:cs typeface="Arial"/>
              </a:defRPr>
            </a:defPPr>
            <a:lvl1pPr algn="l">
              <a:defRPr sz="2325" b="1">
                <a:solidFill>
                  <a:srgbClr val="14213D"/>
                </a:solidFill>
                <a:latin typeface="Arial"/>
                <a:ea typeface="Arial"/>
                <a:cs typeface="Arial"/>
              </a:defRPr>
            </a:lvl1pPr>
            <a:lvl2pPr algn="l">
              <a:defRPr sz="2325" b="1">
                <a:solidFill>
                  <a:srgbClr val="14213D"/>
                </a:solidFill>
                <a:latin typeface="Arial"/>
                <a:ea typeface="Arial"/>
                <a:cs typeface="Arial"/>
              </a:defRPr>
            </a:lvl2pPr>
            <a:lvl3pPr algn="l">
              <a:defRPr sz="2325" b="1">
                <a:solidFill>
                  <a:srgbClr val="14213D"/>
                </a:solidFill>
                <a:latin typeface="Arial"/>
                <a:ea typeface="Arial"/>
                <a:cs typeface="Arial"/>
              </a:defRPr>
            </a:lvl3pPr>
            <a:lvl4pPr algn="l">
              <a:defRPr sz="2325" b="1">
                <a:solidFill>
                  <a:srgbClr val="14213D"/>
                </a:solidFill>
                <a:latin typeface="Arial"/>
                <a:ea typeface="Arial"/>
                <a:cs typeface="Arial"/>
              </a:defRPr>
            </a:lvl4pPr>
            <a:lvl5pPr algn="l">
              <a:defRPr sz="2325" b="1">
                <a:solidFill>
                  <a:srgbClr val="14213D"/>
                </a:solidFill>
                <a:latin typeface="Arial"/>
                <a:ea typeface="Arial"/>
                <a:cs typeface="Arial"/>
              </a:defRPr>
            </a:lvl5pPr>
            <a:lvl6pPr algn="l">
              <a:defRPr sz="2325" b="1">
                <a:solidFill>
                  <a:srgbClr val="14213D"/>
                </a:solidFill>
                <a:latin typeface="Arial"/>
                <a:ea typeface="Arial"/>
                <a:cs typeface="Arial"/>
              </a:defRPr>
            </a:lvl6pPr>
            <a:lvl7pPr algn="l">
              <a:defRPr sz="2325" b="1">
                <a:solidFill>
                  <a:srgbClr val="14213D"/>
                </a:solidFill>
                <a:latin typeface="Arial"/>
                <a:ea typeface="Arial"/>
                <a:cs typeface="Arial"/>
              </a:defRPr>
            </a:lvl7pPr>
            <a:lvl8pPr algn="l">
              <a:defRPr sz="2325" b="1">
                <a:solidFill>
                  <a:srgbClr val="14213D"/>
                </a:solidFill>
                <a:latin typeface="Arial"/>
                <a:ea typeface="Arial"/>
                <a:cs typeface="Arial"/>
              </a:defRPr>
            </a:lvl8pPr>
            <a:lvl9pPr algn="l">
              <a:defRPr sz="2325" b="1">
                <a:solidFill>
                  <a:srgbClr val="14213D"/>
                </a:solidFill>
                <a:latin typeface="Arial"/>
                <a:ea typeface="Arial"/>
                <a:cs typeface="Arial"/>
              </a:defRPr>
            </a:lvl9pPr>
          </a:lstStyle>
          <a:p>
            <a:pPr algn="l">
              <a:defRPr sz="2325" b="1">
                <a:solidFill>
                  <a:srgbClr val="14213D"/>
                </a:solidFill>
                <a:latin typeface="Arial"/>
                <a:ea typeface="Arial"/>
                <a:cs typeface="Arial"/>
              </a:defRPr>
            </a:pPr>
            <a:endParaRPr/>
          </a:p>
        </p:txBody>
      </p:sp>
      <p:sp>
        <p:nvSpPr>
          <p:cNvPr id="6" name="saddle-result">
            <a:extLst>
              <a:ext uri="{FF2B5EF4-FFF2-40B4-BE49-F238E27FC236}">
                <a16:creationId xmlns:a16="http://schemas.microsoft.com/office/drawing/2014/main" id="{7AA6E326-6E7E-42A8-99BB-AFF7D92E564E}"/>
              </a:ext>
            </a:extLst>
          </p:cNvPr>
          <p:cNvSpPr>
            <a:spLocks noGrp="1"/>
          </p:cNvSpPr>
          <p:nvPr/>
        </p:nvSpPr>
        <p:spPr>
          <a:xfrm>
            <a:off x="7477125" y="1885950"/>
            <a:ext cx="3990975" cy="371475"/>
          </a:xfrm>
          <a:prstGeom prst="rect">
            <a:avLst/>
          </a:prstGeom>
          <a:noFill/>
          <a:ln w="0">
            <a:noFill/>
            <a:prstDash val="solid"/>
          </a:ln>
        </p:spPr>
        <p:txBody>
          <a:bodyPr wrap="square" lIns="0" tIns="0" rIns="0" bIns="0" anchor="ctr">
            <a:noAutofit/>
          </a:bodyPr>
          <a:lstStyle>
            <a:defPPr algn="l">
              <a:defRPr sz="1950" b="1">
                <a:solidFill>
                  <a:srgbClr val="2D5BCE"/>
                </a:solidFill>
                <a:latin typeface="Arial"/>
                <a:ea typeface="Arial"/>
                <a:cs typeface="Arial"/>
              </a:defRPr>
            </a:defPPr>
            <a:lvl1pPr algn="l">
              <a:defRPr sz="1950" b="1">
                <a:solidFill>
                  <a:srgbClr val="2D5BCE"/>
                </a:solidFill>
                <a:latin typeface="Arial"/>
                <a:ea typeface="Arial"/>
                <a:cs typeface="Arial"/>
              </a:defRPr>
            </a:lvl1pPr>
            <a:lvl2pPr algn="l">
              <a:defRPr sz="1950" b="1">
                <a:solidFill>
                  <a:srgbClr val="2D5BCE"/>
                </a:solidFill>
                <a:latin typeface="Arial"/>
                <a:ea typeface="Arial"/>
                <a:cs typeface="Arial"/>
              </a:defRPr>
            </a:lvl2pPr>
            <a:lvl3pPr algn="l">
              <a:defRPr sz="1950" b="1">
                <a:solidFill>
                  <a:srgbClr val="2D5BCE"/>
                </a:solidFill>
                <a:latin typeface="Arial"/>
                <a:ea typeface="Arial"/>
                <a:cs typeface="Arial"/>
              </a:defRPr>
            </a:lvl3pPr>
            <a:lvl4pPr algn="l">
              <a:defRPr sz="1950" b="1">
                <a:solidFill>
                  <a:srgbClr val="2D5BCE"/>
                </a:solidFill>
                <a:latin typeface="Arial"/>
                <a:ea typeface="Arial"/>
                <a:cs typeface="Arial"/>
              </a:defRPr>
            </a:lvl4pPr>
            <a:lvl5pPr algn="l">
              <a:defRPr sz="1950" b="1">
                <a:solidFill>
                  <a:srgbClr val="2D5BCE"/>
                </a:solidFill>
                <a:latin typeface="Arial"/>
                <a:ea typeface="Arial"/>
                <a:cs typeface="Arial"/>
              </a:defRPr>
            </a:lvl5pPr>
            <a:lvl6pPr algn="l">
              <a:defRPr sz="1950" b="1">
                <a:solidFill>
                  <a:srgbClr val="2D5BCE"/>
                </a:solidFill>
                <a:latin typeface="Arial"/>
                <a:ea typeface="Arial"/>
                <a:cs typeface="Arial"/>
              </a:defRPr>
            </a:lvl6pPr>
            <a:lvl7pPr algn="l">
              <a:defRPr sz="1950" b="1">
                <a:solidFill>
                  <a:srgbClr val="2D5BCE"/>
                </a:solidFill>
                <a:latin typeface="Arial"/>
                <a:ea typeface="Arial"/>
                <a:cs typeface="Arial"/>
              </a:defRPr>
            </a:lvl7pPr>
            <a:lvl8pPr algn="l">
              <a:defRPr sz="1950" b="1">
                <a:solidFill>
                  <a:srgbClr val="2D5BCE"/>
                </a:solidFill>
                <a:latin typeface="Arial"/>
                <a:ea typeface="Arial"/>
                <a:cs typeface="Arial"/>
              </a:defRPr>
            </a:lvl8pPr>
            <a:lvl9pPr algn="l">
              <a:defRPr sz="1950" b="1">
                <a:solidFill>
                  <a:srgbClr val="2D5BCE"/>
                </a:solidFill>
                <a:latin typeface="Arial"/>
                <a:ea typeface="Arial"/>
                <a:cs typeface="Arial"/>
              </a:defRPr>
            </a:lvl9pPr>
          </a:lstStyle>
          <a:p>
            <a:pPr algn="l">
              <a:defRPr sz="1950" b="1">
                <a:solidFill>
                  <a:srgbClr val="2D5BCE"/>
                </a:solidFill>
                <a:latin typeface="Arial"/>
                <a:ea typeface="Arial"/>
                <a:cs typeface="Arial"/>
              </a:defRPr>
            </a:pPr>
            <a:r>
              <a:rPr sz="1950" b="1">
                <a:solidFill>
                  <a:srgbClr val="2D5BCE"/>
                </a:solidFill>
                <a:latin typeface="Arial"/>
                <a:ea typeface="Arial"/>
                <a:cs typeface="Arial"/>
              </a:rPr>
              <a:t>Our result</a:t>
            </a:r>
          </a:p>
        </p:txBody>
      </p:sp>
      <p:sp>
        <p:nvSpPr>
          <p:cNvPr id="7" name="saddle-main">
            <a:extLst>
              <a:ext uri="{FF2B5EF4-FFF2-40B4-BE49-F238E27FC236}">
                <a16:creationId xmlns:a16="http://schemas.microsoft.com/office/drawing/2014/main" id="{D47684C2-0364-45CE-BB63-D8A1C3EF1EC6}"/>
              </a:ext>
            </a:extLst>
          </p:cNvPr>
          <p:cNvSpPr>
            <a:spLocks noGrp="1"/>
          </p:cNvSpPr>
          <p:nvPr/>
        </p:nvSpPr>
        <p:spPr>
          <a:xfrm>
            <a:off x="7477125" y="2409825"/>
            <a:ext cx="4105275" cy="1809750"/>
          </a:xfrm>
          <a:prstGeom prst="rect">
            <a:avLst/>
          </a:prstGeom>
          <a:noFill/>
          <a:ln w="0">
            <a:noFill/>
            <a:prstDash val="solid"/>
          </a:ln>
        </p:spPr>
        <p:txBody>
          <a:bodyPr wrap="square" lIns="0" tIns="0" rIns="0" bIns="0" anchor="ctr">
            <a:noAutofit/>
          </a:bodyPr>
          <a:lstStyle>
            <a:defPPr algn="l">
              <a:defRPr sz="2250" b="1">
                <a:solidFill>
                  <a:srgbClr val="17243F"/>
                </a:solidFill>
                <a:latin typeface="Arial"/>
                <a:ea typeface="Arial"/>
                <a:cs typeface="Arial"/>
              </a:defRPr>
            </a:defPPr>
            <a:lvl1pPr algn="l">
              <a:defRPr sz="2250" b="1">
                <a:solidFill>
                  <a:srgbClr val="17243F"/>
                </a:solidFill>
                <a:latin typeface="Arial"/>
                <a:ea typeface="Arial"/>
                <a:cs typeface="Arial"/>
              </a:defRPr>
            </a:lvl1pPr>
            <a:lvl2pPr algn="l">
              <a:defRPr sz="2250" b="1">
                <a:solidFill>
                  <a:srgbClr val="17243F"/>
                </a:solidFill>
                <a:latin typeface="Arial"/>
                <a:ea typeface="Arial"/>
                <a:cs typeface="Arial"/>
              </a:defRPr>
            </a:lvl2pPr>
            <a:lvl3pPr algn="l">
              <a:defRPr sz="2250" b="1">
                <a:solidFill>
                  <a:srgbClr val="17243F"/>
                </a:solidFill>
                <a:latin typeface="Arial"/>
                <a:ea typeface="Arial"/>
                <a:cs typeface="Arial"/>
              </a:defRPr>
            </a:lvl3pPr>
            <a:lvl4pPr algn="l">
              <a:defRPr sz="2250" b="1">
                <a:solidFill>
                  <a:srgbClr val="17243F"/>
                </a:solidFill>
                <a:latin typeface="Arial"/>
                <a:ea typeface="Arial"/>
                <a:cs typeface="Arial"/>
              </a:defRPr>
            </a:lvl4pPr>
            <a:lvl5pPr algn="l">
              <a:defRPr sz="2250" b="1">
                <a:solidFill>
                  <a:srgbClr val="17243F"/>
                </a:solidFill>
                <a:latin typeface="Arial"/>
                <a:ea typeface="Arial"/>
                <a:cs typeface="Arial"/>
              </a:defRPr>
            </a:lvl5pPr>
            <a:lvl6pPr algn="l">
              <a:defRPr sz="2250" b="1">
                <a:solidFill>
                  <a:srgbClr val="17243F"/>
                </a:solidFill>
                <a:latin typeface="Arial"/>
                <a:ea typeface="Arial"/>
                <a:cs typeface="Arial"/>
              </a:defRPr>
            </a:lvl6pPr>
            <a:lvl7pPr algn="l">
              <a:defRPr sz="2250" b="1">
                <a:solidFill>
                  <a:srgbClr val="17243F"/>
                </a:solidFill>
                <a:latin typeface="Arial"/>
                <a:ea typeface="Arial"/>
                <a:cs typeface="Arial"/>
              </a:defRPr>
            </a:lvl7pPr>
            <a:lvl8pPr algn="l">
              <a:defRPr sz="2250" b="1">
                <a:solidFill>
                  <a:srgbClr val="17243F"/>
                </a:solidFill>
                <a:latin typeface="Arial"/>
                <a:ea typeface="Arial"/>
                <a:cs typeface="Arial"/>
              </a:defRPr>
            </a:lvl8pPr>
            <a:lvl9pPr algn="l">
              <a:defRPr sz="2250" b="1">
                <a:solidFill>
                  <a:srgbClr val="17243F"/>
                </a:solidFill>
                <a:latin typeface="Arial"/>
                <a:ea typeface="Arial"/>
                <a:cs typeface="Arial"/>
              </a:defRPr>
            </a:lvl9pPr>
          </a:lstStyle>
          <a:p>
            <a:pPr algn="l">
              <a:defRPr sz="2250" b="1">
                <a:solidFill>
                  <a:srgbClr val="17243F"/>
                </a:solidFill>
                <a:latin typeface="Arial"/>
                <a:ea typeface="Arial"/>
                <a:cs typeface="Arial"/>
              </a:defRPr>
            </a:pPr>
            <a:r>
              <a:rPr sz="2250" b="1">
                <a:solidFill>
                  <a:srgbClr val="17243F"/>
                </a:solidFill>
                <a:latin typeface="Arial"/>
                <a:ea typeface="Arial"/>
                <a:cs typeface="Arial"/>
              </a:rPr>
              <a:t>With a random start,</a:t>
            </a:r>
          </a:p>
          <a:p>
            <a:pPr algn="l">
              <a:defRPr sz="2250" b="1">
                <a:solidFill>
                  <a:srgbClr val="17243F"/>
                </a:solidFill>
                <a:latin typeface="Arial"/>
                <a:ea typeface="Arial"/>
                <a:cs typeface="Arial"/>
              </a:defRPr>
            </a:pPr>
            <a:r>
              <a:rPr sz="2250" b="1">
                <a:solidFill>
                  <a:srgbClr val="17243F"/>
                </a:solidFill>
                <a:latin typeface="Arial"/>
                <a:ea typeface="Arial"/>
                <a:cs typeface="Arial"/>
              </a:rPr>
              <a:t>gradient descent almost</a:t>
            </a:r>
          </a:p>
          <a:p>
            <a:pPr algn="l">
              <a:defRPr sz="2250" b="1">
                <a:solidFill>
                  <a:srgbClr val="17243F"/>
                </a:solidFill>
                <a:latin typeface="Arial"/>
                <a:ea typeface="Arial"/>
                <a:cs typeface="Arial"/>
              </a:defRPr>
            </a:pPr>
            <a:r>
              <a:rPr sz="2250" b="1">
                <a:solidFill>
                  <a:srgbClr val="17243F"/>
                </a:solidFill>
                <a:latin typeface="Arial"/>
                <a:ea typeface="Arial"/>
                <a:cs typeface="Arial"/>
              </a:rPr>
              <a:t>surely does not converge</a:t>
            </a:r>
          </a:p>
          <a:p>
            <a:pPr algn="l">
              <a:defRPr sz="2250" b="1">
                <a:solidFill>
                  <a:srgbClr val="17243F"/>
                </a:solidFill>
                <a:latin typeface="Arial"/>
                <a:ea typeface="Arial"/>
                <a:cs typeface="Arial"/>
              </a:defRPr>
            </a:pPr>
            <a:r>
              <a:rPr sz="2250" b="1">
                <a:solidFill>
                  <a:srgbClr val="17243F"/>
                </a:solidFill>
                <a:latin typeface="Arial"/>
                <a:ea typeface="Arial"/>
                <a:cs typeface="Arial"/>
              </a:rPr>
              <a:t>to a strict saddle.</a:t>
            </a:r>
          </a:p>
        </p:txBody>
      </p:sp>
      <p:sp>
        <p:nvSpPr>
          <p:cNvPr id="8" name="saddle-assumptions">
            <a:extLst>
              <a:ext uri="{FF2B5EF4-FFF2-40B4-BE49-F238E27FC236}">
                <a16:creationId xmlns:a16="http://schemas.microsoft.com/office/drawing/2014/main" id="{58769EC6-3110-4854-8244-58D4AA70E410}"/>
              </a:ext>
            </a:extLst>
          </p:cNvPr>
          <p:cNvSpPr>
            <a:spLocks noGrp="1"/>
          </p:cNvSpPr>
          <p:nvPr/>
        </p:nvSpPr>
        <p:spPr>
          <a:xfrm>
            <a:off x="7477125" y="4476750"/>
            <a:ext cx="4000500" cy="619125"/>
          </a:xfrm>
          <a:prstGeom prst="rect">
            <a:avLst/>
          </a:prstGeom>
          <a:noFill/>
          <a:ln w="0">
            <a:noFill/>
            <a:prstDash val="solid"/>
          </a:ln>
        </p:spPr>
        <p:txBody>
          <a:bodyPr wrap="square" lIns="0" tIns="0" rIns="0" bIns="0" anchor="ctr">
            <a:noAutofit/>
          </a:bodyPr>
          <a:lstStyle>
            <a:defPPr algn="l">
              <a:defRPr sz="1800" b="0">
                <a:solidFill>
                  <a:srgbClr val="59657A"/>
                </a:solidFill>
                <a:latin typeface="Arial"/>
                <a:ea typeface="Arial"/>
                <a:cs typeface="Arial"/>
              </a:defRPr>
            </a:defPPr>
            <a:lvl1pPr algn="l">
              <a:defRPr sz="1800" b="0">
                <a:solidFill>
                  <a:srgbClr val="59657A"/>
                </a:solidFill>
                <a:latin typeface="Arial"/>
                <a:ea typeface="Arial"/>
                <a:cs typeface="Arial"/>
              </a:defRPr>
            </a:lvl1pPr>
            <a:lvl2pPr algn="l">
              <a:defRPr sz="1800" b="0">
                <a:solidFill>
                  <a:srgbClr val="59657A"/>
                </a:solidFill>
                <a:latin typeface="Arial"/>
                <a:ea typeface="Arial"/>
                <a:cs typeface="Arial"/>
              </a:defRPr>
            </a:lvl2pPr>
            <a:lvl3pPr algn="l">
              <a:defRPr sz="1800" b="0">
                <a:solidFill>
                  <a:srgbClr val="59657A"/>
                </a:solidFill>
                <a:latin typeface="Arial"/>
                <a:ea typeface="Arial"/>
                <a:cs typeface="Arial"/>
              </a:defRPr>
            </a:lvl3pPr>
            <a:lvl4pPr algn="l">
              <a:defRPr sz="1800" b="0">
                <a:solidFill>
                  <a:srgbClr val="59657A"/>
                </a:solidFill>
                <a:latin typeface="Arial"/>
                <a:ea typeface="Arial"/>
                <a:cs typeface="Arial"/>
              </a:defRPr>
            </a:lvl4pPr>
            <a:lvl5pPr algn="l">
              <a:defRPr sz="1800" b="0">
                <a:solidFill>
                  <a:srgbClr val="59657A"/>
                </a:solidFill>
                <a:latin typeface="Arial"/>
                <a:ea typeface="Arial"/>
                <a:cs typeface="Arial"/>
              </a:defRPr>
            </a:lvl5pPr>
            <a:lvl6pPr algn="l">
              <a:defRPr sz="1800" b="0">
                <a:solidFill>
                  <a:srgbClr val="59657A"/>
                </a:solidFill>
                <a:latin typeface="Arial"/>
                <a:ea typeface="Arial"/>
                <a:cs typeface="Arial"/>
              </a:defRPr>
            </a:lvl6pPr>
            <a:lvl7pPr algn="l">
              <a:defRPr sz="1800" b="0">
                <a:solidFill>
                  <a:srgbClr val="59657A"/>
                </a:solidFill>
                <a:latin typeface="Arial"/>
                <a:ea typeface="Arial"/>
                <a:cs typeface="Arial"/>
              </a:defRPr>
            </a:lvl7pPr>
            <a:lvl8pPr algn="l">
              <a:defRPr sz="1800" b="0">
                <a:solidFill>
                  <a:srgbClr val="59657A"/>
                </a:solidFill>
                <a:latin typeface="Arial"/>
                <a:ea typeface="Arial"/>
                <a:cs typeface="Arial"/>
              </a:defRPr>
            </a:lvl8pPr>
            <a:lvl9pPr algn="l">
              <a:defRPr sz="1800" b="0">
                <a:solidFill>
                  <a:srgbClr val="59657A"/>
                </a:solidFill>
                <a:latin typeface="Arial"/>
                <a:ea typeface="Arial"/>
                <a:cs typeface="Arial"/>
              </a:defRPr>
            </a:lvl9pPr>
          </a:lstStyle>
          <a:p>
            <a:pPr algn="l">
              <a:defRPr sz="1800" b="0">
                <a:solidFill>
                  <a:srgbClr val="59657A"/>
                </a:solidFill>
                <a:latin typeface="Arial"/>
                <a:ea typeface="Arial"/>
                <a:cs typeface="Arial"/>
              </a:defRPr>
            </a:pPr>
            <a:r>
              <a:rPr sz="1800" b="0">
                <a:solidFill>
                  <a:srgbClr val="59657A"/>
                </a:solidFill>
                <a:latin typeface="Arial"/>
                <a:ea typeface="Arial"/>
                <a:cs typeface="Arial"/>
              </a:rPr>
              <a:t>Smooth objective.</a:t>
            </a:r>
          </a:p>
          <a:p>
            <a:pPr algn="l">
              <a:defRPr sz="1800" b="0">
                <a:solidFill>
                  <a:srgbClr val="59657A"/>
                </a:solidFill>
                <a:latin typeface="Arial"/>
                <a:ea typeface="Arial"/>
                <a:cs typeface="Arial"/>
              </a:defRPr>
            </a:pPr>
            <a:r>
              <a:rPr sz="1800" b="0">
                <a:solidFill>
                  <a:srgbClr val="59657A"/>
                </a:solidFill>
                <a:latin typeface="Arial"/>
                <a:ea typeface="Arial"/>
                <a:cs typeface="Arial"/>
              </a:rPr>
              <a:t>Small enough steps.</a:t>
            </a:r>
          </a:p>
        </p:txBody>
      </p:sp>
      <p:sp>
        <p:nvSpPr>
          <p:cNvPr id="9" name="saddle-limit">
            <a:extLst>
              <a:ext uri="{FF2B5EF4-FFF2-40B4-BE49-F238E27FC236}">
                <a16:creationId xmlns:a16="http://schemas.microsoft.com/office/drawing/2014/main" id="{811F912F-0174-4762-A89B-CA71E2D15129}"/>
              </a:ext>
            </a:extLst>
          </p:cNvPr>
          <p:cNvSpPr>
            <a:spLocks noGrp="1"/>
          </p:cNvSpPr>
          <p:nvPr/>
        </p:nvSpPr>
        <p:spPr>
          <a:xfrm>
            <a:off x="619125" y="5762625"/>
            <a:ext cx="10858500" cy="361950"/>
          </a:xfrm>
          <a:prstGeom prst="rect">
            <a:avLst/>
          </a:prstGeom>
          <a:noFill/>
          <a:ln w="0">
            <a:noFill/>
            <a:prstDash val="solid"/>
          </a:ln>
        </p:spPr>
        <p:txBody>
          <a:bodyPr wrap="square" lIns="0" tIns="0" rIns="0" bIns="0" anchor="ctr">
            <a:noAutofit/>
          </a:bodyPr>
          <a:lstStyle>
            <a:defPPr algn="l">
              <a:defRPr sz="1725" b="0">
                <a:solidFill>
                  <a:srgbClr val="59657A"/>
                </a:solidFill>
                <a:latin typeface="Arial"/>
                <a:ea typeface="Arial"/>
                <a:cs typeface="Arial"/>
              </a:defRPr>
            </a:defPPr>
            <a:lvl1pPr algn="l">
              <a:defRPr sz="1725" b="0">
                <a:solidFill>
                  <a:srgbClr val="59657A"/>
                </a:solidFill>
                <a:latin typeface="Arial"/>
                <a:ea typeface="Arial"/>
                <a:cs typeface="Arial"/>
              </a:defRPr>
            </a:lvl1pPr>
            <a:lvl2pPr algn="l">
              <a:defRPr sz="1725" b="0">
                <a:solidFill>
                  <a:srgbClr val="59657A"/>
                </a:solidFill>
                <a:latin typeface="Arial"/>
                <a:ea typeface="Arial"/>
                <a:cs typeface="Arial"/>
              </a:defRPr>
            </a:lvl2pPr>
            <a:lvl3pPr algn="l">
              <a:defRPr sz="1725" b="0">
                <a:solidFill>
                  <a:srgbClr val="59657A"/>
                </a:solidFill>
                <a:latin typeface="Arial"/>
                <a:ea typeface="Arial"/>
                <a:cs typeface="Arial"/>
              </a:defRPr>
            </a:lvl3pPr>
            <a:lvl4pPr algn="l">
              <a:defRPr sz="1725" b="0">
                <a:solidFill>
                  <a:srgbClr val="59657A"/>
                </a:solidFill>
                <a:latin typeface="Arial"/>
                <a:ea typeface="Arial"/>
                <a:cs typeface="Arial"/>
              </a:defRPr>
            </a:lvl4pPr>
            <a:lvl5pPr algn="l">
              <a:defRPr sz="1725" b="0">
                <a:solidFill>
                  <a:srgbClr val="59657A"/>
                </a:solidFill>
                <a:latin typeface="Arial"/>
                <a:ea typeface="Arial"/>
                <a:cs typeface="Arial"/>
              </a:defRPr>
            </a:lvl5pPr>
            <a:lvl6pPr algn="l">
              <a:defRPr sz="1725" b="0">
                <a:solidFill>
                  <a:srgbClr val="59657A"/>
                </a:solidFill>
                <a:latin typeface="Arial"/>
                <a:ea typeface="Arial"/>
                <a:cs typeface="Arial"/>
              </a:defRPr>
            </a:lvl6pPr>
            <a:lvl7pPr algn="l">
              <a:defRPr sz="1725" b="0">
                <a:solidFill>
                  <a:srgbClr val="59657A"/>
                </a:solidFill>
                <a:latin typeface="Arial"/>
                <a:ea typeface="Arial"/>
                <a:cs typeface="Arial"/>
              </a:defRPr>
            </a:lvl7pPr>
            <a:lvl8pPr algn="l">
              <a:defRPr sz="1725" b="0">
                <a:solidFill>
                  <a:srgbClr val="59657A"/>
                </a:solidFill>
                <a:latin typeface="Arial"/>
                <a:ea typeface="Arial"/>
                <a:cs typeface="Arial"/>
              </a:defRPr>
            </a:lvl8pPr>
            <a:lvl9pPr algn="l">
              <a:defRPr sz="1725" b="0">
                <a:solidFill>
                  <a:srgbClr val="59657A"/>
                </a:solidFill>
                <a:latin typeface="Arial"/>
                <a:ea typeface="Arial"/>
                <a:cs typeface="Arial"/>
              </a:defRPr>
            </a:lvl9pPr>
          </a:lstStyle>
          <a:p>
            <a:pPr algn="l">
              <a:defRPr sz="1725" b="0">
                <a:solidFill>
                  <a:srgbClr val="59657A"/>
                </a:solidFill>
                <a:latin typeface="Arial"/>
                <a:ea typeface="Arial"/>
                <a:cs typeface="Arial"/>
              </a:defRPr>
            </a:pPr>
            <a:r>
              <a:rPr sz="1725" b="0">
                <a:solidFill>
                  <a:srgbClr val="59657A"/>
                </a:solidFill>
                <a:latin typeface="Arial"/>
                <a:ea typeface="Arial"/>
                <a:cs typeface="Arial"/>
              </a:rPr>
              <a:t>Avoidance does not imply fast escape</a:t>
            </a:r>
          </a:p>
          <a:p>
            <a:pPr algn="l">
              <a:defRPr sz="1725" b="0">
                <a:solidFill>
                  <a:srgbClr val="59657A"/>
                </a:solidFill>
                <a:latin typeface="Arial"/>
                <a:ea typeface="Arial"/>
                <a:cs typeface="Arial"/>
              </a:defRPr>
            </a:pPr>
            <a:r>
              <a:rPr sz="1725" b="0">
                <a:solidFill>
                  <a:srgbClr val="59657A"/>
                </a:solidFill>
                <a:latin typeface="Arial"/>
                <a:ea typeface="Arial"/>
                <a:cs typeface="Arial"/>
              </a:rPr>
              <a:t>or finding the global minimum.</a:t>
            </a:r>
          </a:p>
        </p:txBody>
      </p:sp>
      <p:sp>
        <p:nvSpPr>
          <p:cNvPr id="10" name="source-short">
            <a:extLst>
              <a:ext uri="{FF2B5EF4-FFF2-40B4-BE49-F238E27FC236}">
                <a16:creationId xmlns:a16="http://schemas.microsoft.com/office/drawing/2014/main" id="{ADE71D3F-8446-4215-A3EE-5842F23C42CD}"/>
              </a:ext>
            </a:extLst>
          </p:cNvPr>
          <p:cNvSpPr>
            <a:spLocks noGrp="1"/>
          </p:cNvSpPr>
          <p:nvPr/>
        </p:nvSpPr>
        <p:spPr>
          <a:xfrm>
            <a:off x="609600" y="6315075"/>
            <a:ext cx="10048875" cy="295275"/>
          </a:xfrm>
          <a:prstGeom prst="rect">
            <a:avLst/>
          </a:prstGeom>
          <a:noFill/>
          <a:ln w="0">
            <a:noFill/>
            <a:prstDash val="solid"/>
          </a:ln>
        </p:spPr>
        <p:txBody>
          <a:bodyPr wrap="square" lIns="0" tIns="0" rIns="0" bIns="0" anchor="ctr">
            <a:noAutofit/>
          </a:bodyPr>
          <a:lstStyle>
            <a:defPPr algn="l">
              <a:defRPr sz="1200" b="0">
                <a:solidFill>
                  <a:srgbClr val="59657A"/>
                </a:solidFill>
                <a:latin typeface="Arial"/>
                <a:ea typeface="Arial"/>
                <a:cs typeface="Arial"/>
              </a:defRPr>
            </a:defPPr>
            <a:lvl1pPr algn="l">
              <a:defRPr sz="1200" b="0">
                <a:solidFill>
                  <a:srgbClr val="59657A"/>
                </a:solidFill>
                <a:latin typeface="Arial"/>
                <a:ea typeface="Arial"/>
                <a:cs typeface="Arial"/>
              </a:defRPr>
            </a:lvl1pPr>
            <a:lvl2pPr algn="l">
              <a:defRPr sz="1200" b="0">
                <a:solidFill>
                  <a:srgbClr val="59657A"/>
                </a:solidFill>
                <a:latin typeface="Arial"/>
                <a:ea typeface="Arial"/>
                <a:cs typeface="Arial"/>
              </a:defRPr>
            </a:lvl2pPr>
            <a:lvl3pPr algn="l">
              <a:defRPr sz="1200" b="0">
                <a:solidFill>
                  <a:srgbClr val="59657A"/>
                </a:solidFill>
                <a:latin typeface="Arial"/>
                <a:ea typeface="Arial"/>
                <a:cs typeface="Arial"/>
              </a:defRPr>
            </a:lvl3pPr>
            <a:lvl4pPr algn="l">
              <a:defRPr sz="1200" b="0">
                <a:solidFill>
                  <a:srgbClr val="59657A"/>
                </a:solidFill>
                <a:latin typeface="Arial"/>
                <a:ea typeface="Arial"/>
                <a:cs typeface="Arial"/>
              </a:defRPr>
            </a:lvl4pPr>
            <a:lvl5pPr algn="l">
              <a:defRPr sz="1200" b="0">
                <a:solidFill>
                  <a:srgbClr val="59657A"/>
                </a:solidFill>
                <a:latin typeface="Arial"/>
                <a:ea typeface="Arial"/>
                <a:cs typeface="Arial"/>
              </a:defRPr>
            </a:lvl5pPr>
            <a:lvl6pPr algn="l">
              <a:defRPr sz="1200" b="0">
                <a:solidFill>
                  <a:srgbClr val="59657A"/>
                </a:solidFill>
                <a:latin typeface="Arial"/>
                <a:ea typeface="Arial"/>
                <a:cs typeface="Arial"/>
              </a:defRPr>
            </a:lvl6pPr>
            <a:lvl7pPr algn="l">
              <a:defRPr sz="1200" b="0">
                <a:solidFill>
                  <a:srgbClr val="59657A"/>
                </a:solidFill>
                <a:latin typeface="Arial"/>
                <a:ea typeface="Arial"/>
                <a:cs typeface="Arial"/>
              </a:defRPr>
            </a:lvl7pPr>
            <a:lvl8pPr algn="l">
              <a:defRPr sz="1200" b="0">
                <a:solidFill>
                  <a:srgbClr val="59657A"/>
                </a:solidFill>
                <a:latin typeface="Arial"/>
                <a:ea typeface="Arial"/>
                <a:cs typeface="Arial"/>
              </a:defRPr>
            </a:lvl8pPr>
            <a:lvl9pPr algn="l">
              <a:defRPr sz="1200" b="0">
                <a:solidFill>
                  <a:srgbClr val="59657A"/>
                </a:solidFill>
                <a:latin typeface="Arial"/>
                <a:ea typeface="Arial"/>
                <a:cs typeface="Arial"/>
              </a:defRPr>
            </a:lvl9pPr>
          </a:lstStyle>
          <a:p>
            <a:pPr algn="l">
              <a:defRPr sz="1200" b="0">
                <a:solidFill>
                  <a:srgbClr val="59657A"/>
                </a:solidFill>
                <a:latin typeface="Arial"/>
                <a:ea typeface="Arial"/>
                <a:cs typeface="Arial"/>
              </a:defRPr>
            </a:pPr>
            <a:r>
              <a:rPr sz="1200" b="0">
                <a:solidFill>
                  <a:srgbClr val="59657A"/>
                </a:solidFill>
                <a:latin typeface="Arial"/>
                <a:ea typeface="Arial"/>
                <a:cs typeface="Arial"/>
              </a:rPr>
              <a:t>Panageas &amp; Piliouras, ITCS 2017; Lee, Panageas, Piliouras, Simchowitz, Jordan &amp; Recht, 2019</a:t>
            </a:r>
          </a:p>
        </p:txBody>
      </p:sp>
      <p:pic>
        <p:nvPicPr>
          <p:cNvPr id="11" name="IguanaTex-equation-16" descr="LaTeX equation, editable with IguanaTex. $f(x,y)=x^2-y^2$">
            <a:extLst>
              <a:ext uri="{FF2B5EF4-FFF2-40B4-BE49-F238E27FC236}">
                <a16:creationId xmlns:a16="http://schemas.microsoft.com/office/drawing/2014/main" id="{DAD4048C-E138-456A-AE11-BE3DC2D0CE37}"/>
              </a:ext>
            </a:extLst>
          </p:cNvPr>
          <p:cNvPicPr>
            <a:picLocks noChangeAspect="1"/>
          </p:cNvPicPr>
          <p:nvPr>
            <p:custDataLst>
              <p:tags r:id="rId1"/>
            </p:custDataLst>
          </p:nvPr>
        </p:nvPicPr>
        <p:blipFill>
          <a:blip r:embed="rId5"/>
          <a:stretch/>
        </p:blipFill>
        <p:spPr>
          <a:xfrm>
            <a:off x="809625" y="1738274"/>
            <a:ext cx="2524049" cy="447751"/>
          </a:xfrm>
          <a:prstGeom prst="rect">
            <a:avLst/>
          </a:prstGeom>
        </p:spPr>
      </p:pic>
    </p:spTree>
    <p:extLst>
      <p:ext uri="{BB962C8B-B14F-4D97-AF65-F5344CB8AC3E}">
        <p14:creationId xmlns:p14="http://schemas.microsoft.com/office/powerpoint/2010/main" val="677061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7CDB4A39-70F8-4A72-A9D8-87273D306422}"/>
              </a:ext>
            </a:extLst>
          </p:cNvPr>
          <p:cNvCxnSpPr>
            <a:stCxn id="5" idx="6"/>
            <a:endCxn id="6" idx="2"/>
          </p:cNvCxnSpPr>
          <p:nvPr/>
        </p:nvCxnSpPr>
        <p:spPr>
          <a:xfrm>
            <a:off x="1457325" y="4629150"/>
            <a:ext cx="2800350" cy="0"/>
          </a:xfrm>
          <a:prstGeom prst="straightConnector1">
            <a:avLst/>
          </a:prstGeom>
          <a:ln w="47625">
            <a:solidFill>
              <a:srgbClr val="D96546"/>
            </a:solidFill>
            <a:prstDash val="solid"/>
          </a:ln>
        </p:spPr>
      </p:cxnSp>
      <p:cxnSp>
        <p:nvCxnSpPr>
          <p:cNvPr id="8" name="Straight Arrow Connector 7">
            <a:extLst>
              <a:ext uri="{FF2B5EF4-FFF2-40B4-BE49-F238E27FC236}">
                <a16:creationId xmlns:a16="http://schemas.microsoft.com/office/drawing/2014/main" id="{8E37436E-9B2B-4E02-9341-A80FBAD87884}"/>
              </a:ext>
            </a:extLst>
          </p:cNvPr>
          <p:cNvCxnSpPr>
            <a:stCxn id="4" idx="5"/>
            <a:endCxn id="6" idx="1"/>
          </p:cNvCxnSpPr>
          <p:nvPr/>
        </p:nvCxnSpPr>
        <p:spPr>
          <a:xfrm>
            <a:off x="3079761" y="2651136"/>
            <a:ext cx="1269977" cy="1755752"/>
          </a:xfrm>
          <a:prstGeom prst="straightConnector1">
            <a:avLst/>
          </a:prstGeom>
          <a:ln w="47625">
            <a:solidFill>
              <a:srgbClr val="008F84"/>
            </a:solidFill>
            <a:prstDash val="solid"/>
          </a:ln>
        </p:spPr>
      </p:cxnSp>
      <p:cxnSp>
        <p:nvCxnSpPr>
          <p:cNvPr id="7" name="Straight Arrow Connector 6">
            <a:extLst>
              <a:ext uri="{FF2B5EF4-FFF2-40B4-BE49-F238E27FC236}">
                <a16:creationId xmlns:a16="http://schemas.microsoft.com/office/drawing/2014/main" id="{832F94DC-008A-42E1-8E83-38F80DF8B007}"/>
              </a:ext>
            </a:extLst>
          </p:cNvPr>
          <p:cNvCxnSpPr>
            <a:stCxn id="4" idx="3"/>
            <a:endCxn id="5" idx="7"/>
          </p:cNvCxnSpPr>
          <p:nvPr/>
        </p:nvCxnSpPr>
        <p:spPr>
          <a:xfrm flipH="1">
            <a:off x="1365261" y="2651136"/>
            <a:ext cx="1269977" cy="1755752"/>
          </a:xfrm>
          <a:prstGeom prst="straightConnector1">
            <a:avLst/>
          </a:prstGeom>
          <a:ln w="47625">
            <a:solidFill>
              <a:srgbClr val="008F84"/>
            </a:solidFill>
            <a:prstDash val="solid"/>
          </a:ln>
        </p:spPr>
      </p:cxnSp>
      <p:sp>
        <p:nvSpPr>
          <p:cNvPr id="29" name="title">
            <a:extLst>
              <a:ext uri="{FF2B5EF4-FFF2-40B4-BE49-F238E27FC236}">
                <a16:creationId xmlns:a16="http://schemas.microsoft.com/office/drawing/2014/main" id="{93D6B759-62A5-453B-B8B6-7E8B5F8D2903}"/>
              </a:ext>
            </a:extLst>
          </p:cNvPr>
          <p:cNvSpPr>
            <a:spLocks noGrp="1"/>
          </p:cNvSpPr>
          <p:nvPr/>
        </p:nvSpPr>
        <p:spPr>
          <a:xfrm>
            <a:off x="609600" y="400050"/>
            <a:ext cx="10972800" cy="666750"/>
          </a:xfrm>
          <a:prstGeom prst="rect">
            <a:avLst/>
          </a:prstGeom>
          <a:noFill/>
          <a:ln w="0">
            <a:noFill/>
            <a:prstDash val="solid"/>
          </a:ln>
        </p:spPr>
        <p:txBody>
          <a:bodyPr wrap="square" lIns="0" tIns="0" rIns="0" bIns="0" anchor="ctr">
            <a:noAutofit/>
          </a:bodyPr>
          <a:lstStyle>
            <a:defPPr algn="l">
              <a:defRPr sz="3150" b="1">
                <a:solidFill>
                  <a:srgbClr val="14213D"/>
                </a:solidFill>
                <a:latin typeface="Arial"/>
                <a:ea typeface="Arial"/>
                <a:cs typeface="Arial"/>
              </a:defRPr>
            </a:defPPr>
            <a:lvl1pPr algn="l">
              <a:defRPr sz="3150" b="1">
                <a:solidFill>
                  <a:srgbClr val="14213D"/>
                </a:solidFill>
                <a:latin typeface="Arial"/>
                <a:ea typeface="Arial"/>
                <a:cs typeface="Arial"/>
              </a:defRPr>
            </a:lvl1pPr>
            <a:lvl2pPr algn="l">
              <a:defRPr sz="3150" b="1">
                <a:solidFill>
                  <a:srgbClr val="14213D"/>
                </a:solidFill>
                <a:latin typeface="Arial"/>
                <a:ea typeface="Arial"/>
                <a:cs typeface="Arial"/>
              </a:defRPr>
            </a:lvl2pPr>
            <a:lvl3pPr algn="l">
              <a:defRPr sz="3150" b="1">
                <a:solidFill>
                  <a:srgbClr val="14213D"/>
                </a:solidFill>
                <a:latin typeface="Arial"/>
                <a:ea typeface="Arial"/>
                <a:cs typeface="Arial"/>
              </a:defRPr>
            </a:lvl3pPr>
            <a:lvl4pPr algn="l">
              <a:defRPr sz="3150" b="1">
                <a:solidFill>
                  <a:srgbClr val="14213D"/>
                </a:solidFill>
                <a:latin typeface="Arial"/>
                <a:ea typeface="Arial"/>
                <a:cs typeface="Arial"/>
              </a:defRPr>
            </a:lvl4pPr>
            <a:lvl5pPr algn="l">
              <a:defRPr sz="3150" b="1">
                <a:solidFill>
                  <a:srgbClr val="14213D"/>
                </a:solidFill>
                <a:latin typeface="Arial"/>
                <a:ea typeface="Arial"/>
                <a:cs typeface="Arial"/>
              </a:defRPr>
            </a:lvl5pPr>
            <a:lvl6pPr algn="l">
              <a:defRPr sz="3150" b="1">
                <a:solidFill>
                  <a:srgbClr val="14213D"/>
                </a:solidFill>
                <a:latin typeface="Arial"/>
                <a:ea typeface="Arial"/>
                <a:cs typeface="Arial"/>
              </a:defRPr>
            </a:lvl6pPr>
            <a:lvl7pPr algn="l">
              <a:defRPr sz="3150" b="1">
                <a:solidFill>
                  <a:srgbClr val="14213D"/>
                </a:solidFill>
                <a:latin typeface="Arial"/>
                <a:ea typeface="Arial"/>
                <a:cs typeface="Arial"/>
              </a:defRPr>
            </a:lvl7pPr>
            <a:lvl8pPr algn="l">
              <a:defRPr sz="3150" b="1">
                <a:solidFill>
                  <a:srgbClr val="14213D"/>
                </a:solidFill>
                <a:latin typeface="Arial"/>
                <a:ea typeface="Arial"/>
                <a:cs typeface="Arial"/>
              </a:defRPr>
            </a:lvl8pPr>
            <a:lvl9pPr algn="l">
              <a:defRPr sz="3150" b="1">
                <a:solidFill>
                  <a:srgbClr val="14213D"/>
                </a:solidFill>
                <a:latin typeface="Arial"/>
                <a:ea typeface="Arial"/>
                <a:cs typeface="Arial"/>
              </a:defRPr>
            </a:lvl9pPr>
          </a:lstStyle>
          <a:p>
            <a:pPr algn="l">
              <a:defRPr sz="3150" b="1">
                <a:solidFill>
                  <a:srgbClr val="14213D"/>
                </a:solidFill>
                <a:latin typeface="Arial"/>
                <a:ea typeface="Arial"/>
                <a:cs typeface="Arial"/>
              </a:defRPr>
            </a:pPr>
            <a:r>
              <a:rPr sz="3150" b="1">
                <a:solidFill>
                  <a:srgbClr val="14213D"/>
                </a:solidFill>
                <a:latin typeface="Arial"/>
                <a:ea typeface="Arial"/>
                <a:cs typeface="Arial"/>
              </a:rPr>
              <a:t>Cooperation on a network</a:t>
            </a:r>
          </a:p>
        </p:txBody>
      </p:sp>
      <p:sp>
        <p:nvSpPr>
          <p:cNvPr id="2" name="subtitle">
            <a:extLst>
              <a:ext uri="{FF2B5EF4-FFF2-40B4-BE49-F238E27FC236}">
                <a16:creationId xmlns:a16="http://schemas.microsoft.com/office/drawing/2014/main" id="{F8A08D07-7A10-4562-9523-87F6B110C793}"/>
              </a:ext>
            </a:extLst>
          </p:cNvPr>
          <p:cNvSpPr>
            <a:spLocks noGrp="1"/>
          </p:cNvSpPr>
          <p:nvPr/>
        </p:nvSpPr>
        <p:spPr>
          <a:xfrm>
            <a:off x="628650" y="1123950"/>
            <a:ext cx="10934700" cy="457200"/>
          </a:xfrm>
          <a:prstGeom prst="rect">
            <a:avLst/>
          </a:prstGeom>
          <a:noFill/>
          <a:ln w="0">
            <a:noFill/>
            <a:prstDash val="solid"/>
          </a:ln>
        </p:spPr>
        <p:txBody>
          <a:bodyPr wrap="square" lIns="0" tIns="0" rIns="0" bIns="0" anchor="ctr">
            <a:noAutofit/>
          </a:bodyPr>
          <a:lstStyle>
            <a:defPPr algn="l">
              <a:defRPr sz="1875" b="0">
                <a:solidFill>
                  <a:srgbClr val="59657A"/>
                </a:solidFill>
                <a:latin typeface="Arial"/>
                <a:ea typeface="Arial"/>
                <a:cs typeface="Arial"/>
              </a:defRPr>
            </a:defPPr>
            <a:lvl1pPr algn="l">
              <a:defRPr sz="1875" b="0">
                <a:solidFill>
                  <a:srgbClr val="59657A"/>
                </a:solidFill>
                <a:latin typeface="Arial"/>
                <a:ea typeface="Arial"/>
                <a:cs typeface="Arial"/>
              </a:defRPr>
            </a:lvl1pPr>
            <a:lvl2pPr algn="l">
              <a:defRPr sz="1875" b="0">
                <a:solidFill>
                  <a:srgbClr val="59657A"/>
                </a:solidFill>
                <a:latin typeface="Arial"/>
                <a:ea typeface="Arial"/>
                <a:cs typeface="Arial"/>
              </a:defRPr>
            </a:lvl2pPr>
            <a:lvl3pPr algn="l">
              <a:defRPr sz="1875" b="0">
                <a:solidFill>
                  <a:srgbClr val="59657A"/>
                </a:solidFill>
                <a:latin typeface="Arial"/>
                <a:ea typeface="Arial"/>
                <a:cs typeface="Arial"/>
              </a:defRPr>
            </a:lvl3pPr>
            <a:lvl4pPr algn="l">
              <a:defRPr sz="1875" b="0">
                <a:solidFill>
                  <a:srgbClr val="59657A"/>
                </a:solidFill>
                <a:latin typeface="Arial"/>
                <a:ea typeface="Arial"/>
                <a:cs typeface="Arial"/>
              </a:defRPr>
            </a:lvl4pPr>
            <a:lvl5pPr algn="l">
              <a:defRPr sz="1875" b="0">
                <a:solidFill>
                  <a:srgbClr val="59657A"/>
                </a:solidFill>
                <a:latin typeface="Arial"/>
                <a:ea typeface="Arial"/>
                <a:cs typeface="Arial"/>
              </a:defRPr>
            </a:lvl5pPr>
            <a:lvl6pPr algn="l">
              <a:defRPr sz="1875" b="0">
                <a:solidFill>
                  <a:srgbClr val="59657A"/>
                </a:solidFill>
                <a:latin typeface="Arial"/>
                <a:ea typeface="Arial"/>
                <a:cs typeface="Arial"/>
              </a:defRPr>
            </a:lvl6pPr>
            <a:lvl7pPr algn="l">
              <a:defRPr sz="1875" b="0">
                <a:solidFill>
                  <a:srgbClr val="59657A"/>
                </a:solidFill>
                <a:latin typeface="Arial"/>
                <a:ea typeface="Arial"/>
                <a:cs typeface="Arial"/>
              </a:defRPr>
            </a:lvl7pPr>
            <a:lvl8pPr algn="l">
              <a:defRPr sz="1875" b="0">
                <a:solidFill>
                  <a:srgbClr val="59657A"/>
                </a:solidFill>
                <a:latin typeface="Arial"/>
                <a:ea typeface="Arial"/>
                <a:cs typeface="Arial"/>
              </a:defRPr>
            </a:lvl8pPr>
            <a:lvl9pPr algn="l">
              <a:defRPr sz="1875" b="0">
                <a:solidFill>
                  <a:srgbClr val="59657A"/>
                </a:solidFill>
                <a:latin typeface="Arial"/>
                <a:ea typeface="Arial"/>
                <a:cs typeface="Arial"/>
              </a:defRPr>
            </a:lvl9pPr>
          </a:lstStyle>
          <a:p>
            <a:pPr algn="l">
              <a:defRPr sz="1875" b="0">
                <a:solidFill>
                  <a:srgbClr val="59657A"/>
                </a:solidFill>
                <a:latin typeface="Arial"/>
                <a:ea typeface="Arial"/>
                <a:cs typeface="Arial"/>
              </a:defRPr>
            </a:pPr>
            <a:endParaRPr/>
          </a:p>
        </p:txBody>
      </p:sp>
      <p:sp>
        <p:nvSpPr>
          <p:cNvPr id="3" name="slide-number">
            <a:extLst>
              <a:ext uri="{FF2B5EF4-FFF2-40B4-BE49-F238E27FC236}">
                <a16:creationId xmlns:a16="http://schemas.microsoft.com/office/drawing/2014/main" id="{52008486-2143-46F1-BD6F-6C2DF850848E}"/>
              </a:ext>
            </a:extLst>
          </p:cNvPr>
          <p:cNvSpPr>
            <a:spLocks noGrp="1"/>
          </p:cNvSpPr>
          <p:nvPr/>
        </p:nvSpPr>
        <p:spPr>
          <a:xfrm>
            <a:off x="11144250" y="6372225"/>
            <a:ext cx="438150" cy="247650"/>
          </a:xfrm>
          <a:prstGeom prst="rect">
            <a:avLst/>
          </a:prstGeom>
          <a:noFill/>
          <a:ln w="0">
            <a:noFill/>
            <a:prstDash val="solid"/>
          </a:ln>
        </p:spPr>
        <p:txBody>
          <a:bodyPr wrap="square" lIns="0" tIns="0" rIns="0" bIns="0" anchor="ctr">
            <a:noAutofit/>
          </a:bodyPr>
          <a:lstStyle>
            <a:defPPr algn="r">
              <a:defRPr sz="1275" b="0">
                <a:solidFill>
                  <a:srgbClr val="59657A"/>
                </a:solidFill>
                <a:latin typeface="Arial"/>
                <a:ea typeface="Arial"/>
                <a:cs typeface="Arial"/>
              </a:defRPr>
            </a:defPPr>
            <a:lvl1pPr algn="r">
              <a:defRPr sz="1275" b="0">
                <a:solidFill>
                  <a:srgbClr val="59657A"/>
                </a:solidFill>
                <a:latin typeface="Arial"/>
                <a:ea typeface="Arial"/>
                <a:cs typeface="Arial"/>
              </a:defRPr>
            </a:lvl1pPr>
            <a:lvl2pPr algn="r">
              <a:defRPr sz="1275" b="0">
                <a:solidFill>
                  <a:srgbClr val="59657A"/>
                </a:solidFill>
                <a:latin typeface="Arial"/>
                <a:ea typeface="Arial"/>
                <a:cs typeface="Arial"/>
              </a:defRPr>
            </a:lvl2pPr>
            <a:lvl3pPr algn="r">
              <a:defRPr sz="1275" b="0">
                <a:solidFill>
                  <a:srgbClr val="59657A"/>
                </a:solidFill>
                <a:latin typeface="Arial"/>
                <a:ea typeface="Arial"/>
                <a:cs typeface="Arial"/>
              </a:defRPr>
            </a:lvl3pPr>
            <a:lvl4pPr algn="r">
              <a:defRPr sz="1275" b="0">
                <a:solidFill>
                  <a:srgbClr val="59657A"/>
                </a:solidFill>
                <a:latin typeface="Arial"/>
                <a:ea typeface="Arial"/>
                <a:cs typeface="Arial"/>
              </a:defRPr>
            </a:lvl4pPr>
            <a:lvl5pPr algn="r">
              <a:defRPr sz="1275" b="0">
                <a:solidFill>
                  <a:srgbClr val="59657A"/>
                </a:solidFill>
                <a:latin typeface="Arial"/>
                <a:ea typeface="Arial"/>
                <a:cs typeface="Arial"/>
              </a:defRPr>
            </a:lvl5pPr>
            <a:lvl6pPr algn="r">
              <a:defRPr sz="1275" b="0">
                <a:solidFill>
                  <a:srgbClr val="59657A"/>
                </a:solidFill>
                <a:latin typeface="Arial"/>
                <a:ea typeface="Arial"/>
                <a:cs typeface="Arial"/>
              </a:defRPr>
            </a:lvl6pPr>
            <a:lvl7pPr algn="r">
              <a:defRPr sz="1275" b="0">
                <a:solidFill>
                  <a:srgbClr val="59657A"/>
                </a:solidFill>
                <a:latin typeface="Arial"/>
                <a:ea typeface="Arial"/>
                <a:cs typeface="Arial"/>
              </a:defRPr>
            </a:lvl7pPr>
            <a:lvl8pPr algn="r">
              <a:defRPr sz="1275" b="0">
                <a:solidFill>
                  <a:srgbClr val="59657A"/>
                </a:solidFill>
                <a:latin typeface="Arial"/>
                <a:ea typeface="Arial"/>
                <a:cs typeface="Arial"/>
              </a:defRPr>
            </a:lvl8pPr>
            <a:lvl9pPr algn="r">
              <a:defRPr sz="1275" b="0">
                <a:solidFill>
                  <a:srgbClr val="59657A"/>
                </a:solidFill>
                <a:latin typeface="Arial"/>
                <a:ea typeface="Arial"/>
                <a:cs typeface="Arial"/>
              </a:defRPr>
            </a:lvl9pPr>
          </a:lstStyle>
          <a:p>
            <a:pPr algn="r">
              <a:defRPr sz="1275" b="0">
                <a:solidFill>
                  <a:srgbClr val="59657A"/>
                </a:solidFill>
                <a:latin typeface="Arial"/>
                <a:ea typeface="Arial"/>
                <a:cs typeface="Arial"/>
              </a:defRPr>
            </a:pPr>
            <a:r>
              <a:rPr sz="1275" b="0">
                <a:solidFill>
                  <a:srgbClr val="59657A"/>
                </a:solidFill>
                <a:latin typeface="Arial"/>
                <a:ea typeface="Arial"/>
                <a:cs typeface="Arial"/>
              </a:rPr>
              <a:t>06</a:t>
            </a:r>
          </a:p>
        </p:txBody>
      </p:sp>
      <p:sp>
        <p:nvSpPr>
          <p:cNvPr id="4" name="player-A">
            <a:extLst>
              <a:ext uri="{FF2B5EF4-FFF2-40B4-BE49-F238E27FC236}">
                <a16:creationId xmlns:a16="http://schemas.microsoft.com/office/drawing/2014/main" id="{959832F3-5DFD-4A0E-9BC9-5085844FA465}"/>
              </a:ext>
            </a:extLst>
          </p:cNvPr>
          <p:cNvSpPr>
            <a:spLocks noGrp="1"/>
          </p:cNvSpPr>
          <p:nvPr/>
        </p:nvSpPr>
        <p:spPr>
          <a:xfrm>
            <a:off x="2543175" y="2114550"/>
            <a:ext cx="628650" cy="628650"/>
          </a:xfrm>
          <a:prstGeom prst="ellipse">
            <a:avLst/>
          </a:prstGeom>
          <a:solidFill>
            <a:srgbClr val="DFE7FA"/>
          </a:solidFill>
          <a:ln w="0">
            <a:solidFill>
              <a:srgbClr val="2D5BCE"/>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5" name="player-B">
            <a:extLst>
              <a:ext uri="{FF2B5EF4-FFF2-40B4-BE49-F238E27FC236}">
                <a16:creationId xmlns:a16="http://schemas.microsoft.com/office/drawing/2014/main" id="{BE140247-70FA-4D2D-BF72-93F76B999F72}"/>
              </a:ext>
            </a:extLst>
          </p:cNvPr>
          <p:cNvSpPr>
            <a:spLocks noGrp="1"/>
          </p:cNvSpPr>
          <p:nvPr/>
        </p:nvSpPr>
        <p:spPr>
          <a:xfrm>
            <a:off x="828675" y="4314825"/>
            <a:ext cx="628650" cy="628650"/>
          </a:xfrm>
          <a:prstGeom prst="ellipse">
            <a:avLst/>
          </a:prstGeom>
          <a:solidFill>
            <a:srgbClr val="DFE7FA"/>
          </a:solidFill>
          <a:ln w="0">
            <a:solidFill>
              <a:srgbClr val="2D5BCE"/>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6" name="player-C">
            <a:extLst>
              <a:ext uri="{FF2B5EF4-FFF2-40B4-BE49-F238E27FC236}">
                <a16:creationId xmlns:a16="http://schemas.microsoft.com/office/drawing/2014/main" id="{0E5B2FD2-3FE7-408F-B3BC-2A2CEA0961C3}"/>
              </a:ext>
            </a:extLst>
          </p:cNvPr>
          <p:cNvSpPr>
            <a:spLocks noGrp="1"/>
          </p:cNvSpPr>
          <p:nvPr/>
        </p:nvSpPr>
        <p:spPr>
          <a:xfrm>
            <a:off x="4257675" y="4314825"/>
            <a:ext cx="628650" cy="628650"/>
          </a:xfrm>
          <a:prstGeom prst="ellipse">
            <a:avLst/>
          </a:prstGeom>
          <a:solidFill>
            <a:srgbClr val="DFE7FA"/>
          </a:solidFill>
          <a:ln w="0">
            <a:solidFill>
              <a:srgbClr val="2D5BCE"/>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10" name="edge-ab">
            <a:extLst>
              <a:ext uri="{FF2B5EF4-FFF2-40B4-BE49-F238E27FC236}">
                <a16:creationId xmlns:a16="http://schemas.microsoft.com/office/drawing/2014/main" id="{23182612-7D7C-4EE4-BA46-850B07735D6A}"/>
              </a:ext>
            </a:extLst>
          </p:cNvPr>
          <p:cNvSpPr>
            <a:spLocks noGrp="1"/>
          </p:cNvSpPr>
          <p:nvPr/>
        </p:nvSpPr>
        <p:spPr>
          <a:xfrm>
            <a:off x="590550" y="3181350"/>
            <a:ext cx="2190750" cy="381000"/>
          </a:xfrm>
          <a:prstGeom prst="rect">
            <a:avLst/>
          </a:prstGeom>
          <a:noFill/>
          <a:ln w="0">
            <a:noFill/>
            <a:prstDash val="solid"/>
          </a:ln>
        </p:spPr>
        <p:txBody>
          <a:bodyPr wrap="square" lIns="0" tIns="0" rIns="0" bIns="0" anchor="ctr">
            <a:noAutofit/>
          </a:bodyPr>
          <a:lstStyle>
            <a:defPPr algn="l">
              <a:defRPr sz="1725" b="1">
                <a:solidFill>
                  <a:srgbClr val="008F84"/>
                </a:solidFill>
                <a:latin typeface="Arial"/>
                <a:ea typeface="Arial"/>
                <a:cs typeface="Arial"/>
              </a:defRPr>
            </a:defPPr>
            <a:lvl1pPr algn="l">
              <a:defRPr sz="1725" b="1">
                <a:solidFill>
                  <a:srgbClr val="008F84"/>
                </a:solidFill>
                <a:latin typeface="Arial"/>
                <a:ea typeface="Arial"/>
                <a:cs typeface="Arial"/>
              </a:defRPr>
            </a:lvl1pPr>
            <a:lvl2pPr algn="l">
              <a:defRPr sz="1725" b="1">
                <a:solidFill>
                  <a:srgbClr val="008F84"/>
                </a:solidFill>
                <a:latin typeface="Arial"/>
                <a:ea typeface="Arial"/>
                <a:cs typeface="Arial"/>
              </a:defRPr>
            </a:lvl2pPr>
            <a:lvl3pPr algn="l">
              <a:defRPr sz="1725" b="1">
                <a:solidFill>
                  <a:srgbClr val="008F84"/>
                </a:solidFill>
                <a:latin typeface="Arial"/>
                <a:ea typeface="Arial"/>
                <a:cs typeface="Arial"/>
              </a:defRPr>
            </a:lvl3pPr>
            <a:lvl4pPr algn="l">
              <a:defRPr sz="1725" b="1">
                <a:solidFill>
                  <a:srgbClr val="008F84"/>
                </a:solidFill>
                <a:latin typeface="Arial"/>
                <a:ea typeface="Arial"/>
                <a:cs typeface="Arial"/>
              </a:defRPr>
            </a:lvl4pPr>
            <a:lvl5pPr algn="l">
              <a:defRPr sz="1725" b="1">
                <a:solidFill>
                  <a:srgbClr val="008F84"/>
                </a:solidFill>
                <a:latin typeface="Arial"/>
                <a:ea typeface="Arial"/>
                <a:cs typeface="Arial"/>
              </a:defRPr>
            </a:lvl5pPr>
            <a:lvl6pPr algn="l">
              <a:defRPr sz="1725" b="1">
                <a:solidFill>
                  <a:srgbClr val="008F84"/>
                </a:solidFill>
                <a:latin typeface="Arial"/>
                <a:ea typeface="Arial"/>
                <a:cs typeface="Arial"/>
              </a:defRPr>
            </a:lvl6pPr>
            <a:lvl7pPr algn="l">
              <a:defRPr sz="1725" b="1">
                <a:solidFill>
                  <a:srgbClr val="008F84"/>
                </a:solidFill>
                <a:latin typeface="Arial"/>
                <a:ea typeface="Arial"/>
                <a:cs typeface="Arial"/>
              </a:defRPr>
            </a:lvl7pPr>
            <a:lvl8pPr algn="l">
              <a:defRPr sz="1725" b="1">
                <a:solidFill>
                  <a:srgbClr val="008F84"/>
                </a:solidFill>
                <a:latin typeface="Arial"/>
                <a:ea typeface="Arial"/>
                <a:cs typeface="Arial"/>
              </a:defRPr>
            </a:lvl8pPr>
            <a:lvl9pPr algn="l">
              <a:defRPr sz="1725" b="1">
                <a:solidFill>
                  <a:srgbClr val="008F84"/>
                </a:solidFill>
                <a:latin typeface="Arial"/>
                <a:ea typeface="Arial"/>
                <a:cs typeface="Arial"/>
              </a:defRPr>
            </a:lvl9pPr>
          </a:lstStyle>
          <a:p>
            <a:pPr algn="l">
              <a:defRPr sz="1725" b="1">
                <a:solidFill>
                  <a:srgbClr val="008F84"/>
                </a:solidFill>
                <a:latin typeface="Arial"/>
                <a:ea typeface="Arial"/>
                <a:cs typeface="Arial"/>
              </a:defRPr>
            </a:pPr>
            <a:endParaRPr/>
          </a:p>
        </p:txBody>
      </p:sp>
      <p:sp>
        <p:nvSpPr>
          <p:cNvPr id="11" name="edge-ac">
            <a:extLst>
              <a:ext uri="{FF2B5EF4-FFF2-40B4-BE49-F238E27FC236}">
                <a16:creationId xmlns:a16="http://schemas.microsoft.com/office/drawing/2014/main" id="{C7BBDB2E-E4E1-4CBC-AD93-766F92B04EAE}"/>
              </a:ext>
            </a:extLst>
          </p:cNvPr>
          <p:cNvSpPr>
            <a:spLocks noGrp="1"/>
          </p:cNvSpPr>
          <p:nvPr/>
        </p:nvSpPr>
        <p:spPr>
          <a:xfrm>
            <a:off x="3457575" y="3181350"/>
            <a:ext cx="2352675" cy="381000"/>
          </a:xfrm>
          <a:prstGeom prst="rect">
            <a:avLst/>
          </a:prstGeom>
          <a:noFill/>
          <a:ln w="0">
            <a:noFill/>
            <a:prstDash val="solid"/>
          </a:ln>
        </p:spPr>
        <p:txBody>
          <a:bodyPr wrap="square" lIns="0" tIns="0" rIns="0" bIns="0" anchor="ctr">
            <a:noAutofit/>
          </a:bodyPr>
          <a:lstStyle>
            <a:defPPr algn="l">
              <a:defRPr sz="1725" b="1">
                <a:solidFill>
                  <a:srgbClr val="008F84"/>
                </a:solidFill>
                <a:latin typeface="Arial"/>
                <a:ea typeface="Arial"/>
                <a:cs typeface="Arial"/>
              </a:defRPr>
            </a:defPPr>
            <a:lvl1pPr algn="l">
              <a:defRPr sz="1725" b="1">
                <a:solidFill>
                  <a:srgbClr val="008F84"/>
                </a:solidFill>
                <a:latin typeface="Arial"/>
                <a:ea typeface="Arial"/>
                <a:cs typeface="Arial"/>
              </a:defRPr>
            </a:lvl1pPr>
            <a:lvl2pPr algn="l">
              <a:defRPr sz="1725" b="1">
                <a:solidFill>
                  <a:srgbClr val="008F84"/>
                </a:solidFill>
                <a:latin typeface="Arial"/>
                <a:ea typeface="Arial"/>
                <a:cs typeface="Arial"/>
              </a:defRPr>
            </a:lvl2pPr>
            <a:lvl3pPr algn="l">
              <a:defRPr sz="1725" b="1">
                <a:solidFill>
                  <a:srgbClr val="008F84"/>
                </a:solidFill>
                <a:latin typeface="Arial"/>
                <a:ea typeface="Arial"/>
                <a:cs typeface="Arial"/>
              </a:defRPr>
            </a:lvl3pPr>
            <a:lvl4pPr algn="l">
              <a:defRPr sz="1725" b="1">
                <a:solidFill>
                  <a:srgbClr val="008F84"/>
                </a:solidFill>
                <a:latin typeface="Arial"/>
                <a:ea typeface="Arial"/>
                <a:cs typeface="Arial"/>
              </a:defRPr>
            </a:lvl4pPr>
            <a:lvl5pPr algn="l">
              <a:defRPr sz="1725" b="1">
                <a:solidFill>
                  <a:srgbClr val="008F84"/>
                </a:solidFill>
                <a:latin typeface="Arial"/>
                <a:ea typeface="Arial"/>
                <a:cs typeface="Arial"/>
              </a:defRPr>
            </a:lvl5pPr>
            <a:lvl6pPr algn="l">
              <a:defRPr sz="1725" b="1">
                <a:solidFill>
                  <a:srgbClr val="008F84"/>
                </a:solidFill>
                <a:latin typeface="Arial"/>
                <a:ea typeface="Arial"/>
                <a:cs typeface="Arial"/>
              </a:defRPr>
            </a:lvl6pPr>
            <a:lvl7pPr algn="l">
              <a:defRPr sz="1725" b="1">
                <a:solidFill>
                  <a:srgbClr val="008F84"/>
                </a:solidFill>
                <a:latin typeface="Arial"/>
                <a:ea typeface="Arial"/>
                <a:cs typeface="Arial"/>
              </a:defRPr>
            </a:lvl7pPr>
            <a:lvl8pPr algn="l">
              <a:defRPr sz="1725" b="1">
                <a:solidFill>
                  <a:srgbClr val="008F84"/>
                </a:solidFill>
                <a:latin typeface="Arial"/>
                <a:ea typeface="Arial"/>
                <a:cs typeface="Arial"/>
              </a:defRPr>
            </a:lvl8pPr>
            <a:lvl9pPr algn="l">
              <a:defRPr sz="1725" b="1">
                <a:solidFill>
                  <a:srgbClr val="008F84"/>
                </a:solidFill>
                <a:latin typeface="Arial"/>
                <a:ea typeface="Arial"/>
                <a:cs typeface="Arial"/>
              </a:defRPr>
            </a:lvl9pPr>
          </a:lstStyle>
          <a:p>
            <a:pPr algn="l">
              <a:defRPr sz="1725" b="1">
                <a:solidFill>
                  <a:srgbClr val="008F84"/>
                </a:solidFill>
                <a:latin typeface="Arial"/>
                <a:ea typeface="Arial"/>
                <a:cs typeface="Arial"/>
              </a:defRPr>
            </a:pPr>
            <a:endParaRPr/>
          </a:p>
        </p:txBody>
      </p:sp>
      <p:sp>
        <p:nvSpPr>
          <p:cNvPr id="12" name="edge-bc">
            <a:extLst>
              <a:ext uri="{FF2B5EF4-FFF2-40B4-BE49-F238E27FC236}">
                <a16:creationId xmlns:a16="http://schemas.microsoft.com/office/drawing/2014/main" id="{77824B5A-069A-40EE-81BB-4B694E6729A9}"/>
              </a:ext>
            </a:extLst>
          </p:cNvPr>
          <p:cNvSpPr>
            <a:spLocks noGrp="1"/>
          </p:cNvSpPr>
          <p:nvPr/>
        </p:nvSpPr>
        <p:spPr>
          <a:xfrm>
            <a:off x="1428750" y="5124450"/>
            <a:ext cx="3143250" cy="400050"/>
          </a:xfrm>
          <a:prstGeom prst="rect">
            <a:avLst/>
          </a:prstGeom>
          <a:noFill/>
          <a:ln w="0">
            <a:noFill/>
            <a:prstDash val="solid"/>
          </a:ln>
        </p:spPr>
        <p:txBody>
          <a:bodyPr wrap="square" lIns="0" tIns="0" rIns="0" bIns="0" anchor="ctr">
            <a:noAutofit/>
          </a:bodyPr>
          <a:lstStyle>
            <a:defPPr algn="ctr">
              <a:defRPr sz="1725" b="1">
                <a:solidFill>
                  <a:srgbClr val="D96546"/>
                </a:solidFill>
                <a:latin typeface="Arial"/>
                <a:ea typeface="Arial"/>
                <a:cs typeface="Arial"/>
              </a:defRPr>
            </a:defPPr>
            <a:lvl1pPr algn="ctr">
              <a:defRPr sz="1725" b="1">
                <a:solidFill>
                  <a:srgbClr val="D96546"/>
                </a:solidFill>
                <a:latin typeface="Arial"/>
                <a:ea typeface="Arial"/>
                <a:cs typeface="Arial"/>
              </a:defRPr>
            </a:lvl1pPr>
            <a:lvl2pPr algn="ctr">
              <a:defRPr sz="1725" b="1">
                <a:solidFill>
                  <a:srgbClr val="D96546"/>
                </a:solidFill>
                <a:latin typeface="Arial"/>
                <a:ea typeface="Arial"/>
                <a:cs typeface="Arial"/>
              </a:defRPr>
            </a:lvl2pPr>
            <a:lvl3pPr algn="ctr">
              <a:defRPr sz="1725" b="1">
                <a:solidFill>
                  <a:srgbClr val="D96546"/>
                </a:solidFill>
                <a:latin typeface="Arial"/>
                <a:ea typeface="Arial"/>
                <a:cs typeface="Arial"/>
              </a:defRPr>
            </a:lvl3pPr>
            <a:lvl4pPr algn="ctr">
              <a:defRPr sz="1725" b="1">
                <a:solidFill>
                  <a:srgbClr val="D96546"/>
                </a:solidFill>
                <a:latin typeface="Arial"/>
                <a:ea typeface="Arial"/>
                <a:cs typeface="Arial"/>
              </a:defRPr>
            </a:lvl4pPr>
            <a:lvl5pPr algn="ctr">
              <a:defRPr sz="1725" b="1">
                <a:solidFill>
                  <a:srgbClr val="D96546"/>
                </a:solidFill>
                <a:latin typeface="Arial"/>
                <a:ea typeface="Arial"/>
                <a:cs typeface="Arial"/>
              </a:defRPr>
            </a:lvl5pPr>
            <a:lvl6pPr algn="ctr">
              <a:defRPr sz="1725" b="1">
                <a:solidFill>
                  <a:srgbClr val="D96546"/>
                </a:solidFill>
                <a:latin typeface="Arial"/>
                <a:ea typeface="Arial"/>
                <a:cs typeface="Arial"/>
              </a:defRPr>
            </a:lvl6pPr>
            <a:lvl7pPr algn="ctr">
              <a:defRPr sz="1725" b="1">
                <a:solidFill>
                  <a:srgbClr val="D96546"/>
                </a:solidFill>
                <a:latin typeface="Arial"/>
                <a:ea typeface="Arial"/>
                <a:cs typeface="Arial"/>
              </a:defRPr>
            </a:lvl7pPr>
            <a:lvl8pPr algn="ctr">
              <a:defRPr sz="1725" b="1">
                <a:solidFill>
                  <a:srgbClr val="D96546"/>
                </a:solidFill>
                <a:latin typeface="Arial"/>
                <a:ea typeface="Arial"/>
                <a:cs typeface="Arial"/>
              </a:defRPr>
            </a:lvl8pPr>
            <a:lvl9pPr algn="ctr">
              <a:defRPr sz="1725" b="1">
                <a:solidFill>
                  <a:srgbClr val="D96546"/>
                </a:solidFill>
                <a:latin typeface="Arial"/>
                <a:ea typeface="Arial"/>
                <a:cs typeface="Arial"/>
              </a:defRPr>
            </a:lvl9pPr>
          </a:lstStyle>
          <a:p>
            <a:pPr algn="ctr">
              <a:defRPr sz="1725" b="1">
                <a:solidFill>
                  <a:srgbClr val="D96546"/>
                </a:solidFill>
                <a:latin typeface="Arial"/>
                <a:ea typeface="Arial"/>
                <a:cs typeface="Arial"/>
              </a:defRPr>
            </a:pPr>
            <a:endParaRPr/>
          </a:p>
        </p:txBody>
      </p:sp>
      <p:sp>
        <p:nvSpPr>
          <p:cNvPr id="13" name="network-caption">
            <a:extLst>
              <a:ext uri="{FF2B5EF4-FFF2-40B4-BE49-F238E27FC236}">
                <a16:creationId xmlns:a16="http://schemas.microsoft.com/office/drawing/2014/main" id="{8CF84252-7C24-44DC-9780-5040C6AC49EA}"/>
              </a:ext>
            </a:extLst>
          </p:cNvPr>
          <p:cNvSpPr>
            <a:spLocks noGrp="1"/>
          </p:cNvSpPr>
          <p:nvPr/>
        </p:nvSpPr>
        <p:spPr>
          <a:xfrm>
            <a:off x="619125" y="5695950"/>
            <a:ext cx="5210175" cy="514350"/>
          </a:xfrm>
          <a:prstGeom prst="rect">
            <a:avLst/>
          </a:prstGeom>
          <a:noFill/>
          <a:ln w="0">
            <a:noFill/>
            <a:prstDash val="solid"/>
          </a:ln>
        </p:spPr>
        <p:txBody>
          <a:bodyPr wrap="square" lIns="0" tIns="0" rIns="0" bIns="0" anchor="ctr">
            <a:noAutofit/>
          </a:bodyPr>
          <a:lstStyle>
            <a:defPPr algn="l">
              <a:defRPr sz="1575" b="0">
                <a:solidFill>
                  <a:srgbClr val="59657A"/>
                </a:solidFill>
                <a:latin typeface="Arial"/>
                <a:ea typeface="Arial"/>
                <a:cs typeface="Arial"/>
              </a:defRPr>
            </a:defPPr>
            <a:lvl1pPr algn="l">
              <a:defRPr sz="1575" b="0">
                <a:solidFill>
                  <a:srgbClr val="59657A"/>
                </a:solidFill>
                <a:latin typeface="Arial"/>
                <a:ea typeface="Arial"/>
                <a:cs typeface="Arial"/>
              </a:defRPr>
            </a:lvl1pPr>
            <a:lvl2pPr algn="l">
              <a:defRPr sz="1575" b="0">
                <a:solidFill>
                  <a:srgbClr val="59657A"/>
                </a:solidFill>
                <a:latin typeface="Arial"/>
                <a:ea typeface="Arial"/>
                <a:cs typeface="Arial"/>
              </a:defRPr>
            </a:lvl2pPr>
            <a:lvl3pPr algn="l">
              <a:defRPr sz="1575" b="0">
                <a:solidFill>
                  <a:srgbClr val="59657A"/>
                </a:solidFill>
                <a:latin typeface="Arial"/>
                <a:ea typeface="Arial"/>
                <a:cs typeface="Arial"/>
              </a:defRPr>
            </a:lvl3pPr>
            <a:lvl4pPr algn="l">
              <a:defRPr sz="1575" b="0">
                <a:solidFill>
                  <a:srgbClr val="59657A"/>
                </a:solidFill>
                <a:latin typeface="Arial"/>
                <a:ea typeface="Arial"/>
                <a:cs typeface="Arial"/>
              </a:defRPr>
            </a:lvl4pPr>
            <a:lvl5pPr algn="l">
              <a:defRPr sz="1575" b="0">
                <a:solidFill>
                  <a:srgbClr val="59657A"/>
                </a:solidFill>
                <a:latin typeface="Arial"/>
                <a:ea typeface="Arial"/>
                <a:cs typeface="Arial"/>
              </a:defRPr>
            </a:lvl5pPr>
            <a:lvl6pPr algn="l">
              <a:defRPr sz="1575" b="0">
                <a:solidFill>
                  <a:srgbClr val="59657A"/>
                </a:solidFill>
                <a:latin typeface="Arial"/>
                <a:ea typeface="Arial"/>
                <a:cs typeface="Arial"/>
              </a:defRPr>
            </a:lvl6pPr>
            <a:lvl7pPr algn="l">
              <a:defRPr sz="1575" b="0">
                <a:solidFill>
                  <a:srgbClr val="59657A"/>
                </a:solidFill>
                <a:latin typeface="Arial"/>
                <a:ea typeface="Arial"/>
                <a:cs typeface="Arial"/>
              </a:defRPr>
            </a:lvl7pPr>
            <a:lvl8pPr algn="l">
              <a:defRPr sz="1575" b="0">
                <a:solidFill>
                  <a:srgbClr val="59657A"/>
                </a:solidFill>
                <a:latin typeface="Arial"/>
                <a:ea typeface="Arial"/>
                <a:cs typeface="Arial"/>
              </a:defRPr>
            </a:lvl8pPr>
            <a:lvl9pPr algn="l">
              <a:defRPr sz="1575" b="0">
                <a:solidFill>
                  <a:srgbClr val="59657A"/>
                </a:solidFill>
                <a:latin typeface="Arial"/>
                <a:ea typeface="Arial"/>
                <a:cs typeface="Arial"/>
              </a:defRPr>
            </a:lvl9pPr>
          </a:lstStyle>
          <a:p>
            <a:pPr algn="l">
              <a:defRPr sz="1575" b="0">
                <a:solidFill>
                  <a:srgbClr val="59657A"/>
                </a:solidFill>
                <a:latin typeface="Arial"/>
                <a:ea typeface="Arial"/>
                <a:cs typeface="Arial"/>
              </a:defRPr>
            </a:pPr>
            <a:endParaRPr/>
          </a:p>
        </p:txBody>
      </p:sp>
      <p:sp>
        <p:nvSpPr>
          <p:cNvPr id="14" name="network-question">
            <a:extLst>
              <a:ext uri="{FF2B5EF4-FFF2-40B4-BE49-F238E27FC236}">
                <a16:creationId xmlns:a16="http://schemas.microsoft.com/office/drawing/2014/main" id="{A5375ABA-9C69-49AE-9012-E3A3470F601E}"/>
              </a:ext>
            </a:extLst>
          </p:cNvPr>
          <p:cNvSpPr>
            <a:spLocks noGrp="1"/>
          </p:cNvSpPr>
          <p:nvPr/>
        </p:nvSpPr>
        <p:spPr>
          <a:xfrm>
            <a:off x="6305550" y="1895475"/>
            <a:ext cx="5276850" cy="485775"/>
          </a:xfrm>
          <a:prstGeom prst="rect">
            <a:avLst/>
          </a:prstGeom>
          <a:noFill/>
          <a:ln w="0">
            <a:noFill/>
            <a:prstDash val="solid"/>
          </a:ln>
        </p:spPr>
        <p:txBody>
          <a:bodyPr wrap="square" lIns="0" tIns="0" rIns="0" bIns="0" anchor="ctr">
            <a:noAutofit/>
          </a:bodyPr>
          <a:lstStyle>
            <a:defPPr algn="l">
              <a:defRPr sz="2400" b="1">
                <a:solidFill>
                  <a:srgbClr val="14213D"/>
                </a:solidFill>
                <a:latin typeface="Arial"/>
                <a:ea typeface="Arial"/>
                <a:cs typeface="Arial"/>
              </a:defRPr>
            </a:defPPr>
            <a:lvl1pPr algn="l">
              <a:defRPr sz="2400" b="1">
                <a:solidFill>
                  <a:srgbClr val="14213D"/>
                </a:solidFill>
                <a:latin typeface="Arial"/>
                <a:ea typeface="Arial"/>
                <a:cs typeface="Arial"/>
              </a:defRPr>
            </a:lvl1pPr>
            <a:lvl2pPr algn="l">
              <a:defRPr sz="2400" b="1">
                <a:solidFill>
                  <a:srgbClr val="14213D"/>
                </a:solidFill>
                <a:latin typeface="Arial"/>
                <a:ea typeface="Arial"/>
                <a:cs typeface="Arial"/>
              </a:defRPr>
            </a:lvl2pPr>
            <a:lvl3pPr algn="l">
              <a:defRPr sz="2400" b="1">
                <a:solidFill>
                  <a:srgbClr val="14213D"/>
                </a:solidFill>
                <a:latin typeface="Arial"/>
                <a:ea typeface="Arial"/>
                <a:cs typeface="Arial"/>
              </a:defRPr>
            </a:lvl3pPr>
            <a:lvl4pPr algn="l">
              <a:defRPr sz="2400" b="1">
                <a:solidFill>
                  <a:srgbClr val="14213D"/>
                </a:solidFill>
                <a:latin typeface="Arial"/>
                <a:ea typeface="Arial"/>
                <a:cs typeface="Arial"/>
              </a:defRPr>
            </a:lvl4pPr>
            <a:lvl5pPr algn="l">
              <a:defRPr sz="2400" b="1">
                <a:solidFill>
                  <a:srgbClr val="14213D"/>
                </a:solidFill>
                <a:latin typeface="Arial"/>
                <a:ea typeface="Arial"/>
                <a:cs typeface="Arial"/>
              </a:defRPr>
            </a:lvl5pPr>
            <a:lvl6pPr algn="l">
              <a:defRPr sz="2400" b="1">
                <a:solidFill>
                  <a:srgbClr val="14213D"/>
                </a:solidFill>
                <a:latin typeface="Arial"/>
                <a:ea typeface="Arial"/>
                <a:cs typeface="Arial"/>
              </a:defRPr>
            </a:lvl6pPr>
            <a:lvl7pPr algn="l">
              <a:defRPr sz="2400" b="1">
                <a:solidFill>
                  <a:srgbClr val="14213D"/>
                </a:solidFill>
                <a:latin typeface="Arial"/>
                <a:ea typeface="Arial"/>
                <a:cs typeface="Arial"/>
              </a:defRPr>
            </a:lvl7pPr>
            <a:lvl8pPr algn="l">
              <a:defRPr sz="2400" b="1">
                <a:solidFill>
                  <a:srgbClr val="14213D"/>
                </a:solidFill>
                <a:latin typeface="Arial"/>
                <a:ea typeface="Arial"/>
                <a:cs typeface="Arial"/>
              </a:defRPr>
            </a:lvl8pPr>
            <a:lvl9pPr algn="l">
              <a:defRPr sz="2400" b="1">
                <a:solidFill>
                  <a:srgbClr val="14213D"/>
                </a:solidFill>
                <a:latin typeface="Arial"/>
                <a:ea typeface="Arial"/>
                <a:cs typeface="Arial"/>
              </a:defRPr>
            </a:lvl9pPr>
          </a:lstStyle>
          <a:p>
            <a:pPr algn="l">
              <a:defRPr sz="2400" b="1">
                <a:solidFill>
                  <a:srgbClr val="14213D"/>
                </a:solidFill>
                <a:latin typeface="Arial"/>
                <a:ea typeface="Arial"/>
                <a:cs typeface="Arial"/>
              </a:defRPr>
            </a:pPr>
            <a:r>
              <a:rPr sz="2400" b="1">
                <a:solidFill>
                  <a:srgbClr val="14213D"/>
                </a:solidFill>
                <a:latin typeface="Arial"/>
                <a:ea typeface="Arial"/>
                <a:cs typeface="Arial"/>
              </a:rPr>
              <a:t>Can everyone be satisfied?</a:t>
            </a:r>
          </a:p>
        </p:txBody>
      </p:sp>
      <p:sp>
        <p:nvSpPr>
          <p:cNvPr id="15" name="network-explanation">
            <a:extLst>
              <a:ext uri="{FF2B5EF4-FFF2-40B4-BE49-F238E27FC236}">
                <a16:creationId xmlns:a16="http://schemas.microsoft.com/office/drawing/2014/main" id="{51C27752-BF9E-4C2C-B0B1-350B909D8478}"/>
              </a:ext>
            </a:extLst>
          </p:cNvPr>
          <p:cNvSpPr>
            <a:spLocks noGrp="1"/>
          </p:cNvSpPr>
          <p:nvPr/>
        </p:nvSpPr>
        <p:spPr>
          <a:xfrm>
            <a:off x="6305550" y="2533650"/>
            <a:ext cx="5276850" cy="781050"/>
          </a:xfrm>
          <a:prstGeom prst="rect">
            <a:avLst/>
          </a:prstGeom>
          <a:noFill/>
          <a:ln w="0">
            <a:noFill/>
            <a:prstDash val="solid"/>
          </a:ln>
        </p:spPr>
        <p:txBody>
          <a:bodyPr wrap="square" lIns="0" tIns="0" rIns="0" bIns="0" anchor="ctr">
            <a:noAutofit/>
          </a:bodyPr>
          <a:lstStyle>
            <a:defPPr algn="l">
              <a:defRPr sz="2175" b="0">
                <a:solidFill>
                  <a:srgbClr val="17243F"/>
                </a:solidFill>
                <a:latin typeface="Arial"/>
                <a:ea typeface="Arial"/>
                <a:cs typeface="Arial"/>
              </a:defRPr>
            </a:defPPr>
            <a:lvl1pPr algn="l">
              <a:defRPr sz="2175" b="0">
                <a:solidFill>
                  <a:srgbClr val="17243F"/>
                </a:solidFill>
                <a:latin typeface="Arial"/>
                <a:ea typeface="Arial"/>
                <a:cs typeface="Arial"/>
              </a:defRPr>
            </a:lvl1pPr>
            <a:lvl2pPr algn="l">
              <a:defRPr sz="2175" b="0">
                <a:solidFill>
                  <a:srgbClr val="17243F"/>
                </a:solidFill>
                <a:latin typeface="Arial"/>
                <a:ea typeface="Arial"/>
                <a:cs typeface="Arial"/>
              </a:defRPr>
            </a:lvl2pPr>
            <a:lvl3pPr algn="l">
              <a:defRPr sz="2175" b="0">
                <a:solidFill>
                  <a:srgbClr val="17243F"/>
                </a:solidFill>
                <a:latin typeface="Arial"/>
                <a:ea typeface="Arial"/>
                <a:cs typeface="Arial"/>
              </a:defRPr>
            </a:lvl3pPr>
            <a:lvl4pPr algn="l">
              <a:defRPr sz="2175" b="0">
                <a:solidFill>
                  <a:srgbClr val="17243F"/>
                </a:solidFill>
                <a:latin typeface="Arial"/>
                <a:ea typeface="Arial"/>
                <a:cs typeface="Arial"/>
              </a:defRPr>
            </a:lvl4pPr>
            <a:lvl5pPr algn="l">
              <a:defRPr sz="2175" b="0">
                <a:solidFill>
                  <a:srgbClr val="17243F"/>
                </a:solidFill>
                <a:latin typeface="Arial"/>
                <a:ea typeface="Arial"/>
                <a:cs typeface="Arial"/>
              </a:defRPr>
            </a:lvl5pPr>
            <a:lvl6pPr algn="l">
              <a:defRPr sz="2175" b="0">
                <a:solidFill>
                  <a:srgbClr val="17243F"/>
                </a:solidFill>
                <a:latin typeface="Arial"/>
                <a:ea typeface="Arial"/>
                <a:cs typeface="Arial"/>
              </a:defRPr>
            </a:lvl6pPr>
            <a:lvl7pPr algn="l">
              <a:defRPr sz="2175" b="0">
                <a:solidFill>
                  <a:srgbClr val="17243F"/>
                </a:solidFill>
                <a:latin typeface="Arial"/>
                <a:ea typeface="Arial"/>
                <a:cs typeface="Arial"/>
              </a:defRPr>
            </a:lvl7pPr>
            <a:lvl8pPr algn="l">
              <a:defRPr sz="2175" b="0">
                <a:solidFill>
                  <a:srgbClr val="17243F"/>
                </a:solidFill>
                <a:latin typeface="Arial"/>
                <a:ea typeface="Arial"/>
                <a:cs typeface="Arial"/>
              </a:defRPr>
            </a:lvl8pPr>
            <a:lvl9pPr algn="l">
              <a:defRPr sz="2175" b="0">
                <a:solidFill>
                  <a:srgbClr val="17243F"/>
                </a:solidFill>
                <a:latin typeface="Arial"/>
                <a:ea typeface="Arial"/>
                <a:cs typeface="Arial"/>
              </a:defRPr>
            </a:lvl9pPr>
          </a:lstStyle>
          <a:p>
            <a:pPr algn="l">
              <a:defRPr sz="2175" b="0">
                <a:solidFill>
                  <a:srgbClr val="17243F"/>
                </a:solidFill>
                <a:latin typeface="Arial"/>
                <a:ea typeface="Arial"/>
                <a:cs typeface="Arial"/>
              </a:defRPr>
            </a:pPr>
            <a:r>
              <a:rPr sz="2175" b="0">
                <a:solidFill>
                  <a:srgbClr val="17243F"/>
                </a:solidFill>
                <a:latin typeface="Arial"/>
                <a:ea typeface="Arial"/>
                <a:cs typeface="Arial"/>
              </a:rPr>
              <a:t>Different relationships can pull</a:t>
            </a:r>
          </a:p>
          <a:p>
            <a:pPr algn="l">
              <a:defRPr sz="2175" b="0">
                <a:solidFill>
                  <a:srgbClr val="17243F"/>
                </a:solidFill>
                <a:latin typeface="Arial"/>
                <a:ea typeface="Arial"/>
                <a:cs typeface="Arial"/>
              </a:defRPr>
            </a:pPr>
            <a:r>
              <a:rPr sz="2175" b="0">
                <a:solidFill>
                  <a:srgbClr val="17243F"/>
                </a:solidFill>
                <a:latin typeface="Arial"/>
                <a:ea typeface="Arial"/>
                <a:cs typeface="Arial"/>
              </a:rPr>
              <a:t>a player in different directions.</a:t>
            </a:r>
          </a:p>
        </p:txBody>
      </p:sp>
      <p:sp>
        <p:nvSpPr>
          <p:cNvPr id="16" name="network-result-label">
            <a:extLst>
              <a:ext uri="{FF2B5EF4-FFF2-40B4-BE49-F238E27FC236}">
                <a16:creationId xmlns:a16="http://schemas.microsoft.com/office/drawing/2014/main" id="{E65939E0-7B72-441F-9DDD-E8B55381D9BA}"/>
              </a:ext>
            </a:extLst>
          </p:cNvPr>
          <p:cNvSpPr>
            <a:spLocks noGrp="1"/>
          </p:cNvSpPr>
          <p:nvPr/>
        </p:nvSpPr>
        <p:spPr>
          <a:xfrm>
            <a:off x="6305550" y="3676650"/>
            <a:ext cx="5276850" cy="400050"/>
          </a:xfrm>
          <a:prstGeom prst="rect">
            <a:avLst/>
          </a:prstGeom>
          <a:noFill/>
          <a:ln w="0">
            <a:noFill/>
            <a:prstDash val="solid"/>
          </a:ln>
        </p:spPr>
        <p:txBody>
          <a:bodyPr wrap="square" lIns="0" tIns="0" rIns="0" bIns="0" anchor="ctr">
            <a:noAutofit/>
          </a:bodyPr>
          <a:lstStyle>
            <a:defPPr algn="l">
              <a:defRPr sz="1950" b="1">
                <a:solidFill>
                  <a:srgbClr val="2D5BCE"/>
                </a:solidFill>
                <a:latin typeface="Arial"/>
                <a:ea typeface="Arial"/>
                <a:cs typeface="Arial"/>
              </a:defRPr>
            </a:defPPr>
            <a:lvl1pPr algn="l">
              <a:defRPr sz="1950" b="1">
                <a:solidFill>
                  <a:srgbClr val="2D5BCE"/>
                </a:solidFill>
                <a:latin typeface="Arial"/>
                <a:ea typeface="Arial"/>
                <a:cs typeface="Arial"/>
              </a:defRPr>
            </a:lvl1pPr>
            <a:lvl2pPr algn="l">
              <a:defRPr sz="1950" b="1">
                <a:solidFill>
                  <a:srgbClr val="2D5BCE"/>
                </a:solidFill>
                <a:latin typeface="Arial"/>
                <a:ea typeface="Arial"/>
                <a:cs typeface="Arial"/>
              </a:defRPr>
            </a:lvl2pPr>
            <a:lvl3pPr algn="l">
              <a:defRPr sz="1950" b="1">
                <a:solidFill>
                  <a:srgbClr val="2D5BCE"/>
                </a:solidFill>
                <a:latin typeface="Arial"/>
                <a:ea typeface="Arial"/>
                <a:cs typeface="Arial"/>
              </a:defRPr>
            </a:lvl3pPr>
            <a:lvl4pPr algn="l">
              <a:defRPr sz="1950" b="1">
                <a:solidFill>
                  <a:srgbClr val="2D5BCE"/>
                </a:solidFill>
                <a:latin typeface="Arial"/>
                <a:ea typeface="Arial"/>
                <a:cs typeface="Arial"/>
              </a:defRPr>
            </a:lvl4pPr>
            <a:lvl5pPr algn="l">
              <a:defRPr sz="1950" b="1">
                <a:solidFill>
                  <a:srgbClr val="2D5BCE"/>
                </a:solidFill>
                <a:latin typeface="Arial"/>
                <a:ea typeface="Arial"/>
                <a:cs typeface="Arial"/>
              </a:defRPr>
            </a:lvl5pPr>
            <a:lvl6pPr algn="l">
              <a:defRPr sz="1950" b="1">
                <a:solidFill>
                  <a:srgbClr val="2D5BCE"/>
                </a:solidFill>
                <a:latin typeface="Arial"/>
                <a:ea typeface="Arial"/>
                <a:cs typeface="Arial"/>
              </a:defRPr>
            </a:lvl6pPr>
            <a:lvl7pPr algn="l">
              <a:defRPr sz="1950" b="1">
                <a:solidFill>
                  <a:srgbClr val="2D5BCE"/>
                </a:solidFill>
                <a:latin typeface="Arial"/>
                <a:ea typeface="Arial"/>
                <a:cs typeface="Arial"/>
              </a:defRPr>
            </a:lvl7pPr>
            <a:lvl8pPr algn="l">
              <a:defRPr sz="1950" b="1">
                <a:solidFill>
                  <a:srgbClr val="2D5BCE"/>
                </a:solidFill>
                <a:latin typeface="Arial"/>
                <a:ea typeface="Arial"/>
                <a:cs typeface="Arial"/>
              </a:defRPr>
            </a:lvl8pPr>
            <a:lvl9pPr algn="l">
              <a:defRPr sz="1950" b="1">
                <a:solidFill>
                  <a:srgbClr val="2D5BCE"/>
                </a:solidFill>
                <a:latin typeface="Arial"/>
                <a:ea typeface="Arial"/>
                <a:cs typeface="Arial"/>
              </a:defRPr>
            </a:lvl9pPr>
          </a:lstStyle>
          <a:p>
            <a:pPr algn="l">
              <a:defRPr sz="1950" b="1">
                <a:solidFill>
                  <a:srgbClr val="2D5BCE"/>
                </a:solidFill>
                <a:latin typeface="Arial"/>
                <a:ea typeface="Arial"/>
                <a:cs typeface="Arial"/>
              </a:defRPr>
            </a:pPr>
            <a:r>
              <a:rPr sz="1950" b="1">
                <a:solidFill>
                  <a:srgbClr val="2D5BCE"/>
                </a:solidFill>
                <a:latin typeface="Arial"/>
                <a:ea typeface="Arial"/>
                <a:cs typeface="Arial"/>
              </a:rPr>
              <a:t>Our result</a:t>
            </a:r>
          </a:p>
        </p:txBody>
      </p:sp>
      <p:sp>
        <p:nvSpPr>
          <p:cNvPr id="17" name="network-result">
            <a:extLst>
              <a:ext uri="{FF2B5EF4-FFF2-40B4-BE49-F238E27FC236}">
                <a16:creationId xmlns:a16="http://schemas.microsoft.com/office/drawing/2014/main" id="{592AB908-B5CA-47D8-AC09-F74F7C3B1D3A}"/>
              </a:ext>
            </a:extLst>
          </p:cNvPr>
          <p:cNvSpPr>
            <a:spLocks noGrp="1"/>
          </p:cNvSpPr>
          <p:nvPr/>
        </p:nvSpPr>
        <p:spPr>
          <a:xfrm>
            <a:off x="6305550" y="4200525"/>
            <a:ext cx="5276850" cy="1219200"/>
          </a:xfrm>
          <a:prstGeom prst="rect">
            <a:avLst/>
          </a:prstGeom>
          <a:noFill/>
          <a:ln w="0">
            <a:noFill/>
            <a:prstDash val="solid"/>
          </a:ln>
        </p:spPr>
        <p:txBody>
          <a:bodyPr wrap="square" lIns="0" tIns="0" rIns="0" bIns="0" anchor="ctr">
            <a:noAutofit/>
          </a:bodyPr>
          <a:lstStyle>
            <a:defPPr algn="l">
              <a:defRPr sz="2250" b="1">
                <a:solidFill>
                  <a:srgbClr val="17243F"/>
                </a:solidFill>
                <a:latin typeface="Arial"/>
                <a:ea typeface="Arial"/>
                <a:cs typeface="Arial"/>
              </a:defRPr>
            </a:defPPr>
            <a:lvl1pPr algn="l">
              <a:defRPr sz="2250" b="1">
                <a:solidFill>
                  <a:srgbClr val="17243F"/>
                </a:solidFill>
                <a:latin typeface="Arial"/>
                <a:ea typeface="Arial"/>
                <a:cs typeface="Arial"/>
              </a:defRPr>
            </a:lvl1pPr>
            <a:lvl2pPr algn="l">
              <a:defRPr sz="2250" b="1">
                <a:solidFill>
                  <a:srgbClr val="17243F"/>
                </a:solidFill>
                <a:latin typeface="Arial"/>
                <a:ea typeface="Arial"/>
                <a:cs typeface="Arial"/>
              </a:defRPr>
            </a:lvl2pPr>
            <a:lvl3pPr algn="l">
              <a:defRPr sz="2250" b="1">
                <a:solidFill>
                  <a:srgbClr val="17243F"/>
                </a:solidFill>
                <a:latin typeface="Arial"/>
                <a:ea typeface="Arial"/>
                <a:cs typeface="Arial"/>
              </a:defRPr>
            </a:lvl3pPr>
            <a:lvl4pPr algn="l">
              <a:defRPr sz="2250" b="1">
                <a:solidFill>
                  <a:srgbClr val="17243F"/>
                </a:solidFill>
                <a:latin typeface="Arial"/>
                <a:ea typeface="Arial"/>
                <a:cs typeface="Arial"/>
              </a:defRPr>
            </a:lvl4pPr>
            <a:lvl5pPr algn="l">
              <a:defRPr sz="2250" b="1">
                <a:solidFill>
                  <a:srgbClr val="17243F"/>
                </a:solidFill>
                <a:latin typeface="Arial"/>
                <a:ea typeface="Arial"/>
                <a:cs typeface="Arial"/>
              </a:defRPr>
            </a:lvl5pPr>
            <a:lvl6pPr algn="l">
              <a:defRPr sz="2250" b="1">
                <a:solidFill>
                  <a:srgbClr val="17243F"/>
                </a:solidFill>
                <a:latin typeface="Arial"/>
                <a:ea typeface="Arial"/>
                <a:cs typeface="Arial"/>
              </a:defRPr>
            </a:lvl6pPr>
            <a:lvl7pPr algn="l">
              <a:defRPr sz="2250" b="1">
                <a:solidFill>
                  <a:srgbClr val="17243F"/>
                </a:solidFill>
                <a:latin typeface="Arial"/>
                <a:ea typeface="Arial"/>
                <a:cs typeface="Arial"/>
              </a:defRPr>
            </a:lvl7pPr>
            <a:lvl8pPr algn="l">
              <a:defRPr sz="2250" b="1">
                <a:solidFill>
                  <a:srgbClr val="17243F"/>
                </a:solidFill>
                <a:latin typeface="Arial"/>
                <a:ea typeface="Arial"/>
                <a:cs typeface="Arial"/>
              </a:defRPr>
            </a:lvl8pPr>
            <a:lvl9pPr algn="l">
              <a:defRPr sz="2250" b="1">
                <a:solidFill>
                  <a:srgbClr val="17243F"/>
                </a:solidFill>
                <a:latin typeface="Arial"/>
                <a:ea typeface="Arial"/>
                <a:cs typeface="Arial"/>
              </a:defRPr>
            </a:lvl9pPr>
          </a:lstStyle>
          <a:p>
            <a:pPr algn="l">
              <a:defRPr sz="2250" b="1">
                <a:solidFill>
                  <a:srgbClr val="17243F"/>
                </a:solidFill>
                <a:latin typeface="Arial"/>
                <a:ea typeface="Arial"/>
                <a:cs typeface="Arial"/>
              </a:defRPr>
            </a:pPr>
            <a:r>
              <a:rPr sz="2250" b="1">
                <a:solidFill>
                  <a:srgbClr val="17243F"/>
                </a:solidFill>
                <a:latin typeface="Arial"/>
                <a:ea typeface="Arial"/>
                <a:cs typeface="Arial"/>
              </a:rPr>
              <a:t>Finding an exact equilibrium</a:t>
            </a:r>
          </a:p>
          <a:p>
            <a:pPr algn="l">
              <a:defRPr sz="2250" b="1">
                <a:solidFill>
                  <a:srgbClr val="17243F"/>
                </a:solidFill>
                <a:latin typeface="Arial"/>
                <a:ea typeface="Arial"/>
                <a:cs typeface="Arial"/>
              </a:defRPr>
            </a:pPr>
            <a:r>
              <a:rPr sz="2250" b="1">
                <a:solidFill>
                  <a:srgbClr val="17243F"/>
                </a:solidFill>
                <a:latin typeface="Arial"/>
                <a:ea typeface="Arial"/>
                <a:cs typeface="Arial"/>
              </a:rPr>
              <a:t>is computationally hard, even</a:t>
            </a:r>
          </a:p>
          <a:p>
            <a:pPr algn="l">
              <a:defRPr sz="2250" b="1">
                <a:solidFill>
                  <a:srgbClr val="17243F"/>
                </a:solidFill>
                <a:latin typeface="Arial"/>
                <a:ea typeface="Arial"/>
                <a:cs typeface="Arial"/>
              </a:defRPr>
            </a:pPr>
            <a:r>
              <a:rPr sz="2250" b="1">
                <a:solidFill>
                  <a:srgbClr val="17243F"/>
                </a:solidFill>
                <a:latin typeface="Arial"/>
                <a:ea typeface="Arial"/>
                <a:cs typeface="Arial"/>
              </a:rPr>
              <a:t>with two choices per player.</a:t>
            </a:r>
          </a:p>
        </p:txBody>
      </p:sp>
      <p:sp>
        <p:nvSpPr>
          <p:cNvPr id="18" name="network-formal">
            <a:extLst>
              <a:ext uri="{FF2B5EF4-FFF2-40B4-BE49-F238E27FC236}">
                <a16:creationId xmlns:a16="http://schemas.microsoft.com/office/drawing/2014/main" id="{310BCE7B-3193-4BC1-BBFB-C0DE920E3F80}"/>
              </a:ext>
            </a:extLst>
          </p:cNvPr>
          <p:cNvSpPr>
            <a:spLocks noGrp="1"/>
          </p:cNvSpPr>
          <p:nvPr/>
        </p:nvSpPr>
        <p:spPr>
          <a:xfrm>
            <a:off x="6305550" y="5667375"/>
            <a:ext cx="5276850" cy="371475"/>
          </a:xfrm>
          <a:prstGeom prst="rect">
            <a:avLst/>
          </a:prstGeom>
          <a:noFill/>
          <a:ln w="0">
            <a:noFill/>
            <a:prstDash val="solid"/>
          </a:ln>
        </p:spPr>
        <p:txBody>
          <a:bodyPr wrap="square" lIns="0" tIns="0" rIns="0" bIns="0" anchor="ctr">
            <a:noAutofit/>
          </a:bodyPr>
          <a:lstStyle>
            <a:defPPr algn="l">
              <a:defRPr sz="1800" b="0">
                <a:solidFill>
                  <a:srgbClr val="59657A"/>
                </a:solidFill>
                <a:latin typeface="Arial"/>
                <a:ea typeface="Arial"/>
                <a:cs typeface="Arial"/>
              </a:defRPr>
            </a:defPPr>
            <a:lvl1pPr algn="l">
              <a:defRPr sz="1800" b="0">
                <a:solidFill>
                  <a:srgbClr val="59657A"/>
                </a:solidFill>
                <a:latin typeface="Arial"/>
                <a:ea typeface="Arial"/>
                <a:cs typeface="Arial"/>
              </a:defRPr>
            </a:lvl1pPr>
            <a:lvl2pPr algn="l">
              <a:defRPr sz="1800" b="0">
                <a:solidFill>
                  <a:srgbClr val="59657A"/>
                </a:solidFill>
                <a:latin typeface="Arial"/>
                <a:ea typeface="Arial"/>
                <a:cs typeface="Arial"/>
              </a:defRPr>
            </a:lvl2pPr>
            <a:lvl3pPr algn="l">
              <a:defRPr sz="1800" b="0">
                <a:solidFill>
                  <a:srgbClr val="59657A"/>
                </a:solidFill>
                <a:latin typeface="Arial"/>
                <a:ea typeface="Arial"/>
                <a:cs typeface="Arial"/>
              </a:defRPr>
            </a:lvl3pPr>
            <a:lvl4pPr algn="l">
              <a:defRPr sz="1800" b="0">
                <a:solidFill>
                  <a:srgbClr val="59657A"/>
                </a:solidFill>
                <a:latin typeface="Arial"/>
                <a:ea typeface="Arial"/>
                <a:cs typeface="Arial"/>
              </a:defRPr>
            </a:lvl4pPr>
            <a:lvl5pPr algn="l">
              <a:defRPr sz="1800" b="0">
                <a:solidFill>
                  <a:srgbClr val="59657A"/>
                </a:solidFill>
                <a:latin typeface="Arial"/>
                <a:ea typeface="Arial"/>
                <a:cs typeface="Arial"/>
              </a:defRPr>
            </a:lvl5pPr>
            <a:lvl6pPr algn="l">
              <a:defRPr sz="1800" b="0">
                <a:solidFill>
                  <a:srgbClr val="59657A"/>
                </a:solidFill>
                <a:latin typeface="Arial"/>
                <a:ea typeface="Arial"/>
                <a:cs typeface="Arial"/>
              </a:defRPr>
            </a:lvl6pPr>
            <a:lvl7pPr algn="l">
              <a:defRPr sz="1800" b="0">
                <a:solidFill>
                  <a:srgbClr val="59657A"/>
                </a:solidFill>
                <a:latin typeface="Arial"/>
                <a:ea typeface="Arial"/>
                <a:cs typeface="Arial"/>
              </a:defRPr>
            </a:lvl7pPr>
            <a:lvl8pPr algn="l">
              <a:defRPr sz="1800" b="0">
                <a:solidFill>
                  <a:srgbClr val="59657A"/>
                </a:solidFill>
                <a:latin typeface="Arial"/>
                <a:ea typeface="Arial"/>
                <a:cs typeface="Arial"/>
              </a:defRPr>
            </a:lvl8pPr>
            <a:lvl9pPr algn="l">
              <a:defRPr sz="1800" b="0">
                <a:solidFill>
                  <a:srgbClr val="59657A"/>
                </a:solidFill>
                <a:latin typeface="Arial"/>
                <a:ea typeface="Arial"/>
                <a:cs typeface="Arial"/>
              </a:defRPr>
            </a:lvl9pPr>
          </a:lstStyle>
          <a:p>
            <a:pPr algn="l">
              <a:defRPr sz="1800" b="0">
                <a:solidFill>
                  <a:srgbClr val="59657A"/>
                </a:solidFill>
                <a:latin typeface="Arial"/>
                <a:ea typeface="Arial"/>
                <a:cs typeface="Arial"/>
              </a:defRPr>
            </a:pPr>
            <a:endParaRPr/>
          </a:p>
        </p:txBody>
      </p:sp>
      <p:sp>
        <p:nvSpPr>
          <p:cNvPr id="19" name="source-short">
            <a:extLst>
              <a:ext uri="{FF2B5EF4-FFF2-40B4-BE49-F238E27FC236}">
                <a16:creationId xmlns:a16="http://schemas.microsoft.com/office/drawing/2014/main" id="{0FFAC446-A997-46B8-927C-0B50F6D9FBE4}"/>
              </a:ext>
            </a:extLst>
          </p:cNvPr>
          <p:cNvSpPr>
            <a:spLocks noGrp="1"/>
          </p:cNvSpPr>
          <p:nvPr/>
        </p:nvSpPr>
        <p:spPr>
          <a:xfrm>
            <a:off x="609600" y="6315075"/>
            <a:ext cx="10048875" cy="295275"/>
          </a:xfrm>
          <a:prstGeom prst="rect">
            <a:avLst/>
          </a:prstGeom>
          <a:noFill/>
          <a:ln w="0">
            <a:noFill/>
            <a:prstDash val="solid"/>
          </a:ln>
        </p:spPr>
        <p:txBody>
          <a:bodyPr wrap="square" lIns="0" tIns="0" rIns="0" bIns="0" anchor="ctr">
            <a:noAutofit/>
          </a:bodyPr>
          <a:lstStyle>
            <a:defPPr algn="l">
              <a:defRPr sz="1200" b="0">
                <a:solidFill>
                  <a:srgbClr val="59657A"/>
                </a:solidFill>
                <a:latin typeface="Arial"/>
                <a:ea typeface="Arial"/>
                <a:cs typeface="Arial"/>
              </a:defRPr>
            </a:defPPr>
            <a:lvl1pPr algn="l">
              <a:defRPr sz="1200" b="0">
                <a:solidFill>
                  <a:srgbClr val="59657A"/>
                </a:solidFill>
                <a:latin typeface="Arial"/>
                <a:ea typeface="Arial"/>
                <a:cs typeface="Arial"/>
              </a:defRPr>
            </a:lvl1pPr>
            <a:lvl2pPr algn="l">
              <a:defRPr sz="1200" b="0">
                <a:solidFill>
                  <a:srgbClr val="59657A"/>
                </a:solidFill>
                <a:latin typeface="Arial"/>
                <a:ea typeface="Arial"/>
                <a:cs typeface="Arial"/>
              </a:defRPr>
            </a:lvl2pPr>
            <a:lvl3pPr algn="l">
              <a:defRPr sz="1200" b="0">
                <a:solidFill>
                  <a:srgbClr val="59657A"/>
                </a:solidFill>
                <a:latin typeface="Arial"/>
                <a:ea typeface="Arial"/>
                <a:cs typeface="Arial"/>
              </a:defRPr>
            </a:lvl3pPr>
            <a:lvl4pPr algn="l">
              <a:defRPr sz="1200" b="0">
                <a:solidFill>
                  <a:srgbClr val="59657A"/>
                </a:solidFill>
                <a:latin typeface="Arial"/>
                <a:ea typeface="Arial"/>
                <a:cs typeface="Arial"/>
              </a:defRPr>
            </a:lvl4pPr>
            <a:lvl5pPr algn="l">
              <a:defRPr sz="1200" b="0">
                <a:solidFill>
                  <a:srgbClr val="59657A"/>
                </a:solidFill>
                <a:latin typeface="Arial"/>
                <a:ea typeface="Arial"/>
                <a:cs typeface="Arial"/>
              </a:defRPr>
            </a:lvl5pPr>
            <a:lvl6pPr algn="l">
              <a:defRPr sz="1200" b="0">
                <a:solidFill>
                  <a:srgbClr val="59657A"/>
                </a:solidFill>
                <a:latin typeface="Arial"/>
                <a:ea typeface="Arial"/>
                <a:cs typeface="Arial"/>
              </a:defRPr>
            </a:lvl6pPr>
            <a:lvl7pPr algn="l">
              <a:defRPr sz="1200" b="0">
                <a:solidFill>
                  <a:srgbClr val="59657A"/>
                </a:solidFill>
                <a:latin typeface="Arial"/>
                <a:ea typeface="Arial"/>
                <a:cs typeface="Arial"/>
              </a:defRPr>
            </a:lvl7pPr>
            <a:lvl8pPr algn="l">
              <a:defRPr sz="1200" b="0">
                <a:solidFill>
                  <a:srgbClr val="59657A"/>
                </a:solidFill>
                <a:latin typeface="Arial"/>
                <a:ea typeface="Arial"/>
                <a:cs typeface="Arial"/>
              </a:defRPr>
            </a:lvl8pPr>
            <a:lvl9pPr algn="l">
              <a:defRPr sz="1200" b="0">
                <a:solidFill>
                  <a:srgbClr val="59657A"/>
                </a:solidFill>
                <a:latin typeface="Arial"/>
                <a:ea typeface="Arial"/>
                <a:cs typeface="Arial"/>
              </a:defRPr>
            </a:lvl9pPr>
          </a:lstStyle>
          <a:p>
            <a:pPr algn="l">
              <a:defRPr sz="1200" b="0">
                <a:solidFill>
                  <a:srgbClr val="59657A"/>
                </a:solidFill>
                <a:latin typeface="Arial"/>
                <a:ea typeface="Arial"/>
                <a:cs typeface="Arial"/>
              </a:defRPr>
            </a:pPr>
            <a:r>
              <a:rPr sz="1200" b="0">
                <a:solidFill>
                  <a:srgbClr val="59657A"/>
                </a:solidFill>
                <a:latin typeface="Arial"/>
                <a:ea typeface="Arial"/>
                <a:cs typeface="Arial"/>
              </a:rPr>
              <a:t>Anagnostides, Panageas &amp; Yan, 2026</a:t>
            </a:r>
          </a:p>
        </p:txBody>
      </p:sp>
      <p:pic>
        <p:nvPicPr>
          <p:cNvPr id="20" name="IguanaTex-equation-17" descr="LaTeX equation, editable with IguanaTex. Each player chooses $0$ or $1$. Each edge gives its two players the same reward.">
            <a:extLst>
              <a:ext uri="{FF2B5EF4-FFF2-40B4-BE49-F238E27FC236}">
                <a16:creationId xmlns:a16="http://schemas.microsoft.com/office/drawing/2014/main" id="{8F6A3B54-64E6-42CC-90E8-76DE5C87B8F7}"/>
              </a:ext>
            </a:extLst>
          </p:cNvPr>
          <p:cNvPicPr>
            <a:picLocks noChangeAspect="1"/>
          </p:cNvPicPr>
          <p:nvPr>
            <p:custDataLst>
              <p:tags r:id="rId1"/>
            </p:custDataLst>
          </p:nvPr>
        </p:nvPicPr>
        <p:blipFill>
          <a:blip r:embed="rId12"/>
          <a:stretch/>
        </p:blipFill>
        <p:spPr>
          <a:xfrm>
            <a:off x="628650" y="1199388"/>
            <a:ext cx="8694420" cy="306324"/>
          </a:xfrm>
          <a:prstGeom prst="rect">
            <a:avLst/>
          </a:prstGeom>
        </p:spPr>
      </p:pic>
      <p:pic>
        <p:nvPicPr>
          <p:cNvPr id="21" name="IguanaTex-equation-18" descr="LaTeX equation, editable with IguanaTex. $A$">
            <a:extLst>
              <a:ext uri="{FF2B5EF4-FFF2-40B4-BE49-F238E27FC236}">
                <a16:creationId xmlns:a16="http://schemas.microsoft.com/office/drawing/2014/main" id="{895C3B67-09AB-4956-8D09-2A2F0EA97BD7}"/>
              </a:ext>
            </a:extLst>
          </p:cNvPr>
          <p:cNvPicPr>
            <a:picLocks noChangeAspect="1"/>
          </p:cNvPicPr>
          <p:nvPr>
            <p:custDataLst>
              <p:tags r:id="rId2"/>
            </p:custDataLst>
          </p:nvPr>
        </p:nvPicPr>
        <p:blipFill>
          <a:blip r:embed="rId13"/>
          <a:stretch/>
        </p:blipFill>
        <p:spPr>
          <a:xfrm>
            <a:off x="2712034" y="2296554"/>
            <a:ext cx="290932" cy="264643"/>
          </a:xfrm>
          <a:prstGeom prst="rect">
            <a:avLst/>
          </a:prstGeom>
        </p:spPr>
      </p:pic>
      <p:pic>
        <p:nvPicPr>
          <p:cNvPr id="22" name="IguanaTex-equation-19" descr="LaTeX equation, editable with IguanaTex. $B$">
            <a:extLst>
              <a:ext uri="{FF2B5EF4-FFF2-40B4-BE49-F238E27FC236}">
                <a16:creationId xmlns:a16="http://schemas.microsoft.com/office/drawing/2014/main" id="{5FA4F52A-5FE8-4F40-8BEC-E80ACBA9672D}"/>
              </a:ext>
            </a:extLst>
          </p:cNvPr>
          <p:cNvPicPr>
            <a:picLocks noChangeAspect="1"/>
          </p:cNvPicPr>
          <p:nvPr>
            <p:custDataLst>
              <p:tags r:id="rId3"/>
            </p:custDataLst>
          </p:nvPr>
        </p:nvPicPr>
        <p:blipFill>
          <a:blip r:embed="rId14"/>
          <a:stretch/>
        </p:blipFill>
        <p:spPr>
          <a:xfrm>
            <a:off x="1017689" y="4498581"/>
            <a:ext cx="250622" cy="261137"/>
          </a:xfrm>
          <a:prstGeom prst="rect">
            <a:avLst/>
          </a:prstGeom>
        </p:spPr>
      </p:pic>
      <p:pic>
        <p:nvPicPr>
          <p:cNvPr id="23" name="IguanaTex-equation-20" descr="LaTeX equation, editable with IguanaTex. $C$">
            <a:extLst>
              <a:ext uri="{FF2B5EF4-FFF2-40B4-BE49-F238E27FC236}">
                <a16:creationId xmlns:a16="http://schemas.microsoft.com/office/drawing/2014/main" id="{62D24218-B759-4583-8D4C-4264306BC21F}"/>
              </a:ext>
            </a:extLst>
          </p:cNvPr>
          <p:cNvPicPr>
            <a:picLocks noChangeAspect="1"/>
          </p:cNvPicPr>
          <p:nvPr>
            <p:custDataLst>
              <p:tags r:id="rId4"/>
            </p:custDataLst>
          </p:nvPr>
        </p:nvPicPr>
        <p:blipFill>
          <a:blip r:embed="rId15"/>
          <a:stretch/>
        </p:blipFill>
        <p:spPr>
          <a:xfrm>
            <a:off x="4440555" y="4494200"/>
            <a:ext cx="262890" cy="269900"/>
          </a:xfrm>
          <a:prstGeom prst="rect">
            <a:avLst/>
          </a:prstGeom>
        </p:spPr>
      </p:pic>
      <p:pic>
        <p:nvPicPr>
          <p:cNvPr id="24" name="IguanaTex-equation-21" descr="LaTeX equation, editable with IguanaTex. \begin{tabular}{@{}l@{}}same choice\\$+1$\end{tabular}">
            <a:extLst>
              <a:ext uri="{FF2B5EF4-FFF2-40B4-BE49-F238E27FC236}">
                <a16:creationId xmlns:a16="http://schemas.microsoft.com/office/drawing/2014/main" id="{A106CAD2-5A8B-4B71-9165-24EF2AEA82CB}"/>
              </a:ext>
            </a:extLst>
          </p:cNvPr>
          <p:cNvPicPr>
            <a:picLocks noChangeAspect="1"/>
          </p:cNvPicPr>
          <p:nvPr>
            <p:custDataLst>
              <p:tags r:id="rId5"/>
            </p:custDataLst>
          </p:nvPr>
        </p:nvPicPr>
        <p:blipFill>
          <a:blip r:embed="rId16"/>
          <a:stretch/>
        </p:blipFill>
        <p:spPr>
          <a:xfrm>
            <a:off x="523875" y="3104159"/>
            <a:ext cx="1267358" cy="592531"/>
          </a:xfrm>
          <a:prstGeom prst="rect">
            <a:avLst/>
          </a:prstGeom>
        </p:spPr>
      </p:pic>
      <p:pic>
        <p:nvPicPr>
          <p:cNvPr id="25" name="IguanaTex-equation-22" descr="LaTeX equation, editable with IguanaTex. \begin{tabular}{@{}l@{}}same choice\\$+1$\end{tabular}">
            <a:extLst>
              <a:ext uri="{FF2B5EF4-FFF2-40B4-BE49-F238E27FC236}">
                <a16:creationId xmlns:a16="http://schemas.microsoft.com/office/drawing/2014/main" id="{64A70C5A-9A5E-49EB-BC17-04B678081B99}"/>
              </a:ext>
            </a:extLst>
          </p:cNvPr>
          <p:cNvPicPr>
            <a:picLocks noChangeAspect="1"/>
          </p:cNvPicPr>
          <p:nvPr>
            <p:custDataLst>
              <p:tags r:id="rId6"/>
            </p:custDataLst>
          </p:nvPr>
        </p:nvPicPr>
        <p:blipFill>
          <a:blip r:embed="rId16"/>
          <a:stretch/>
        </p:blipFill>
        <p:spPr>
          <a:xfrm>
            <a:off x="3857625" y="3104159"/>
            <a:ext cx="1267358" cy="592531"/>
          </a:xfrm>
          <a:prstGeom prst="rect">
            <a:avLst/>
          </a:prstGeom>
        </p:spPr>
      </p:pic>
      <p:pic>
        <p:nvPicPr>
          <p:cNvPr id="26" name="IguanaTex-equation-23" descr="LaTeX equation, editable with IguanaTex. different choices: $+1$">
            <a:extLst>
              <a:ext uri="{FF2B5EF4-FFF2-40B4-BE49-F238E27FC236}">
                <a16:creationId xmlns:a16="http://schemas.microsoft.com/office/drawing/2014/main" id="{3878EF67-EEF3-4801-A39F-DDF6B2598007}"/>
              </a:ext>
            </a:extLst>
          </p:cNvPr>
          <p:cNvPicPr>
            <a:picLocks noChangeAspect="1"/>
          </p:cNvPicPr>
          <p:nvPr>
            <p:custDataLst>
              <p:tags r:id="rId7"/>
            </p:custDataLst>
          </p:nvPr>
        </p:nvPicPr>
        <p:blipFill>
          <a:blip r:embed="rId17"/>
          <a:stretch/>
        </p:blipFill>
        <p:spPr>
          <a:xfrm>
            <a:off x="1923669" y="5208575"/>
            <a:ext cx="2153412" cy="231800"/>
          </a:xfrm>
          <a:prstGeom prst="rect">
            <a:avLst/>
          </a:prstGeom>
        </p:spPr>
      </p:pic>
      <p:pic>
        <p:nvPicPr>
          <p:cNvPr id="27" name="IguanaTex-equation-24" descr="LaTeX equation, editable with IguanaTex. \begin{tabular}{@{}l@{}}Other outcomes pay $0$.\\Each player adds the rewards on their edges.\end{tabular}">
            <a:extLst>
              <a:ext uri="{FF2B5EF4-FFF2-40B4-BE49-F238E27FC236}">
                <a16:creationId xmlns:a16="http://schemas.microsoft.com/office/drawing/2014/main" id="{2B61F29D-3C6F-40EA-B8B4-EE1225B48923}"/>
              </a:ext>
            </a:extLst>
          </p:cNvPr>
          <p:cNvPicPr>
            <a:picLocks noChangeAspect="1"/>
          </p:cNvPicPr>
          <p:nvPr>
            <p:custDataLst>
              <p:tags r:id="rId8"/>
            </p:custDataLst>
          </p:nvPr>
        </p:nvPicPr>
        <p:blipFill>
          <a:blip r:embed="rId18"/>
          <a:stretch/>
        </p:blipFill>
        <p:spPr>
          <a:xfrm>
            <a:off x="619125" y="5685015"/>
            <a:ext cx="4096512" cy="526694"/>
          </a:xfrm>
          <a:prstGeom prst="rect">
            <a:avLst/>
          </a:prstGeom>
        </p:spPr>
      </p:pic>
      <p:pic>
        <p:nvPicPr>
          <p:cNvPr id="28" name="IguanaTex-equation-25" descr="LaTeX equation, editable with IguanaTex. Formally: $\mathsf{CLS}$-complete.">
            <a:extLst>
              <a:ext uri="{FF2B5EF4-FFF2-40B4-BE49-F238E27FC236}">
                <a16:creationId xmlns:a16="http://schemas.microsoft.com/office/drawing/2014/main" id="{7A179A6B-0D5D-47CC-9EC6-782249FE546F}"/>
              </a:ext>
            </a:extLst>
          </p:cNvPr>
          <p:cNvPicPr>
            <a:picLocks noChangeAspect="1"/>
          </p:cNvPicPr>
          <p:nvPr>
            <p:custDataLst>
              <p:tags r:id="rId9"/>
            </p:custDataLst>
          </p:nvPr>
        </p:nvPicPr>
        <p:blipFill>
          <a:blip r:embed="rId19"/>
          <a:stretch/>
        </p:blipFill>
        <p:spPr>
          <a:xfrm>
            <a:off x="6305550" y="5707609"/>
            <a:ext cx="2697251" cy="291008"/>
          </a:xfrm>
          <a:prstGeom prst="rect">
            <a:avLst/>
          </a:prstGeom>
        </p:spPr>
      </p:pic>
    </p:spTree>
    <p:extLst>
      <p:ext uri="{BB962C8B-B14F-4D97-AF65-F5344CB8AC3E}">
        <p14:creationId xmlns:p14="http://schemas.microsoft.com/office/powerpoint/2010/main" val="643615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cxnSp>
        <p:nvCxnSpPr>
          <p:cNvPr id="18" name="Straight Arrow Connector 17">
            <a:extLst>
              <a:ext uri="{FF2B5EF4-FFF2-40B4-BE49-F238E27FC236}">
                <a16:creationId xmlns:a16="http://schemas.microsoft.com/office/drawing/2014/main" id="{606E2DC9-6AA2-4616-A6A5-DE52264B0060}"/>
              </a:ext>
            </a:extLst>
          </p:cNvPr>
          <p:cNvCxnSpPr>
            <a:stCxn id="15" idx="6"/>
            <a:endCxn id="16" idx="2"/>
          </p:cNvCxnSpPr>
          <p:nvPr/>
        </p:nvCxnSpPr>
        <p:spPr>
          <a:xfrm>
            <a:off x="10210800" y="3028950"/>
            <a:ext cx="342900" cy="0"/>
          </a:xfrm>
          <a:prstGeom prst="straightConnector1">
            <a:avLst/>
          </a:prstGeom>
          <a:ln w="38100">
            <a:solidFill>
              <a:srgbClr val="D96546"/>
            </a:solidFill>
            <a:prstDash val="solid"/>
          </a:ln>
        </p:spPr>
      </p:cxnSp>
      <p:cxnSp>
        <p:nvCxnSpPr>
          <p:cNvPr id="17" name="Straight Arrow Connector 16">
            <a:extLst>
              <a:ext uri="{FF2B5EF4-FFF2-40B4-BE49-F238E27FC236}">
                <a16:creationId xmlns:a16="http://schemas.microsoft.com/office/drawing/2014/main" id="{E97DD810-C75B-43C0-A52E-501B762588D9}"/>
              </a:ext>
            </a:extLst>
          </p:cNvPr>
          <p:cNvCxnSpPr>
            <a:stCxn id="13" idx="6"/>
            <a:endCxn id="14" idx="2"/>
          </p:cNvCxnSpPr>
          <p:nvPr/>
        </p:nvCxnSpPr>
        <p:spPr>
          <a:xfrm>
            <a:off x="7324725" y="3028950"/>
            <a:ext cx="342900" cy="0"/>
          </a:xfrm>
          <a:prstGeom prst="straightConnector1">
            <a:avLst/>
          </a:prstGeom>
          <a:ln w="38100">
            <a:solidFill>
              <a:srgbClr val="2D5BCE"/>
            </a:solidFill>
            <a:prstDash val="solid"/>
          </a:ln>
        </p:spPr>
      </p:cxnSp>
      <p:cxnSp>
        <p:nvCxnSpPr>
          <p:cNvPr id="9" name="Straight Arrow Connector 8">
            <a:extLst>
              <a:ext uri="{FF2B5EF4-FFF2-40B4-BE49-F238E27FC236}">
                <a16:creationId xmlns:a16="http://schemas.microsoft.com/office/drawing/2014/main" id="{2CB1A820-1F26-45DB-AE99-2B0C4A8879C1}"/>
              </a:ext>
            </a:extLst>
          </p:cNvPr>
          <p:cNvCxnSpPr>
            <a:stCxn id="6" idx="6"/>
            <a:endCxn id="7" idx="2"/>
          </p:cNvCxnSpPr>
          <p:nvPr/>
        </p:nvCxnSpPr>
        <p:spPr>
          <a:xfrm>
            <a:off x="1628775" y="3028950"/>
            <a:ext cx="533400" cy="0"/>
          </a:xfrm>
          <a:prstGeom prst="straightConnector1">
            <a:avLst/>
          </a:prstGeom>
          <a:ln w="38100">
            <a:solidFill>
              <a:srgbClr val="2D5BCE"/>
            </a:solidFill>
            <a:prstDash val="solid"/>
          </a:ln>
        </p:spPr>
      </p:cxnSp>
      <p:sp>
        <p:nvSpPr>
          <p:cNvPr id="39" name="title">
            <a:extLst>
              <a:ext uri="{FF2B5EF4-FFF2-40B4-BE49-F238E27FC236}">
                <a16:creationId xmlns:a16="http://schemas.microsoft.com/office/drawing/2014/main" id="{60E32631-5865-4E09-8DFA-77054573D491}"/>
              </a:ext>
            </a:extLst>
          </p:cNvPr>
          <p:cNvSpPr>
            <a:spLocks noGrp="1"/>
          </p:cNvSpPr>
          <p:nvPr/>
        </p:nvSpPr>
        <p:spPr>
          <a:xfrm>
            <a:off x="609600" y="400050"/>
            <a:ext cx="10972800" cy="666750"/>
          </a:xfrm>
          <a:prstGeom prst="rect">
            <a:avLst/>
          </a:prstGeom>
          <a:noFill/>
          <a:ln w="0">
            <a:noFill/>
            <a:prstDash val="solid"/>
          </a:ln>
        </p:spPr>
        <p:txBody>
          <a:bodyPr wrap="square" lIns="0" tIns="0" rIns="0" bIns="0" anchor="ctr">
            <a:noAutofit/>
          </a:bodyPr>
          <a:lstStyle>
            <a:defPPr algn="l">
              <a:defRPr sz="3150" b="1">
                <a:solidFill>
                  <a:srgbClr val="14213D"/>
                </a:solidFill>
                <a:latin typeface="Arial"/>
                <a:ea typeface="Arial"/>
                <a:cs typeface="Arial"/>
              </a:defRPr>
            </a:defPPr>
            <a:lvl1pPr algn="l">
              <a:defRPr sz="3150" b="1">
                <a:solidFill>
                  <a:srgbClr val="14213D"/>
                </a:solidFill>
                <a:latin typeface="Arial"/>
                <a:ea typeface="Arial"/>
                <a:cs typeface="Arial"/>
              </a:defRPr>
            </a:lvl1pPr>
            <a:lvl2pPr algn="l">
              <a:defRPr sz="3150" b="1">
                <a:solidFill>
                  <a:srgbClr val="14213D"/>
                </a:solidFill>
                <a:latin typeface="Arial"/>
                <a:ea typeface="Arial"/>
                <a:cs typeface="Arial"/>
              </a:defRPr>
            </a:lvl2pPr>
            <a:lvl3pPr algn="l">
              <a:defRPr sz="3150" b="1">
                <a:solidFill>
                  <a:srgbClr val="14213D"/>
                </a:solidFill>
                <a:latin typeface="Arial"/>
                <a:ea typeface="Arial"/>
                <a:cs typeface="Arial"/>
              </a:defRPr>
            </a:lvl3pPr>
            <a:lvl4pPr algn="l">
              <a:defRPr sz="3150" b="1">
                <a:solidFill>
                  <a:srgbClr val="14213D"/>
                </a:solidFill>
                <a:latin typeface="Arial"/>
                <a:ea typeface="Arial"/>
                <a:cs typeface="Arial"/>
              </a:defRPr>
            </a:lvl4pPr>
            <a:lvl5pPr algn="l">
              <a:defRPr sz="3150" b="1">
                <a:solidFill>
                  <a:srgbClr val="14213D"/>
                </a:solidFill>
                <a:latin typeface="Arial"/>
                <a:ea typeface="Arial"/>
                <a:cs typeface="Arial"/>
              </a:defRPr>
            </a:lvl5pPr>
            <a:lvl6pPr algn="l">
              <a:defRPr sz="3150" b="1">
                <a:solidFill>
                  <a:srgbClr val="14213D"/>
                </a:solidFill>
                <a:latin typeface="Arial"/>
                <a:ea typeface="Arial"/>
                <a:cs typeface="Arial"/>
              </a:defRPr>
            </a:lvl6pPr>
            <a:lvl7pPr algn="l">
              <a:defRPr sz="3150" b="1">
                <a:solidFill>
                  <a:srgbClr val="14213D"/>
                </a:solidFill>
                <a:latin typeface="Arial"/>
                <a:ea typeface="Arial"/>
                <a:cs typeface="Arial"/>
              </a:defRPr>
            </a:lvl7pPr>
            <a:lvl8pPr algn="l">
              <a:defRPr sz="3150" b="1">
                <a:solidFill>
                  <a:srgbClr val="14213D"/>
                </a:solidFill>
                <a:latin typeface="Arial"/>
                <a:ea typeface="Arial"/>
                <a:cs typeface="Arial"/>
              </a:defRPr>
            </a:lvl8pPr>
            <a:lvl9pPr algn="l">
              <a:defRPr sz="3150" b="1">
                <a:solidFill>
                  <a:srgbClr val="14213D"/>
                </a:solidFill>
                <a:latin typeface="Arial"/>
                <a:ea typeface="Arial"/>
                <a:cs typeface="Arial"/>
              </a:defRPr>
            </a:lvl9pPr>
          </a:lstStyle>
          <a:p>
            <a:pPr algn="l">
              <a:defRPr sz="3150" b="1">
                <a:solidFill>
                  <a:srgbClr val="14213D"/>
                </a:solidFill>
                <a:latin typeface="Arial"/>
                <a:ea typeface="Arial"/>
                <a:cs typeface="Arial"/>
              </a:defRPr>
            </a:pPr>
            <a:r>
              <a:rPr sz="3150" b="1">
                <a:solidFill>
                  <a:srgbClr val="14213D"/>
                </a:solidFill>
                <a:latin typeface="Arial"/>
                <a:ea typeface="Arial"/>
                <a:cs typeface="Arial"/>
              </a:rPr>
              <a:t>Teams combine cooperation and competition</a:t>
            </a:r>
          </a:p>
        </p:txBody>
      </p:sp>
      <p:sp>
        <p:nvSpPr>
          <p:cNvPr id="2" name="subtitle">
            <a:extLst>
              <a:ext uri="{FF2B5EF4-FFF2-40B4-BE49-F238E27FC236}">
                <a16:creationId xmlns:a16="http://schemas.microsoft.com/office/drawing/2014/main" id="{60B3BA24-FBA4-4F47-8444-AE8BAC2E29C5}"/>
              </a:ext>
            </a:extLst>
          </p:cNvPr>
          <p:cNvSpPr>
            <a:spLocks noGrp="1"/>
          </p:cNvSpPr>
          <p:nvPr/>
        </p:nvSpPr>
        <p:spPr>
          <a:xfrm>
            <a:off x="628650" y="1123950"/>
            <a:ext cx="10934700" cy="457200"/>
          </a:xfrm>
          <a:prstGeom prst="rect">
            <a:avLst/>
          </a:prstGeom>
          <a:noFill/>
          <a:ln w="0">
            <a:noFill/>
            <a:prstDash val="solid"/>
          </a:ln>
        </p:spPr>
        <p:txBody>
          <a:bodyPr wrap="square" lIns="0" tIns="0" rIns="0" bIns="0" anchor="ctr">
            <a:noAutofit/>
          </a:bodyPr>
          <a:lstStyle>
            <a:defPPr algn="l">
              <a:defRPr sz="1875" b="0">
                <a:solidFill>
                  <a:srgbClr val="59657A"/>
                </a:solidFill>
                <a:latin typeface="Arial"/>
                <a:ea typeface="Arial"/>
                <a:cs typeface="Arial"/>
              </a:defRPr>
            </a:defPPr>
            <a:lvl1pPr algn="l">
              <a:defRPr sz="1875" b="0">
                <a:solidFill>
                  <a:srgbClr val="59657A"/>
                </a:solidFill>
                <a:latin typeface="Arial"/>
                <a:ea typeface="Arial"/>
                <a:cs typeface="Arial"/>
              </a:defRPr>
            </a:lvl1pPr>
            <a:lvl2pPr algn="l">
              <a:defRPr sz="1875" b="0">
                <a:solidFill>
                  <a:srgbClr val="59657A"/>
                </a:solidFill>
                <a:latin typeface="Arial"/>
                <a:ea typeface="Arial"/>
                <a:cs typeface="Arial"/>
              </a:defRPr>
            </a:lvl2pPr>
            <a:lvl3pPr algn="l">
              <a:defRPr sz="1875" b="0">
                <a:solidFill>
                  <a:srgbClr val="59657A"/>
                </a:solidFill>
                <a:latin typeface="Arial"/>
                <a:ea typeface="Arial"/>
                <a:cs typeface="Arial"/>
              </a:defRPr>
            </a:lvl3pPr>
            <a:lvl4pPr algn="l">
              <a:defRPr sz="1875" b="0">
                <a:solidFill>
                  <a:srgbClr val="59657A"/>
                </a:solidFill>
                <a:latin typeface="Arial"/>
                <a:ea typeface="Arial"/>
                <a:cs typeface="Arial"/>
              </a:defRPr>
            </a:lvl4pPr>
            <a:lvl5pPr algn="l">
              <a:defRPr sz="1875" b="0">
                <a:solidFill>
                  <a:srgbClr val="59657A"/>
                </a:solidFill>
                <a:latin typeface="Arial"/>
                <a:ea typeface="Arial"/>
                <a:cs typeface="Arial"/>
              </a:defRPr>
            </a:lvl5pPr>
            <a:lvl6pPr algn="l">
              <a:defRPr sz="1875" b="0">
                <a:solidFill>
                  <a:srgbClr val="59657A"/>
                </a:solidFill>
                <a:latin typeface="Arial"/>
                <a:ea typeface="Arial"/>
                <a:cs typeface="Arial"/>
              </a:defRPr>
            </a:lvl6pPr>
            <a:lvl7pPr algn="l">
              <a:defRPr sz="1875" b="0">
                <a:solidFill>
                  <a:srgbClr val="59657A"/>
                </a:solidFill>
                <a:latin typeface="Arial"/>
                <a:ea typeface="Arial"/>
                <a:cs typeface="Arial"/>
              </a:defRPr>
            </a:lvl7pPr>
            <a:lvl8pPr algn="l">
              <a:defRPr sz="1875" b="0">
                <a:solidFill>
                  <a:srgbClr val="59657A"/>
                </a:solidFill>
                <a:latin typeface="Arial"/>
                <a:ea typeface="Arial"/>
                <a:cs typeface="Arial"/>
              </a:defRPr>
            </a:lvl8pPr>
            <a:lvl9pPr algn="l">
              <a:defRPr sz="1875" b="0">
                <a:solidFill>
                  <a:srgbClr val="59657A"/>
                </a:solidFill>
                <a:latin typeface="Arial"/>
                <a:ea typeface="Arial"/>
                <a:cs typeface="Arial"/>
              </a:defRPr>
            </a:lvl9pPr>
          </a:lstStyle>
          <a:p>
            <a:pPr algn="l">
              <a:defRPr sz="1875" b="0">
                <a:solidFill>
                  <a:srgbClr val="59657A"/>
                </a:solidFill>
                <a:latin typeface="Arial"/>
                <a:ea typeface="Arial"/>
                <a:cs typeface="Arial"/>
              </a:defRPr>
            </a:pPr>
            <a:r>
              <a:rPr sz="1875" b="0">
                <a:solidFill>
                  <a:srgbClr val="59657A"/>
                </a:solidFill>
                <a:latin typeface="Arial"/>
                <a:ea typeface="Arial"/>
                <a:cs typeface="Arial"/>
              </a:rPr>
              <a:t>Teammates share a payoff, but make independent decisions.</a:t>
            </a:r>
          </a:p>
        </p:txBody>
      </p:sp>
      <p:sp>
        <p:nvSpPr>
          <p:cNvPr id="3" name="slide-number">
            <a:extLst>
              <a:ext uri="{FF2B5EF4-FFF2-40B4-BE49-F238E27FC236}">
                <a16:creationId xmlns:a16="http://schemas.microsoft.com/office/drawing/2014/main" id="{9800B0F2-55BB-4084-8CFB-53E7F8A02033}"/>
              </a:ext>
            </a:extLst>
          </p:cNvPr>
          <p:cNvSpPr>
            <a:spLocks noGrp="1"/>
          </p:cNvSpPr>
          <p:nvPr/>
        </p:nvSpPr>
        <p:spPr>
          <a:xfrm>
            <a:off x="11144250" y="6372225"/>
            <a:ext cx="438150" cy="247650"/>
          </a:xfrm>
          <a:prstGeom prst="rect">
            <a:avLst/>
          </a:prstGeom>
          <a:noFill/>
          <a:ln w="0">
            <a:noFill/>
            <a:prstDash val="solid"/>
          </a:ln>
        </p:spPr>
        <p:txBody>
          <a:bodyPr wrap="square" lIns="0" tIns="0" rIns="0" bIns="0" anchor="ctr">
            <a:noAutofit/>
          </a:bodyPr>
          <a:lstStyle>
            <a:defPPr algn="r">
              <a:defRPr sz="1275" b="0">
                <a:solidFill>
                  <a:srgbClr val="59657A"/>
                </a:solidFill>
                <a:latin typeface="Arial"/>
                <a:ea typeface="Arial"/>
                <a:cs typeface="Arial"/>
              </a:defRPr>
            </a:defPPr>
            <a:lvl1pPr algn="r">
              <a:defRPr sz="1275" b="0">
                <a:solidFill>
                  <a:srgbClr val="59657A"/>
                </a:solidFill>
                <a:latin typeface="Arial"/>
                <a:ea typeface="Arial"/>
                <a:cs typeface="Arial"/>
              </a:defRPr>
            </a:lvl1pPr>
            <a:lvl2pPr algn="r">
              <a:defRPr sz="1275" b="0">
                <a:solidFill>
                  <a:srgbClr val="59657A"/>
                </a:solidFill>
                <a:latin typeface="Arial"/>
                <a:ea typeface="Arial"/>
                <a:cs typeface="Arial"/>
              </a:defRPr>
            </a:lvl2pPr>
            <a:lvl3pPr algn="r">
              <a:defRPr sz="1275" b="0">
                <a:solidFill>
                  <a:srgbClr val="59657A"/>
                </a:solidFill>
                <a:latin typeface="Arial"/>
                <a:ea typeface="Arial"/>
                <a:cs typeface="Arial"/>
              </a:defRPr>
            </a:lvl3pPr>
            <a:lvl4pPr algn="r">
              <a:defRPr sz="1275" b="0">
                <a:solidFill>
                  <a:srgbClr val="59657A"/>
                </a:solidFill>
                <a:latin typeface="Arial"/>
                <a:ea typeface="Arial"/>
                <a:cs typeface="Arial"/>
              </a:defRPr>
            </a:lvl4pPr>
            <a:lvl5pPr algn="r">
              <a:defRPr sz="1275" b="0">
                <a:solidFill>
                  <a:srgbClr val="59657A"/>
                </a:solidFill>
                <a:latin typeface="Arial"/>
                <a:ea typeface="Arial"/>
                <a:cs typeface="Arial"/>
              </a:defRPr>
            </a:lvl5pPr>
            <a:lvl6pPr algn="r">
              <a:defRPr sz="1275" b="0">
                <a:solidFill>
                  <a:srgbClr val="59657A"/>
                </a:solidFill>
                <a:latin typeface="Arial"/>
                <a:ea typeface="Arial"/>
                <a:cs typeface="Arial"/>
              </a:defRPr>
            </a:lvl6pPr>
            <a:lvl7pPr algn="r">
              <a:defRPr sz="1275" b="0">
                <a:solidFill>
                  <a:srgbClr val="59657A"/>
                </a:solidFill>
                <a:latin typeface="Arial"/>
                <a:ea typeface="Arial"/>
                <a:cs typeface="Arial"/>
              </a:defRPr>
            </a:lvl7pPr>
            <a:lvl8pPr algn="r">
              <a:defRPr sz="1275" b="0">
                <a:solidFill>
                  <a:srgbClr val="59657A"/>
                </a:solidFill>
                <a:latin typeface="Arial"/>
                <a:ea typeface="Arial"/>
                <a:cs typeface="Arial"/>
              </a:defRPr>
            </a:lvl8pPr>
            <a:lvl9pPr algn="r">
              <a:defRPr sz="1275" b="0">
                <a:solidFill>
                  <a:srgbClr val="59657A"/>
                </a:solidFill>
                <a:latin typeface="Arial"/>
                <a:ea typeface="Arial"/>
                <a:cs typeface="Arial"/>
              </a:defRPr>
            </a:lvl9pPr>
          </a:lstStyle>
          <a:p>
            <a:pPr algn="r">
              <a:defRPr sz="1275" b="0">
                <a:solidFill>
                  <a:srgbClr val="59657A"/>
                </a:solidFill>
                <a:latin typeface="Arial"/>
                <a:ea typeface="Arial"/>
                <a:cs typeface="Arial"/>
              </a:defRPr>
            </a:pPr>
            <a:r>
              <a:rPr sz="1275" b="0">
                <a:solidFill>
                  <a:srgbClr val="59657A"/>
                </a:solidFill>
                <a:latin typeface="Arial"/>
                <a:ea typeface="Arial"/>
                <a:cs typeface="Arial"/>
              </a:rPr>
              <a:t>07</a:t>
            </a:r>
          </a:p>
        </p:txBody>
      </p:sp>
      <p:sp>
        <p:nvSpPr>
          <p:cNvPr id="4" name="one-heading">
            <a:extLst>
              <a:ext uri="{FF2B5EF4-FFF2-40B4-BE49-F238E27FC236}">
                <a16:creationId xmlns:a16="http://schemas.microsoft.com/office/drawing/2014/main" id="{16CA8D88-66F8-4B4A-A184-A44C42EF11B5}"/>
              </a:ext>
            </a:extLst>
          </p:cNvPr>
          <p:cNvSpPr>
            <a:spLocks noGrp="1"/>
          </p:cNvSpPr>
          <p:nvPr/>
        </p:nvSpPr>
        <p:spPr>
          <a:xfrm>
            <a:off x="609600" y="1762125"/>
            <a:ext cx="5219700" cy="428625"/>
          </a:xfrm>
          <a:prstGeom prst="rect">
            <a:avLst/>
          </a:prstGeom>
          <a:noFill/>
          <a:ln w="0">
            <a:noFill/>
            <a:prstDash val="solid"/>
          </a:ln>
        </p:spPr>
        <p:txBody>
          <a:bodyPr wrap="square" lIns="0" tIns="0" rIns="0" bIns="0" anchor="ctr">
            <a:noAutofit/>
          </a:bodyPr>
          <a:lstStyle>
            <a:defPPr algn="l">
              <a:defRPr sz="2250" b="1">
                <a:solidFill>
                  <a:srgbClr val="008F84"/>
                </a:solidFill>
                <a:latin typeface="Arial"/>
                <a:ea typeface="Arial"/>
                <a:cs typeface="Arial"/>
              </a:defRPr>
            </a:defPPr>
            <a:lvl1pPr algn="l">
              <a:defRPr sz="2250" b="1">
                <a:solidFill>
                  <a:srgbClr val="008F84"/>
                </a:solidFill>
                <a:latin typeface="Arial"/>
                <a:ea typeface="Arial"/>
                <a:cs typeface="Arial"/>
              </a:defRPr>
            </a:lvl1pPr>
            <a:lvl2pPr algn="l">
              <a:defRPr sz="2250" b="1">
                <a:solidFill>
                  <a:srgbClr val="008F84"/>
                </a:solidFill>
                <a:latin typeface="Arial"/>
                <a:ea typeface="Arial"/>
                <a:cs typeface="Arial"/>
              </a:defRPr>
            </a:lvl2pPr>
            <a:lvl3pPr algn="l">
              <a:defRPr sz="2250" b="1">
                <a:solidFill>
                  <a:srgbClr val="008F84"/>
                </a:solidFill>
                <a:latin typeface="Arial"/>
                <a:ea typeface="Arial"/>
                <a:cs typeface="Arial"/>
              </a:defRPr>
            </a:lvl3pPr>
            <a:lvl4pPr algn="l">
              <a:defRPr sz="2250" b="1">
                <a:solidFill>
                  <a:srgbClr val="008F84"/>
                </a:solidFill>
                <a:latin typeface="Arial"/>
                <a:ea typeface="Arial"/>
                <a:cs typeface="Arial"/>
              </a:defRPr>
            </a:lvl4pPr>
            <a:lvl5pPr algn="l">
              <a:defRPr sz="2250" b="1">
                <a:solidFill>
                  <a:srgbClr val="008F84"/>
                </a:solidFill>
                <a:latin typeface="Arial"/>
                <a:ea typeface="Arial"/>
                <a:cs typeface="Arial"/>
              </a:defRPr>
            </a:lvl5pPr>
            <a:lvl6pPr algn="l">
              <a:defRPr sz="2250" b="1">
                <a:solidFill>
                  <a:srgbClr val="008F84"/>
                </a:solidFill>
                <a:latin typeface="Arial"/>
                <a:ea typeface="Arial"/>
                <a:cs typeface="Arial"/>
              </a:defRPr>
            </a:lvl6pPr>
            <a:lvl7pPr algn="l">
              <a:defRPr sz="2250" b="1">
                <a:solidFill>
                  <a:srgbClr val="008F84"/>
                </a:solidFill>
                <a:latin typeface="Arial"/>
                <a:ea typeface="Arial"/>
                <a:cs typeface="Arial"/>
              </a:defRPr>
            </a:lvl7pPr>
            <a:lvl8pPr algn="l">
              <a:defRPr sz="2250" b="1">
                <a:solidFill>
                  <a:srgbClr val="008F84"/>
                </a:solidFill>
                <a:latin typeface="Arial"/>
                <a:ea typeface="Arial"/>
                <a:cs typeface="Arial"/>
              </a:defRPr>
            </a:lvl8pPr>
            <a:lvl9pPr algn="l">
              <a:defRPr sz="2250" b="1">
                <a:solidFill>
                  <a:srgbClr val="008F84"/>
                </a:solidFill>
                <a:latin typeface="Arial"/>
                <a:ea typeface="Arial"/>
                <a:cs typeface="Arial"/>
              </a:defRPr>
            </a:lvl9pPr>
          </a:lstStyle>
          <a:p>
            <a:pPr algn="l">
              <a:defRPr sz="2250" b="1">
                <a:solidFill>
                  <a:srgbClr val="008F84"/>
                </a:solidFill>
                <a:latin typeface="Arial"/>
                <a:ea typeface="Arial"/>
                <a:cs typeface="Arial"/>
              </a:defRPr>
            </a:pPr>
            <a:r>
              <a:rPr sz="2250" b="1">
                <a:solidFill>
                  <a:srgbClr val="008F84"/>
                </a:solidFill>
                <a:latin typeface="Arial"/>
                <a:ea typeface="Arial"/>
                <a:cs typeface="Arial"/>
              </a:rPr>
              <a:t>A team vs. one opponent</a:t>
            </a:r>
          </a:p>
        </p:txBody>
      </p:sp>
      <p:sp>
        <p:nvSpPr>
          <p:cNvPr id="5" name="two-heading">
            <a:extLst>
              <a:ext uri="{FF2B5EF4-FFF2-40B4-BE49-F238E27FC236}">
                <a16:creationId xmlns:a16="http://schemas.microsoft.com/office/drawing/2014/main" id="{4D717492-9E20-4880-B2BB-753B85F22A75}"/>
              </a:ext>
            </a:extLst>
          </p:cNvPr>
          <p:cNvSpPr>
            <a:spLocks noGrp="1"/>
          </p:cNvSpPr>
          <p:nvPr/>
        </p:nvSpPr>
        <p:spPr>
          <a:xfrm>
            <a:off x="6419850" y="1762125"/>
            <a:ext cx="5162550" cy="428625"/>
          </a:xfrm>
          <a:prstGeom prst="rect">
            <a:avLst/>
          </a:prstGeom>
          <a:noFill/>
          <a:ln w="0">
            <a:noFill/>
            <a:prstDash val="solid"/>
          </a:ln>
        </p:spPr>
        <p:txBody>
          <a:bodyPr wrap="square" lIns="0" tIns="0" rIns="0" bIns="0" anchor="ctr">
            <a:noAutofit/>
          </a:bodyPr>
          <a:lstStyle>
            <a:defPPr algn="l">
              <a:defRPr sz="2250" b="1">
                <a:solidFill>
                  <a:srgbClr val="D96546"/>
                </a:solidFill>
                <a:latin typeface="Arial"/>
                <a:ea typeface="Arial"/>
                <a:cs typeface="Arial"/>
              </a:defRPr>
            </a:defPPr>
            <a:lvl1pPr algn="l">
              <a:defRPr sz="2250" b="1">
                <a:solidFill>
                  <a:srgbClr val="D96546"/>
                </a:solidFill>
                <a:latin typeface="Arial"/>
                <a:ea typeface="Arial"/>
                <a:cs typeface="Arial"/>
              </a:defRPr>
            </a:lvl1pPr>
            <a:lvl2pPr algn="l">
              <a:defRPr sz="2250" b="1">
                <a:solidFill>
                  <a:srgbClr val="D96546"/>
                </a:solidFill>
                <a:latin typeface="Arial"/>
                <a:ea typeface="Arial"/>
                <a:cs typeface="Arial"/>
              </a:defRPr>
            </a:lvl2pPr>
            <a:lvl3pPr algn="l">
              <a:defRPr sz="2250" b="1">
                <a:solidFill>
                  <a:srgbClr val="D96546"/>
                </a:solidFill>
                <a:latin typeface="Arial"/>
                <a:ea typeface="Arial"/>
                <a:cs typeface="Arial"/>
              </a:defRPr>
            </a:lvl3pPr>
            <a:lvl4pPr algn="l">
              <a:defRPr sz="2250" b="1">
                <a:solidFill>
                  <a:srgbClr val="D96546"/>
                </a:solidFill>
                <a:latin typeface="Arial"/>
                <a:ea typeface="Arial"/>
                <a:cs typeface="Arial"/>
              </a:defRPr>
            </a:lvl4pPr>
            <a:lvl5pPr algn="l">
              <a:defRPr sz="2250" b="1">
                <a:solidFill>
                  <a:srgbClr val="D96546"/>
                </a:solidFill>
                <a:latin typeface="Arial"/>
                <a:ea typeface="Arial"/>
                <a:cs typeface="Arial"/>
              </a:defRPr>
            </a:lvl5pPr>
            <a:lvl6pPr algn="l">
              <a:defRPr sz="2250" b="1">
                <a:solidFill>
                  <a:srgbClr val="D96546"/>
                </a:solidFill>
                <a:latin typeface="Arial"/>
                <a:ea typeface="Arial"/>
                <a:cs typeface="Arial"/>
              </a:defRPr>
            </a:lvl6pPr>
            <a:lvl7pPr algn="l">
              <a:defRPr sz="2250" b="1">
                <a:solidFill>
                  <a:srgbClr val="D96546"/>
                </a:solidFill>
                <a:latin typeface="Arial"/>
                <a:ea typeface="Arial"/>
                <a:cs typeface="Arial"/>
              </a:defRPr>
            </a:lvl7pPr>
            <a:lvl8pPr algn="l">
              <a:defRPr sz="2250" b="1">
                <a:solidFill>
                  <a:srgbClr val="D96546"/>
                </a:solidFill>
                <a:latin typeface="Arial"/>
                <a:ea typeface="Arial"/>
                <a:cs typeface="Arial"/>
              </a:defRPr>
            </a:lvl8pPr>
            <a:lvl9pPr algn="l">
              <a:defRPr sz="2250" b="1">
                <a:solidFill>
                  <a:srgbClr val="D96546"/>
                </a:solidFill>
                <a:latin typeface="Arial"/>
                <a:ea typeface="Arial"/>
                <a:cs typeface="Arial"/>
              </a:defRPr>
            </a:lvl9pPr>
          </a:lstStyle>
          <a:p>
            <a:pPr algn="l">
              <a:defRPr sz="2250" b="1">
                <a:solidFill>
                  <a:srgbClr val="D96546"/>
                </a:solidFill>
                <a:latin typeface="Arial"/>
                <a:ea typeface="Arial"/>
                <a:cs typeface="Arial"/>
              </a:defRPr>
            </a:pPr>
            <a:r>
              <a:rPr sz="2250" b="1">
                <a:solidFill>
                  <a:srgbClr val="D96546"/>
                </a:solidFill>
                <a:latin typeface="Arial"/>
                <a:ea typeface="Arial"/>
                <a:cs typeface="Arial"/>
              </a:rPr>
              <a:t>A team vs. another team</a:t>
            </a:r>
          </a:p>
        </p:txBody>
      </p:sp>
      <p:sp>
        <p:nvSpPr>
          <p:cNvPr id="6" name="team-one-A">
            <a:extLst>
              <a:ext uri="{FF2B5EF4-FFF2-40B4-BE49-F238E27FC236}">
                <a16:creationId xmlns:a16="http://schemas.microsoft.com/office/drawing/2014/main" id="{2170573C-3169-43CC-BDD4-CDF630E722AD}"/>
              </a:ext>
            </a:extLst>
          </p:cNvPr>
          <p:cNvSpPr>
            <a:spLocks noGrp="1"/>
          </p:cNvSpPr>
          <p:nvPr/>
        </p:nvSpPr>
        <p:spPr>
          <a:xfrm>
            <a:off x="923925" y="2676525"/>
            <a:ext cx="704850" cy="704850"/>
          </a:xfrm>
          <a:prstGeom prst="ellipse">
            <a:avLst/>
          </a:prstGeom>
          <a:solidFill>
            <a:srgbClr val="DFE7FA"/>
          </a:solidFill>
          <a:ln w="0">
            <a:solidFill>
              <a:srgbClr val="2D5BCE"/>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7" name="team-one-B">
            <a:extLst>
              <a:ext uri="{FF2B5EF4-FFF2-40B4-BE49-F238E27FC236}">
                <a16:creationId xmlns:a16="http://schemas.microsoft.com/office/drawing/2014/main" id="{80C8C479-6DAB-4341-8F24-AA71BB830801}"/>
              </a:ext>
            </a:extLst>
          </p:cNvPr>
          <p:cNvSpPr>
            <a:spLocks noGrp="1"/>
          </p:cNvSpPr>
          <p:nvPr/>
        </p:nvSpPr>
        <p:spPr>
          <a:xfrm>
            <a:off x="2162175" y="2676525"/>
            <a:ext cx="704850" cy="704850"/>
          </a:xfrm>
          <a:prstGeom prst="ellipse">
            <a:avLst/>
          </a:prstGeom>
          <a:solidFill>
            <a:srgbClr val="DFE7FA"/>
          </a:solidFill>
          <a:ln w="0">
            <a:solidFill>
              <a:srgbClr val="2D5BCE"/>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8" name="one-opponent">
            <a:extLst>
              <a:ext uri="{FF2B5EF4-FFF2-40B4-BE49-F238E27FC236}">
                <a16:creationId xmlns:a16="http://schemas.microsoft.com/office/drawing/2014/main" id="{4B13BAD7-2103-4BD7-9EDF-33F2411813BB}"/>
              </a:ext>
            </a:extLst>
          </p:cNvPr>
          <p:cNvSpPr>
            <a:spLocks noGrp="1"/>
          </p:cNvSpPr>
          <p:nvPr/>
        </p:nvSpPr>
        <p:spPr>
          <a:xfrm>
            <a:off x="4219575" y="2676525"/>
            <a:ext cx="704850" cy="704850"/>
          </a:xfrm>
          <a:prstGeom prst="ellipse">
            <a:avLst/>
          </a:prstGeom>
          <a:solidFill>
            <a:srgbClr val="FAE1D8"/>
          </a:solidFill>
          <a:ln w="0">
            <a:solidFill>
              <a:srgbClr val="D96546"/>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10" name="one-versus">
            <a:extLst>
              <a:ext uri="{FF2B5EF4-FFF2-40B4-BE49-F238E27FC236}">
                <a16:creationId xmlns:a16="http://schemas.microsoft.com/office/drawing/2014/main" id="{C3922091-0FBF-4BE7-B6FB-095E42EB0604}"/>
              </a:ext>
            </a:extLst>
          </p:cNvPr>
          <p:cNvSpPr>
            <a:spLocks noGrp="1"/>
          </p:cNvSpPr>
          <p:nvPr/>
        </p:nvSpPr>
        <p:spPr>
          <a:xfrm>
            <a:off x="3343275" y="2762250"/>
            <a:ext cx="619125" cy="523875"/>
          </a:xfrm>
          <a:prstGeom prst="rect">
            <a:avLst/>
          </a:prstGeom>
          <a:noFill/>
          <a:ln w="0">
            <a:noFill/>
            <a:prstDash val="solid"/>
          </a:ln>
        </p:spPr>
        <p:txBody>
          <a:bodyPr wrap="square" lIns="0" tIns="0" rIns="0" bIns="0" anchor="ctr">
            <a:noAutofit/>
          </a:bodyPr>
          <a:lstStyle>
            <a:defPPr algn="ctr">
              <a:defRPr sz="2175" b="1">
                <a:solidFill>
                  <a:srgbClr val="59657A"/>
                </a:solidFill>
                <a:latin typeface="Arial"/>
                <a:ea typeface="Arial"/>
                <a:cs typeface="Arial"/>
              </a:defRPr>
            </a:defPPr>
            <a:lvl1pPr algn="ctr">
              <a:defRPr sz="2175" b="1">
                <a:solidFill>
                  <a:srgbClr val="59657A"/>
                </a:solidFill>
                <a:latin typeface="Arial"/>
                <a:ea typeface="Arial"/>
                <a:cs typeface="Arial"/>
              </a:defRPr>
            </a:lvl1pPr>
            <a:lvl2pPr algn="ctr">
              <a:defRPr sz="2175" b="1">
                <a:solidFill>
                  <a:srgbClr val="59657A"/>
                </a:solidFill>
                <a:latin typeface="Arial"/>
                <a:ea typeface="Arial"/>
                <a:cs typeface="Arial"/>
              </a:defRPr>
            </a:lvl2pPr>
            <a:lvl3pPr algn="ctr">
              <a:defRPr sz="2175" b="1">
                <a:solidFill>
                  <a:srgbClr val="59657A"/>
                </a:solidFill>
                <a:latin typeface="Arial"/>
                <a:ea typeface="Arial"/>
                <a:cs typeface="Arial"/>
              </a:defRPr>
            </a:lvl3pPr>
            <a:lvl4pPr algn="ctr">
              <a:defRPr sz="2175" b="1">
                <a:solidFill>
                  <a:srgbClr val="59657A"/>
                </a:solidFill>
                <a:latin typeface="Arial"/>
                <a:ea typeface="Arial"/>
                <a:cs typeface="Arial"/>
              </a:defRPr>
            </a:lvl4pPr>
            <a:lvl5pPr algn="ctr">
              <a:defRPr sz="2175" b="1">
                <a:solidFill>
                  <a:srgbClr val="59657A"/>
                </a:solidFill>
                <a:latin typeface="Arial"/>
                <a:ea typeface="Arial"/>
                <a:cs typeface="Arial"/>
              </a:defRPr>
            </a:lvl5pPr>
            <a:lvl6pPr algn="ctr">
              <a:defRPr sz="2175" b="1">
                <a:solidFill>
                  <a:srgbClr val="59657A"/>
                </a:solidFill>
                <a:latin typeface="Arial"/>
                <a:ea typeface="Arial"/>
                <a:cs typeface="Arial"/>
              </a:defRPr>
            </a:lvl6pPr>
            <a:lvl7pPr algn="ctr">
              <a:defRPr sz="2175" b="1">
                <a:solidFill>
                  <a:srgbClr val="59657A"/>
                </a:solidFill>
                <a:latin typeface="Arial"/>
                <a:ea typeface="Arial"/>
                <a:cs typeface="Arial"/>
              </a:defRPr>
            </a:lvl7pPr>
            <a:lvl8pPr algn="ctr">
              <a:defRPr sz="2175" b="1">
                <a:solidFill>
                  <a:srgbClr val="59657A"/>
                </a:solidFill>
                <a:latin typeface="Arial"/>
                <a:ea typeface="Arial"/>
                <a:cs typeface="Arial"/>
              </a:defRPr>
            </a:lvl8pPr>
            <a:lvl9pPr algn="ctr">
              <a:defRPr sz="2175" b="1">
                <a:solidFill>
                  <a:srgbClr val="59657A"/>
                </a:solidFill>
                <a:latin typeface="Arial"/>
                <a:ea typeface="Arial"/>
                <a:cs typeface="Arial"/>
              </a:defRPr>
            </a:lvl9pPr>
          </a:lstStyle>
          <a:p>
            <a:pPr algn="ctr">
              <a:defRPr sz="2175" b="1">
                <a:solidFill>
                  <a:srgbClr val="59657A"/>
                </a:solidFill>
                <a:latin typeface="Arial"/>
                <a:ea typeface="Arial"/>
                <a:cs typeface="Arial"/>
              </a:defRPr>
            </a:pPr>
            <a:r>
              <a:rPr sz="2175" b="1">
                <a:solidFill>
                  <a:srgbClr val="59657A"/>
                </a:solidFill>
                <a:latin typeface="Arial"/>
                <a:ea typeface="Arial"/>
                <a:cs typeface="Arial"/>
              </a:rPr>
              <a:t>vs.</a:t>
            </a:r>
          </a:p>
        </p:txBody>
      </p:sp>
      <p:sp>
        <p:nvSpPr>
          <p:cNvPr id="11" name="one-payoff">
            <a:extLst>
              <a:ext uri="{FF2B5EF4-FFF2-40B4-BE49-F238E27FC236}">
                <a16:creationId xmlns:a16="http://schemas.microsoft.com/office/drawing/2014/main" id="{002662A9-A6C5-4854-BDB8-A7415D2C9581}"/>
              </a:ext>
            </a:extLst>
          </p:cNvPr>
          <p:cNvSpPr>
            <a:spLocks noGrp="1"/>
          </p:cNvSpPr>
          <p:nvPr/>
        </p:nvSpPr>
        <p:spPr>
          <a:xfrm>
            <a:off x="914400" y="3543300"/>
            <a:ext cx="1952625" cy="361950"/>
          </a:xfrm>
          <a:prstGeom prst="rect">
            <a:avLst/>
          </a:prstGeom>
          <a:noFill/>
          <a:ln w="0">
            <a:noFill/>
            <a:prstDash val="solid"/>
          </a:ln>
        </p:spPr>
        <p:txBody>
          <a:bodyPr wrap="square" lIns="0" tIns="0" rIns="0" bIns="0" anchor="ctr">
            <a:noAutofit/>
          </a:bodyPr>
          <a:lstStyle>
            <a:defPPr algn="ctr">
              <a:defRPr sz="1725" b="1">
                <a:solidFill>
                  <a:srgbClr val="2D5BCE"/>
                </a:solidFill>
                <a:latin typeface="Arial"/>
                <a:ea typeface="Arial"/>
                <a:cs typeface="Arial"/>
              </a:defRPr>
            </a:defPPr>
            <a:lvl1pPr algn="ctr">
              <a:defRPr sz="1725" b="1">
                <a:solidFill>
                  <a:srgbClr val="2D5BCE"/>
                </a:solidFill>
                <a:latin typeface="Arial"/>
                <a:ea typeface="Arial"/>
                <a:cs typeface="Arial"/>
              </a:defRPr>
            </a:lvl1pPr>
            <a:lvl2pPr algn="ctr">
              <a:defRPr sz="1725" b="1">
                <a:solidFill>
                  <a:srgbClr val="2D5BCE"/>
                </a:solidFill>
                <a:latin typeface="Arial"/>
                <a:ea typeface="Arial"/>
                <a:cs typeface="Arial"/>
              </a:defRPr>
            </a:lvl2pPr>
            <a:lvl3pPr algn="ctr">
              <a:defRPr sz="1725" b="1">
                <a:solidFill>
                  <a:srgbClr val="2D5BCE"/>
                </a:solidFill>
                <a:latin typeface="Arial"/>
                <a:ea typeface="Arial"/>
                <a:cs typeface="Arial"/>
              </a:defRPr>
            </a:lvl3pPr>
            <a:lvl4pPr algn="ctr">
              <a:defRPr sz="1725" b="1">
                <a:solidFill>
                  <a:srgbClr val="2D5BCE"/>
                </a:solidFill>
                <a:latin typeface="Arial"/>
                <a:ea typeface="Arial"/>
                <a:cs typeface="Arial"/>
              </a:defRPr>
            </a:lvl4pPr>
            <a:lvl5pPr algn="ctr">
              <a:defRPr sz="1725" b="1">
                <a:solidFill>
                  <a:srgbClr val="2D5BCE"/>
                </a:solidFill>
                <a:latin typeface="Arial"/>
                <a:ea typeface="Arial"/>
                <a:cs typeface="Arial"/>
              </a:defRPr>
            </a:lvl5pPr>
            <a:lvl6pPr algn="ctr">
              <a:defRPr sz="1725" b="1">
                <a:solidFill>
                  <a:srgbClr val="2D5BCE"/>
                </a:solidFill>
                <a:latin typeface="Arial"/>
                <a:ea typeface="Arial"/>
                <a:cs typeface="Arial"/>
              </a:defRPr>
            </a:lvl6pPr>
            <a:lvl7pPr algn="ctr">
              <a:defRPr sz="1725" b="1">
                <a:solidFill>
                  <a:srgbClr val="2D5BCE"/>
                </a:solidFill>
                <a:latin typeface="Arial"/>
                <a:ea typeface="Arial"/>
                <a:cs typeface="Arial"/>
              </a:defRPr>
            </a:lvl7pPr>
            <a:lvl8pPr algn="ctr">
              <a:defRPr sz="1725" b="1">
                <a:solidFill>
                  <a:srgbClr val="2D5BCE"/>
                </a:solidFill>
                <a:latin typeface="Arial"/>
                <a:ea typeface="Arial"/>
                <a:cs typeface="Arial"/>
              </a:defRPr>
            </a:lvl8pPr>
            <a:lvl9pPr algn="ctr">
              <a:defRPr sz="1725" b="1">
                <a:solidFill>
                  <a:srgbClr val="2D5BCE"/>
                </a:solidFill>
                <a:latin typeface="Arial"/>
                <a:ea typeface="Arial"/>
                <a:cs typeface="Arial"/>
              </a:defRPr>
            </a:lvl9pPr>
          </a:lstStyle>
          <a:p>
            <a:pPr algn="ctr">
              <a:defRPr sz="1725" b="1">
                <a:solidFill>
                  <a:srgbClr val="2D5BCE"/>
                </a:solidFill>
                <a:latin typeface="Arial"/>
                <a:ea typeface="Arial"/>
                <a:cs typeface="Arial"/>
              </a:defRPr>
            </a:pPr>
            <a:endParaRPr/>
          </a:p>
        </p:txBody>
      </p:sp>
      <p:sp>
        <p:nvSpPr>
          <p:cNvPr id="12" name="one-negative">
            <a:extLst>
              <a:ext uri="{FF2B5EF4-FFF2-40B4-BE49-F238E27FC236}">
                <a16:creationId xmlns:a16="http://schemas.microsoft.com/office/drawing/2014/main" id="{02BAECBF-9134-4EBB-80D4-58FE13FC59D4}"/>
              </a:ext>
            </a:extLst>
          </p:cNvPr>
          <p:cNvSpPr>
            <a:spLocks noGrp="1"/>
          </p:cNvSpPr>
          <p:nvPr/>
        </p:nvSpPr>
        <p:spPr>
          <a:xfrm>
            <a:off x="4162425" y="3543300"/>
            <a:ext cx="819150" cy="361950"/>
          </a:xfrm>
          <a:prstGeom prst="rect">
            <a:avLst/>
          </a:prstGeom>
          <a:noFill/>
          <a:ln w="0">
            <a:noFill/>
            <a:prstDash val="solid"/>
          </a:ln>
        </p:spPr>
        <p:txBody>
          <a:bodyPr wrap="square" lIns="0" tIns="0" rIns="0" bIns="0" anchor="ctr">
            <a:noAutofit/>
          </a:bodyPr>
          <a:lstStyle>
            <a:defPPr algn="ctr">
              <a:defRPr sz="1725" b="1">
                <a:solidFill>
                  <a:srgbClr val="D96546"/>
                </a:solidFill>
                <a:latin typeface="Arial"/>
                <a:ea typeface="Arial"/>
                <a:cs typeface="Arial"/>
              </a:defRPr>
            </a:defPPr>
            <a:lvl1pPr algn="ctr">
              <a:defRPr sz="1725" b="1">
                <a:solidFill>
                  <a:srgbClr val="D96546"/>
                </a:solidFill>
                <a:latin typeface="Arial"/>
                <a:ea typeface="Arial"/>
                <a:cs typeface="Arial"/>
              </a:defRPr>
            </a:lvl1pPr>
            <a:lvl2pPr algn="ctr">
              <a:defRPr sz="1725" b="1">
                <a:solidFill>
                  <a:srgbClr val="D96546"/>
                </a:solidFill>
                <a:latin typeface="Arial"/>
                <a:ea typeface="Arial"/>
                <a:cs typeface="Arial"/>
              </a:defRPr>
            </a:lvl2pPr>
            <a:lvl3pPr algn="ctr">
              <a:defRPr sz="1725" b="1">
                <a:solidFill>
                  <a:srgbClr val="D96546"/>
                </a:solidFill>
                <a:latin typeface="Arial"/>
                <a:ea typeface="Arial"/>
                <a:cs typeface="Arial"/>
              </a:defRPr>
            </a:lvl3pPr>
            <a:lvl4pPr algn="ctr">
              <a:defRPr sz="1725" b="1">
                <a:solidFill>
                  <a:srgbClr val="D96546"/>
                </a:solidFill>
                <a:latin typeface="Arial"/>
                <a:ea typeface="Arial"/>
                <a:cs typeface="Arial"/>
              </a:defRPr>
            </a:lvl4pPr>
            <a:lvl5pPr algn="ctr">
              <a:defRPr sz="1725" b="1">
                <a:solidFill>
                  <a:srgbClr val="D96546"/>
                </a:solidFill>
                <a:latin typeface="Arial"/>
                <a:ea typeface="Arial"/>
                <a:cs typeface="Arial"/>
              </a:defRPr>
            </a:lvl5pPr>
            <a:lvl6pPr algn="ctr">
              <a:defRPr sz="1725" b="1">
                <a:solidFill>
                  <a:srgbClr val="D96546"/>
                </a:solidFill>
                <a:latin typeface="Arial"/>
                <a:ea typeface="Arial"/>
                <a:cs typeface="Arial"/>
              </a:defRPr>
            </a:lvl6pPr>
            <a:lvl7pPr algn="ctr">
              <a:defRPr sz="1725" b="1">
                <a:solidFill>
                  <a:srgbClr val="D96546"/>
                </a:solidFill>
                <a:latin typeface="Arial"/>
                <a:ea typeface="Arial"/>
                <a:cs typeface="Arial"/>
              </a:defRPr>
            </a:lvl7pPr>
            <a:lvl8pPr algn="ctr">
              <a:defRPr sz="1725" b="1">
                <a:solidFill>
                  <a:srgbClr val="D96546"/>
                </a:solidFill>
                <a:latin typeface="Arial"/>
                <a:ea typeface="Arial"/>
                <a:cs typeface="Arial"/>
              </a:defRPr>
            </a:lvl8pPr>
            <a:lvl9pPr algn="ctr">
              <a:defRPr sz="1725" b="1">
                <a:solidFill>
                  <a:srgbClr val="D96546"/>
                </a:solidFill>
                <a:latin typeface="Arial"/>
                <a:ea typeface="Arial"/>
                <a:cs typeface="Arial"/>
              </a:defRPr>
            </a:lvl9pPr>
          </a:lstStyle>
          <a:p>
            <a:pPr algn="ctr">
              <a:defRPr sz="1725" b="1">
                <a:solidFill>
                  <a:srgbClr val="D96546"/>
                </a:solidFill>
                <a:latin typeface="Arial"/>
                <a:ea typeface="Arial"/>
                <a:cs typeface="Arial"/>
              </a:defRPr>
            </a:pPr>
            <a:endParaRPr/>
          </a:p>
        </p:txBody>
      </p:sp>
      <p:sp>
        <p:nvSpPr>
          <p:cNvPr id="13" name="team-two-A">
            <a:extLst>
              <a:ext uri="{FF2B5EF4-FFF2-40B4-BE49-F238E27FC236}">
                <a16:creationId xmlns:a16="http://schemas.microsoft.com/office/drawing/2014/main" id="{F8289B3C-1232-4E90-9FC3-3DC459C1CEEB}"/>
              </a:ext>
            </a:extLst>
          </p:cNvPr>
          <p:cNvSpPr>
            <a:spLocks noGrp="1"/>
          </p:cNvSpPr>
          <p:nvPr/>
        </p:nvSpPr>
        <p:spPr>
          <a:xfrm>
            <a:off x="6619875" y="2676525"/>
            <a:ext cx="704850" cy="704850"/>
          </a:xfrm>
          <a:prstGeom prst="ellipse">
            <a:avLst/>
          </a:prstGeom>
          <a:solidFill>
            <a:srgbClr val="DFE7FA"/>
          </a:solidFill>
          <a:ln w="0">
            <a:solidFill>
              <a:srgbClr val="2D5BCE"/>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14" name="team-two-B">
            <a:extLst>
              <a:ext uri="{FF2B5EF4-FFF2-40B4-BE49-F238E27FC236}">
                <a16:creationId xmlns:a16="http://schemas.microsoft.com/office/drawing/2014/main" id="{B5AB336A-594D-4388-99FF-ED5D64DB129A}"/>
              </a:ext>
            </a:extLst>
          </p:cNvPr>
          <p:cNvSpPr>
            <a:spLocks noGrp="1"/>
          </p:cNvSpPr>
          <p:nvPr/>
        </p:nvSpPr>
        <p:spPr>
          <a:xfrm>
            <a:off x="7667625" y="2676525"/>
            <a:ext cx="704850" cy="704850"/>
          </a:xfrm>
          <a:prstGeom prst="ellipse">
            <a:avLst/>
          </a:prstGeom>
          <a:solidFill>
            <a:srgbClr val="DFE7FA"/>
          </a:solidFill>
          <a:ln w="0">
            <a:solidFill>
              <a:srgbClr val="2D5BCE"/>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15" name="opposing-A">
            <a:extLst>
              <a:ext uri="{FF2B5EF4-FFF2-40B4-BE49-F238E27FC236}">
                <a16:creationId xmlns:a16="http://schemas.microsoft.com/office/drawing/2014/main" id="{AE09DD8F-BF25-49E5-B727-0F4077560D49}"/>
              </a:ext>
            </a:extLst>
          </p:cNvPr>
          <p:cNvSpPr>
            <a:spLocks noGrp="1"/>
          </p:cNvSpPr>
          <p:nvPr/>
        </p:nvSpPr>
        <p:spPr>
          <a:xfrm>
            <a:off x="9505950" y="2676525"/>
            <a:ext cx="704850" cy="704850"/>
          </a:xfrm>
          <a:prstGeom prst="ellipse">
            <a:avLst/>
          </a:prstGeom>
          <a:solidFill>
            <a:srgbClr val="FAE1D8"/>
          </a:solidFill>
          <a:ln w="0">
            <a:solidFill>
              <a:srgbClr val="D96546"/>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16" name="opposing-B">
            <a:extLst>
              <a:ext uri="{FF2B5EF4-FFF2-40B4-BE49-F238E27FC236}">
                <a16:creationId xmlns:a16="http://schemas.microsoft.com/office/drawing/2014/main" id="{EB6C825B-4CBC-40C7-86C8-311A4713BB8F}"/>
              </a:ext>
            </a:extLst>
          </p:cNvPr>
          <p:cNvSpPr>
            <a:spLocks noGrp="1"/>
          </p:cNvSpPr>
          <p:nvPr/>
        </p:nvSpPr>
        <p:spPr>
          <a:xfrm>
            <a:off x="10553700" y="2676525"/>
            <a:ext cx="704850" cy="704850"/>
          </a:xfrm>
          <a:prstGeom prst="ellipse">
            <a:avLst/>
          </a:prstGeom>
          <a:solidFill>
            <a:srgbClr val="FAE1D8"/>
          </a:solidFill>
          <a:ln w="0">
            <a:solidFill>
              <a:srgbClr val="D96546"/>
            </a:solid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endParaRPr/>
          </a:p>
        </p:txBody>
      </p:sp>
      <p:sp>
        <p:nvSpPr>
          <p:cNvPr id="19" name="two-versus">
            <a:extLst>
              <a:ext uri="{FF2B5EF4-FFF2-40B4-BE49-F238E27FC236}">
                <a16:creationId xmlns:a16="http://schemas.microsoft.com/office/drawing/2014/main" id="{697C6A3B-7B36-4631-B6C0-84D6E506628A}"/>
              </a:ext>
            </a:extLst>
          </p:cNvPr>
          <p:cNvSpPr>
            <a:spLocks noGrp="1"/>
          </p:cNvSpPr>
          <p:nvPr/>
        </p:nvSpPr>
        <p:spPr>
          <a:xfrm>
            <a:off x="8658225" y="2762250"/>
            <a:ext cx="619125" cy="523875"/>
          </a:xfrm>
          <a:prstGeom prst="rect">
            <a:avLst/>
          </a:prstGeom>
          <a:noFill/>
          <a:ln w="0">
            <a:noFill/>
            <a:prstDash val="solid"/>
          </a:ln>
        </p:spPr>
        <p:txBody>
          <a:bodyPr wrap="square" lIns="0" tIns="0" rIns="0" bIns="0" anchor="ctr">
            <a:noAutofit/>
          </a:bodyPr>
          <a:lstStyle>
            <a:defPPr algn="ctr">
              <a:defRPr sz="2175" b="1">
                <a:solidFill>
                  <a:srgbClr val="59657A"/>
                </a:solidFill>
                <a:latin typeface="Arial"/>
                <a:ea typeface="Arial"/>
                <a:cs typeface="Arial"/>
              </a:defRPr>
            </a:defPPr>
            <a:lvl1pPr algn="ctr">
              <a:defRPr sz="2175" b="1">
                <a:solidFill>
                  <a:srgbClr val="59657A"/>
                </a:solidFill>
                <a:latin typeface="Arial"/>
                <a:ea typeface="Arial"/>
                <a:cs typeface="Arial"/>
              </a:defRPr>
            </a:lvl1pPr>
            <a:lvl2pPr algn="ctr">
              <a:defRPr sz="2175" b="1">
                <a:solidFill>
                  <a:srgbClr val="59657A"/>
                </a:solidFill>
                <a:latin typeface="Arial"/>
                <a:ea typeface="Arial"/>
                <a:cs typeface="Arial"/>
              </a:defRPr>
            </a:lvl2pPr>
            <a:lvl3pPr algn="ctr">
              <a:defRPr sz="2175" b="1">
                <a:solidFill>
                  <a:srgbClr val="59657A"/>
                </a:solidFill>
                <a:latin typeface="Arial"/>
                <a:ea typeface="Arial"/>
                <a:cs typeface="Arial"/>
              </a:defRPr>
            </a:lvl3pPr>
            <a:lvl4pPr algn="ctr">
              <a:defRPr sz="2175" b="1">
                <a:solidFill>
                  <a:srgbClr val="59657A"/>
                </a:solidFill>
                <a:latin typeface="Arial"/>
                <a:ea typeface="Arial"/>
                <a:cs typeface="Arial"/>
              </a:defRPr>
            </a:lvl4pPr>
            <a:lvl5pPr algn="ctr">
              <a:defRPr sz="2175" b="1">
                <a:solidFill>
                  <a:srgbClr val="59657A"/>
                </a:solidFill>
                <a:latin typeface="Arial"/>
                <a:ea typeface="Arial"/>
                <a:cs typeface="Arial"/>
              </a:defRPr>
            </a:lvl5pPr>
            <a:lvl6pPr algn="ctr">
              <a:defRPr sz="2175" b="1">
                <a:solidFill>
                  <a:srgbClr val="59657A"/>
                </a:solidFill>
                <a:latin typeface="Arial"/>
                <a:ea typeface="Arial"/>
                <a:cs typeface="Arial"/>
              </a:defRPr>
            </a:lvl6pPr>
            <a:lvl7pPr algn="ctr">
              <a:defRPr sz="2175" b="1">
                <a:solidFill>
                  <a:srgbClr val="59657A"/>
                </a:solidFill>
                <a:latin typeface="Arial"/>
                <a:ea typeface="Arial"/>
                <a:cs typeface="Arial"/>
              </a:defRPr>
            </a:lvl7pPr>
            <a:lvl8pPr algn="ctr">
              <a:defRPr sz="2175" b="1">
                <a:solidFill>
                  <a:srgbClr val="59657A"/>
                </a:solidFill>
                <a:latin typeface="Arial"/>
                <a:ea typeface="Arial"/>
                <a:cs typeface="Arial"/>
              </a:defRPr>
            </a:lvl8pPr>
            <a:lvl9pPr algn="ctr">
              <a:defRPr sz="2175" b="1">
                <a:solidFill>
                  <a:srgbClr val="59657A"/>
                </a:solidFill>
                <a:latin typeface="Arial"/>
                <a:ea typeface="Arial"/>
                <a:cs typeface="Arial"/>
              </a:defRPr>
            </a:lvl9pPr>
          </a:lstStyle>
          <a:p>
            <a:pPr algn="ctr">
              <a:defRPr sz="2175" b="1">
                <a:solidFill>
                  <a:srgbClr val="59657A"/>
                </a:solidFill>
                <a:latin typeface="Arial"/>
                <a:ea typeface="Arial"/>
                <a:cs typeface="Arial"/>
              </a:defRPr>
            </a:pPr>
            <a:r>
              <a:rPr sz="2175" b="1">
                <a:solidFill>
                  <a:srgbClr val="59657A"/>
                </a:solidFill>
                <a:latin typeface="Arial"/>
                <a:ea typeface="Arial"/>
                <a:cs typeface="Arial"/>
              </a:rPr>
              <a:t>vs.</a:t>
            </a:r>
          </a:p>
        </p:txBody>
      </p:sp>
      <p:sp>
        <p:nvSpPr>
          <p:cNvPr id="20" name="two-positive">
            <a:extLst>
              <a:ext uri="{FF2B5EF4-FFF2-40B4-BE49-F238E27FC236}">
                <a16:creationId xmlns:a16="http://schemas.microsoft.com/office/drawing/2014/main" id="{4E4AF3E5-1292-4240-843C-DF160595FDD7}"/>
              </a:ext>
            </a:extLst>
          </p:cNvPr>
          <p:cNvSpPr>
            <a:spLocks noGrp="1"/>
          </p:cNvSpPr>
          <p:nvPr/>
        </p:nvSpPr>
        <p:spPr>
          <a:xfrm>
            <a:off x="6581775" y="3543300"/>
            <a:ext cx="1809750" cy="361950"/>
          </a:xfrm>
          <a:prstGeom prst="rect">
            <a:avLst/>
          </a:prstGeom>
          <a:noFill/>
          <a:ln w="0">
            <a:noFill/>
            <a:prstDash val="solid"/>
          </a:ln>
        </p:spPr>
        <p:txBody>
          <a:bodyPr wrap="square" lIns="0" tIns="0" rIns="0" bIns="0" anchor="ctr">
            <a:noAutofit/>
          </a:bodyPr>
          <a:lstStyle>
            <a:defPPr algn="ctr">
              <a:defRPr sz="1725" b="1">
                <a:solidFill>
                  <a:srgbClr val="2D5BCE"/>
                </a:solidFill>
                <a:latin typeface="Arial"/>
                <a:ea typeface="Arial"/>
                <a:cs typeface="Arial"/>
              </a:defRPr>
            </a:defPPr>
            <a:lvl1pPr algn="ctr">
              <a:defRPr sz="1725" b="1">
                <a:solidFill>
                  <a:srgbClr val="2D5BCE"/>
                </a:solidFill>
                <a:latin typeface="Arial"/>
                <a:ea typeface="Arial"/>
                <a:cs typeface="Arial"/>
              </a:defRPr>
            </a:lvl1pPr>
            <a:lvl2pPr algn="ctr">
              <a:defRPr sz="1725" b="1">
                <a:solidFill>
                  <a:srgbClr val="2D5BCE"/>
                </a:solidFill>
                <a:latin typeface="Arial"/>
                <a:ea typeface="Arial"/>
                <a:cs typeface="Arial"/>
              </a:defRPr>
            </a:lvl2pPr>
            <a:lvl3pPr algn="ctr">
              <a:defRPr sz="1725" b="1">
                <a:solidFill>
                  <a:srgbClr val="2D5BCE"/>
                </a:solidFill>
                <a:latin typeface="Arial"/>
                <a:ea typeface="Arial"/>
                <a:cs typeface="Arial"/>
              </a:defRPr>
            </a:lvl3pPr>
            <a:lvl4pPr algn="ctr">
              <a:defRPr sz="1725" b="1">
                <a:solidFill>
                  <a:srgbClr val="2D5BCE"/>
                </a:solidFill>
                <a:latin typeface="Arial"/>
                <a:ea typeface="Arial"/>
                <a:cs typeface="Arial"/>
              </a:defRPr>
            </a:lvl4pPr>
            <a:lvl5pPr algn="ctr">
              <a:defRPr sz="1725" b="1">
                <a:solidFill>
                  <a:srgbClr val="2D5BCE"/>
                </a:solidFill>
                <a:latin typeface="Arial"/>
                <a:ea typeface="Arial"/>
                <a:cs typeface="Arial"/>
              </a:defRPr>
            </a:lvl5pPr>
            <a:lvl6pPr algn="ctr">
              <a:defRPr sz="1725" b="1">
                <a:solidFill>
                  <a:srgbClr val="2D5BCE"/>
                </a:solidFill>
                <a:latin typeface="Arial"/>
                <a:ea typeface="Arial"/>
                <a:cs typeface="Arial"/>
              </a:defRPr>
            </a:lvl6pPr>
            <a:lvl7pPr algn="ctr">
              <a:defRPr sz="1725" b="1">
                <a:solidFill>
                  <a:srgbClr val="2D5BCE"/>
                </a:solidFill>
                <a:latin typeface="Arial"/>
                <a:ea typeface="Arial"/>
                <a:cs typeface="Arial"/>
              </a:defRPr>
            </a:lvl7pPr>
            <a:lvl8pPr algn="ctr">
              <a:defRPr sz="1725" b="1">
                <a:solidFill>
                  <a:srgbClr val="2D5BCE"/>
                </a:solidFill>
                <a:latin typeface="Arial"/>
                <a:ea typeface="Arial"/>
                <a:cs typeface="Arial"/>
              </a:defRPr>
            </a:lvl8pPr>
            <a:lvl9pPr algn="ctr">
              <a:defRPr sz="1725" b="1">
                <a:solidFill>
                  <a:srgbClr val="2D5BCE"/>
                </a:solidFill>
                <a:latin typeface="Arial"/>
                <a:ea typeface="Arial"/>
                <a:cs typeface="Arial"/>
              </a:defRPr>
            </a:lvl9pPr>
          </a:lstStyle>
          <a:p>
            <a:pPr algn="ctr">
              <a:defRPr sz="1725" b="1">
                <a:solidFill>
                  <a:srgbClr val="2D5BCE"/>
                </a:solidFill>
                <a:latin typeface="Arial"/>
                <a:ea typeface="Arial"/>
                <a:cs typeface="Arial"/>
              </a:defRPr>
            </a:pPr>
            <a:endParaRPr/>
          </a:p>
        </p:txBody>
      </p:sp>
      <p:sp>
        <p:nvSpPr>
          <p:cNvPr id="21" name="two-negative">
            <a:extLst>
              <a:ext uri="{FF2B5EF4-FFF2-40B4-BE49-F238E27FC236}">
                <a16:creationId xmlns:a16="http://schemas.microsoft.com/office/drawing/2014/main" id="{D2277217-0E4A-4517-B11A-2D0E6C8A2872}"/>
              </a:ext>
            </a:extLst>
          </p:cNvPr>
          <p:cNvSpPr>
            <a:spLocks noGrp="1"/>
          </p:cNvSpPr>
          <p:nvPr/>
        </p:nvSpPr>
        <p:spPr>
          <a:xfrm>
            <a:off x="9439275" y="3543300"/>
            <a:ext cx="1885950" cy="361950"/>
          </a:xfrm>
          <a:prstGeom prst="rect">
            <a:avLst/>
          </a:prstGeom>
          <a:noFill/>
          <a:ln w="0">
            <a:noFill/>
            <a:prstDash val="solid"/>
          </a:ln>
        </p:spPr>
        <p:txBody>
          <a:bodyPr wrap="square" lIns="0" tIns="0" rIns="0" bIns="0" anchor="ctr">
            <a:noAutofit/>
          </a:bodyPr>
          <a:lstStyle>
            <a:defPPr algn="ctr">
              <a:defRPr sz="1725" b="1">
                <a:solidFill>
                  <a:srgbClr val="D96546"/>
                </a:solidFill>
                <a:latin typeface="Arial"/>
                <a:ea typeface="Arial"/>
                <a:cs typeface="Arial"/>
              </a:defRPr>
            </a:defPPr>
            <a:lvl1pPr algn="ctr">
              <a:defRPr sz="1725" b="1">
                <a:solidFill>
                  <a:srgbClr val="D96546"/>
                </a:solidFill>
                <a:latin typeface="Arial"/>
                <a:ea typeface="Arial"/>
                <a:cs typeface="Arial"/>
              </a:defRPr>
            </a:lvl1pPr>
            <a:lvl2pPr algn="ctr">
              <a:defRPr sz="1725" b="1">
                <a:solidFill>
                  <a:srgbClr val="D96546"/>
                </a:solidFill>
                <a:latin typeface="Arial"/>
                <a:ea typeface="Arial"/>
                <a:cs typeface="Arial"/>
              </a:defRPr>
            </a:lvl2pPr>
            <a:lvl3pPr algn="ctr">
              <a:defRPr sz="1725" b="1">
                <a:solidFill>
                  <a:srgbClr val="D96546"/>
                </a:solidFill>
                <a:latin typeface="Arial"/>
                <a:ea typeface="Arial"/>
                <a:cs typeface="Arial"/>
              </a:defRPr>
            </a:lvl3pPr>
            <a:lvl4pPr algn="ctr">
              <a:defRPr sz="1725" b="1">
                <a:solidFill>
                  <a:srgbClr val="D96546"/>
                </a:solidFill>
                <a:latin typeface="Arial"/>
                <a:ea typeface="Arial"/>
                <a:cs typeface="Arial"/>
              </a:defRPr>
            </a:lvl4pPr>
            <a:lvl5pPr algn="ctr">
              <a:defRPr sz="1725" b="1">
                <a:solidFill>
                  <a:srgbClr val="D96546"/>
                </a:solidFill>
                <a:latin typeface="Arial"/>
                <a:ea typeface="Arial"/>
                <a:cs typeface="Arial"/>
              </a:defRPr>
            </a:lvl5pPr>
            <a:lvl6pPr algn="ctr">
              <a:defRPr sz="1725" b="1">
                <a:solidFill>
                  <a:srgbClr val="D96546"/>
                </a:solidFill>
                <a:latin typeface="Arial"/>
                <a:ea typeface="Arial"/>
                <a:cs typeface="Arial"/>
              </a:defRPr>
            </a:lvl6pPr>
            <a:lvl7pPr algn="ctr">
              <a:defRPr sz="1725" b="1">
                <a:solidFill>
                  <a:srgbClr val="D96546"/>
                </a:solidFill>
                <a:latin typeface="Arial"/>
                <a:ea typeface="Arial"/>
                <a:cs typeface="Arial"/>
              </a:defRPr>
            </a:lvl7pPr>
            <a:lvl8pPr algn="ctr">
              <a:defRPr sz="1725" b="1">
                <a:solidFill>
                  <a:srgbClr val="D96546"/>
                </a:solidFill>
                <a:latin typeface="Arial"/>
                <a:ea typeface="Arial"/>
                <a:cs typeface="Arial"/>
              </a:defRPr>
            </a:lvl8pPr>
            <a:lvl9pPr algn="ctr">
              <a:defRPr sz="1725" b="1">
                <a:solidFill>
                  <a:srgbClr val="D96546"/>
                </a:solidFill>
                <a:latin typeface="Arial"/>
                <a:ea typeface="Arial"/>
                <a:cs typeface="Arial"/>
              </a:defRPr>
            </a:lvl9pPr>
          </a:lstStyle>
          <a:p>
            <a:pPr algn="ctr">
              <a:defRPr sz="1725" b="1">
                <a:solidFill>
                  <a:srgbClr val="D96546"/>
                </a:solidFill>
                <a:latin typeface="Arial"/>
                <a:ea typeface="Arial"/>
                <a:cs typeface="Arial"/>
              </a:defRPr>
            </a:pPr>
            <a:endParaRPr/>
          </a:p>
        </p:txBody>
      </p:sp>
      <p:sp>
        <p:nvSpPr>
          <p:cNvPr id="22" name="one-result">
            <a:extLst>
              <a:ext uri="{FF2B5EF4-FFF2-40B4-BE49-F238E27FC236}">
                <a16:creationId xmlns:a16="http://schemas.microsoft.com/office/drawing/2014/main" id="{37432734-14C5-4E6C-B26F-35CA47CDFC7A}"/>
              </a:ext>
            </a:extLst>
          </p:cNvPr>
          <p:cNvSpPr>
            <a:spLocks noGrp="1"/>
          </p:cNvSpPr>
          <p:nvPr/>
        </p:nvSpPr>
        <p:spPr>
          <a:xfrm>
            <a:off x="609600" y="4267200"/>
            <a:ext cx="5219700" cy="800100"/>
          </a:xfrm>
          <a:prstGeom prst="rect">
            <a:avLst/>
          </a:prstGeom>
          <a:noFill/>
          <a:ln w="0">
            <a:noFill/>
            <a:prstDash val="solid"/>
          </a:ln>
        </p:spPr>
        <p:txBody>
          <a:bodyPr wrap="square" lIns="0" tIns="0" rIns="0" bIns="0" anchor="ctr">
            <a:noAutofit/>
          </a:bodyPr>
          <a:lstStyle>
            <a:defPPr algn="l">
              <a:defRPr sz="2325" b="1">
                <a:solidFill>
                  <a:srgbClr val="008F84"/>
                </a:solidFill>
                <a:latin typeface="Arial"/>
                <a:ea typeface="Arial"/>
                <a:cs typeface="Arial"/>
              </a:defRPr>
            </a:defPPr>
            <a:lvl1pPr algn="l">
              <a:defRPr sz="2325" b="1">
                <a:solidFill>
                  <a:srgbClr val="008F84"/>
                </a:solidFill>
                <a:latin typeface="Arial"/>
                <a:ea typeface="Arial"/>
                <a:cs typeface="Arial"/>
              </a:defRPr>
            </a:lvl1pPr>
            <a:lvl2pPr algn="l">
              <a:defRPr sz="2325" b="1">
                <a:solidFill>
                  <a:srgbClr val="008F84"/>
                </a:solidFill>
                <a:latin typeface="Arial"/>
                <a:ea typeface="Arial"/>
                <a:cs typeface="Arial"/>
              </a:defRPr>
            </a:lvl2pPr>
            <a:lvl3pPr algn="l">
              <a:defRPr sz="2325" b="1">
                <a:solidFill>
                  <a:srgbClr val="008F84"/>
                </a:solidFill>
                <a:latin typeface="Arial"/>
                <a:ea typeface="Arial"/>
                <a:cs typeface="Arial"/>
              </a:defRPr>
            </a:lvl3pPr>
            <a:lvl4pPr algn="l">
              <a:defRPr sz="2325" b="1">
                <a:solidFill>
                  <a:srgbClr val="008F84"/>
                </a:solidFill>
                <a:latin typeface="Arial"/>
                <a:ea typeface="Arial"/>
                <a:cs typeface="Arial"/>
              </a:defRPr>
            </a:lvl4pPr>
            <a:lvl5pPr algn="l">
              <a:defRPr sz="2325" b="1">
                <a:solidFill>
                  <a:srgbClr val="008F84"/>
                </a:solidFill>
                <a:latin typeface="Arial"/>
                <a:ea typeface="Arial"/>
                <a:cs typeface="Arial"/>
              </a:defRPr>
            </a:lvl5pPr>
            <a:lvl6pPr algn="l">
              <a:defRPr sz="2325" b="1">
                <a:solidFill>
                  <a:srgbClr val="008F84"/>
                </a:solidFill>
                <a:latin typeface="Arial"/>
                <a:ea typeface="Arial"/>
                <a:cs typeface="Arial"/>
              </a:defRPr>
            </a:lvl6pPr>
            <a:lvl7pPr algn="l">
              <a:defRPr sz="2325" b="1">
                <a:solidFill>
                  <a:srgbClr val="008F84"/>
                </a:solidFill>
                <a:latin typeface="Arial"/>
                <a:ea typeface="Arial"/>
                <a:cs typeface="Arial"/>
              </a:defRPr>
            </a:lvl7pPr>
            <a:lvl8pPr algn="l">
              <a:defRPr sz="2325" b="1">
                <a:solidFill>
                  <a:srgbClr val="008F84"/>
                </a:solidFill>
                <a:latin typeface="Arial"/>
                <a:ea typeface="Arial"/>
                <a:cs typeface="Arial"/>
              </a:defRPr>
            </a:lvl8pPr>
            <a:lvl9pPr algn="l">
              <a:defRPr sz="2325" b="1">
                <a:solidFill>
                  <a:srgbClr val="008F84"/>
                </a:solidFill>
                <a:latin typeface="Arial"/>
                <a:ea typeface="Arial"/>
                <a:cs typeface="Arial"/>
              </a:defRPr>
            </a:lvl9pPr>
          </a:lstStyle>
          <a:p>
            <a:pPr algn="l">
              <a:defRPr sz="2325" b="1">
                <a:solidFill>
                  <a:srgbClr val="008F84"/>
                </a:solidFill>
                <a:latin typeface="Arial"/>
                <a:ea typeface="Arial"/>
                <a:cs typeface="Arial"/>
              </a:defRPr>
            </a:pPr>
            <a:r>
              <a:rPr sz="2325" b="1">
                <a:solidFill>
                  <a:srgbClr val="008F84"/>
                </a:solidFill>
                <a:latin typeface="Arial"/>
                <a:ea typeface="Arial"/>
                <a:cs typeface="Arial"/>
              </a:rPr>
              <a:t>Efficient approximate</a:t>
            </a:r>
          </a:p>
          <a:p>
            <a:pPr algn="l">
              <a:defRPr sz="2325" b="1">
                <a:solidFill>
                  <a:srgbClr val="008F84"/>
                </a:solidFill>
                <a:latin typeface="Arial"/>
                <a:ea typeface="Arial"/>
                <a:cs typeface="Arial"/>
              </a:defRPr>
            </a:pPr>
            <a:r>
              <a:rPr sz="2325" b="1">
                <a:solidFill>
                  <a:srgbClr val="008F84"/>
                </a:solidFill>
                <a:latin typeface="Arial"/>
                <a:ea typeface="Arial"/>
                <a:cs typeface="Arial"/>
              </a:rPr>
              <a:t>equilibrium algorithms</a:t>
            </a:r>
          </a:p>
        </p:txBody>
      </p:sp>
      <p:sp>
        <p:nvSpPr>
          <p:cNvPr id="23" name="one-detail">
            <a:extLst>
              <a:ext uri="{FF2B5EF4-FFF2-40B4-BE49-F238E27FC236}">
                <a16:creationId xmlns:a16="http://schemas.microsoft.com/office/drawing/2014/main" id="{A5266883-5D48-4B4C-A9A4-4FACA1D3138E}"/>
              </a:ext>
            </a:extLst>
          </p:cNvPr>
          <p:cNvSpPr>
            <a:spLocks noGrp="1"/>
          </p:cNvSpPr>
          <p:nvPr/>
        </p:nvSpPr>
        <p:spPr>
          <a:xfrm>
            <a:off x="609600" y="5238750"/>
            <a:ext cx="5238750" cy="600075"/>
          </a:xfrm>
          <a:prstGeom prst="rect">
            <a:avLst/>
          </a:prstGeom>
          <a:noFill/>
          <a:ln w="0">
            <a:noFill/>
            <a:prstDash val="solid"/>
          </a:ln>
        </p:spPr>
        <p:txBody>
          <a:bodyPr wrap="square" lIns="0" tIns="0" rIns="0" bIns="0" anchor="ctr">
            <a:noAutofit/>
          </a:bodyPr>
          <a:lstStyle>
            <a:defPPr algn="l">
              <a:defRPr sz="1800" b="0">
                <a:solidFill>
                  <a:srgbClr val="59657A"/>
                </a:solidFill>
                <a:latin typeface="Arial"/>
                <a:ea typeface="Arial"/>
                <a:cs typeface="Arial"/>
              </a:defRPr>
            </a:defPPr>
            <a:lvl1pPr algn="l">
              <a:defRPr sz="1800" b="0">
                <a:solidFill>
                  <a:srgbClr val="59657A"/>
                </a:solidFill>
                <a:latin typeface="Arial"/>
                <a:ea typeface="Arial"/>
                <a:cs typeface="Arial"/>
              </a:defRPr>
            </a:lvl1pPr>
            <a:lvl2pPr algn="l">
              <a:defRPr sz="1800" b="0">
                <a:solidFill>
                  <a:srgbClr val="59657A"/>
                </a:solidFill>
                <a:latin typeface="Arial"/>
                <a:ea typeface="Arial"/>
                <a:cs typeface="Arial"/>
              </a:defRPr>
            </a:lvl2pPr>
            <a:lvl3pPr algn="l">
              <a:defRPr sz="1800" b="0">
                <a:solidFill>
                  <a:srgbClr val="59657A"/>
                </a:solidFill>
                <a:latin typeface="Arial"/>
                <a:ea typeface="Arial"/>
                <a:cs typeface="Arial"/>
              </a:defRPr>
            </a:lvl3pPr>
            <a:lvl4pPr algn="l">
              <a:defRPr sz="1800" b="0">
                <a:solidFill>
                  <a:srgbClr val="59657A"/>
                </a:solidFill>
                <a:latin typeface="Arial"/>
                <a:ea typeface="Arial"/>
                <a:cs typeface="Arial"/>
              </a:defRPr>
            </a:lvl4pPr>
            <a:lvl5pPr algn="l">
              <a:defRPr sz="1800" b="0">
                <a:solidFill>
                  <a:srgbClr val="59657A"/>
                </a:solidFill>
                <a:latin typeface="Arial"/>
                <a:ea typeface="Arial"/>
                <a:cs typeface="Arial"/>
              </a:defRPr>
            </a:lvl5pPr>
            <a:lvl6pPr algn="l">
              <a:defRPr sz="1800" b="0">
                <a:solidFill>
                  <a:srgbClr val="59657A"/>
                </a:solidFill>
                <a:latin typeface="Arial"/>
                <a:ea typeface="Arial"/>
                <a:cs typeface="Arial"/>
              </a:defRPr>
            </a:lvl6pPr>
            <a:lvl7pPr algn="l">
              <a:defRPr sz="1800" b="0">
                <a:solidFill>
                  <a:srgbClr val="59657A"/>
                </a:solidFill>
                <a:latin typeface="Arial"/>
                <a:ea typeface="Arial"/>
                <a:cs typeface="Arial"/>
              </a:defRPr>
            </a:lvl7pPr>
            <a:lvl8pPr algn="l">
              <a:defRPr sz="1800" b="0">
                <a:solidFill>
                  <a:srgbClr val="59657A"/>
                </a:solidFill>
                <a:latin typeface="Arial"/>
                <a:ea typeface="Arial"/>
                <a:cs typeface="Arial"/>
              </a:defRPr>
            </a:lvl8pPr>
            <a:lvl9pPr algn="l">
              <a:defRPr sz="1800" b="0">
                <a:solidFill>
                  <a:srgbClr val="59657A"/>
                </a:solidFill>
                <a:latin typeface="Arial"/>
                <a:ea typeface="Arial"/>
                <a:cs typeface="Arial"/>
              </a:defRPr>
            </a:lvl9pPr>
          </a:lstStyle>
          <a:p>
            <a:pPr algn="l">
              <a:defRPr sz="1800" b="0">
                <a:solidFill>
                  <a:srgbClr val="59657A"/>
                </a:solidFill>
                <a:latin typeface="Arial"/>
                <a:ea typeface="Arial"/>
                <a:cs typeface="Arial"/>
              </a:defRPr>
            </a:pPr>
            <a:r>
              <a:rPr sz="1800" b="0">
                <a:solidFill>
                  <a:srgbClr val="59657A"/>
                </a:solidFill>
                <a:latin typeface="Arial"/>
                <a:ea typeface="Arial"/>
                <a:cs typeface="Arial"/>
              </a:rPr>
              <a:t>Also for games that evolve over time.</a:t>
            </a:r>
          </a:p>
        </p:txBody>
      </p:sp>
      <p:sp>
        <p:nvSpPr>
          <p:cNvPr id="24" name="two-result">
            <a:extLst>
              <a:ext uri="{FF2B5EF4-FFF2-40B4-BE49-F238E27FC236}">
                <a16:creationId xmlns:a16="http://schemas.microsoft.com/office/drawing/2014/main" id="{DD0FDBC4-590E-4313-91DE-7BEF8DEC4116}"/>
              </a:ext>
            </a:extLst>
          </p:cNvPr>
          <p:cNvSpPr>
            <a:spLocks noGrp="1"/>
          </p:cNvSpPr>
          <p:nvPr/>
        </p:nvSpPr>
        <p:spPr>
          <a:xfrm>
            <a:off x="6419850" y="4267200"/>
            <a:ext cx="5162550" cy="800100"/>
          </a:xfrm>
          <a:prstGeom prst="rect">
            <a:avLst/>
          </a:prstGeom>
          <a:noFill/>
          <a:ln w="0">
            <a:noFill/>
            <a:prstDash val="solid"/>
          </a:ln>
        </p:spPr>
        <p:txBody>
          <a:bodyPr wrap="square" lIns="0" tIns="0" rIns="0" bIns="0" anchor="ctr">
            <a:noAutofit/>
          </a:bodyPr>
          <a:lstStyle>
            <a:defPPr algn="l">
              <a:defRPr sz="2325" b="1">
                <a:solidFill>
                  <a:srgbClr val="D96546"/>
                </a:solidFill>
                <a:latin typeface="Arial"/>
                <a:ea typeface="Arial"/>
                <a:cs typeface="Arial"/>
              </a:defRPr>
            </a:defPPr>
            <a:lvl1pPr algn="l">
              <a:defRPr sz="2325" b="1">
                <a:solidFill>
                  <a:srgbClr val="D96546"/>
                </a:solidFill>
                <a:latin typeface="Arial"/>
                <a:ea typeface="Arial"/>
                <a:cs typeface="Arial"/>
              </a:defRPr>
            </a:lvl1pPr>
            <a:lvl2pPr algn="l">
              <a:defRPr sz="2325" b="1">
                <a:solidFill>
                  <a:srgbClr val="D96546"/>
                </a:solidFill>
                <a:latin typeface="Arial"/>
                <a:ea typeface="Arial"/>
                <a:cs typeface="Arial"/>
              </a:defRPr>
            </a:lvl2pPr>
            <a:lvl3pPr algn="l">
              <a:defRPr sz="2325" b="1">
                <a:solidFill>
                  <a:srgbClr val="D96546"/>
                </a:solidFill>
                <a:latin typeface="Arial"/>
                <a:ea typeface="Arial"/>
                <a:cs typeface="Arial"/>
              </a:defRPr>
            </a:lvl3pPr>
            <a:lvl4pPr algn="l">
              <a:defRPr sz="2325" b="1">
                <a:solidFill>
                  <a:srgbClr val="D96546"/>
                </a:solidFill>
                <a:latin typeface="Arial"/>
                <a:ea typeface="Arial"/>
                <a:cs typeface="Arial"/>
              </a:defRPr>
            </a:lvl4pPr>
            <a:lvl5pPr algn="l">
              <a:defRPr sz="2325" b="1">
                <a:solidFill>
                  <a:srgbClr val="D96546"/>
                </a:solidFill>
                <a:latin typeface="Arial"/>
                <a:ea typeface="Arial"/>
                <a:cs typeface="Arial"/>
              </a:defRPr>
            </a:lvl5pPr>
            <a:lvl6pPr algn="l">
              <a:defRPr sz="2325" b="1">
                <a:solidFill>
                  <a:srgbClr val="D96546"/>
                </a:solidFill>
                <a:latin typeface="Arial"/>
                <a:ea typeface="Arial"/>
                <a:cs typeface="Arial"/>
              </a:defRPr>
            </a:lvl6pPr>
            <a:lvl7pPr algn="l">
              <a:defRPr sz="2325" b="1">
                <a:solidFill>
                  <a:srgbClr val="D96546"/>
                </a:solidFill>
                <a:latin typeface="Arial"/>
                <a:ea typeface="Arial"/>
                <a:cs typeface="Arial"/>
              </a:defRPr>
            </a:lvl7pPr>
            <a:lvl8pPr algn="l">
              <a:defRPr sz="2325" b="1">
                <a:solidFill>
                  <a:srgbClr val="D96546"/>
                </a:solidFill>
                <a:latin typeface="Arial"/>
                <a:ea typeface="Arial"/>
                <a:cs typeface="Arial"/>
              </a:defRPr>
            </a:lvl8pPr>
            <a:lvl9pPr algn="l">
              <a:defRPr sz="2325" b="1">
                <a:solidFill>
                  <a:srgbClr val="D96546"/>
                </a:solidFill>
                <a:latin typeface="Arial"/>
                <a:ea typeface="Arial"/>
                <a:cs typeface="Arial"/>
              </a:defRPr>
            </a:lvl9pPr>
          </a:lstStyle>
          <a:p>
            <a:pPr algn="l">
              <a:defRPr sz="2325" b="1">
                <a:solidFill>
                  <a:srgbClr val="D96546"/>
                </a:solidFill>
                <a:latin typeface="Arial"/>
                <a:ea typeface="Arial"/>
                <a:cs typeface="Arial"/>
              </a:defRPr>
            </a:pPr>
            <a:r>
              <a:rPr sz="2325" b="1">
                <a:solidFill>
                  <a:srgbClr val="D96546"/>
                </a:solidFill>
                <a:latin typeface="Arial"/>
                <a:ea typeface="Arial"/>
                <a:cs typeface="Arial"/>
              </a:rPr>
              <a:t>As hard as general games,</a:t>
            </a:r>
          </a:p>
          <a:p>
            <a:pPr algn="l">
              <a:defRPr sz="2325" b="1">
                <a:solidFill>
                  <a:srgbClr val="D96546"/>
                </a:solidFill>
                <a:latin typeface="Arial"/>
                <a:ea typeface="Arial"/>
                <a:cs typeface="Arial"/>
              </a:defRPr>
            </a:pPr>
            <a:r>
              <a:rPr sz="2325" b="1">
                <a:solidFill>
                  <a:srgbClr val="D96546"/>
                </a:solidFill>
                <a:latin typeface="Arial"/>
                <a:ea typeface="Arial"/>
                <a:cs typeface="Arial"/>
              </a:rPr>
              <a:t>even two players vs. two</a:t>
            </a:r>
          </a:p>
        </p:txBody>
      </p:sp>
      <p:sp>
        <p:nvSpPr>
          <p:cNvPr id="25" name="two-detail">
            <a:extLst>
              <a:ext uri="{FF2B5EF4-FFF2-40B4-BE49-F238E27FC236}">
                <a16:creationId xmlns:a16="http://schemas.microsoft.com/office/drawing/2014/main" id="{8798B18B-764F-4783-A91C-2DFEC992FDC1}"/>
              </a:ext>
            </a:extLst>
          </p:cNvPr>
          <p:cNvSpPr>
            <a:spLocks noGrp="1"/>
          </p:cNvSpPr>
          <p:nvPr/>
        </p:nvSpPr>
        <p:spPr>
          <a:xfrm>
            <a:off x="6419850" y="5238750"/>
            <a:ext cx="5162550" cy="600075"/>
          </a:xfrm>
          <a:prstGeom prst="rect">
            <a:avLst/>
          </a:prstGeom>
          <a:noFill/>
          <a:ln w="0">
            <a:noFill/>
            <a:prstDash val="solid"/>
          </a:ln>
        </p:spPr>
        <p:txBody>
          <a:bodyPr wrap="square" lIns="0" tIns="0" rIns="0" bIns="0" anchor="ctr">
            <a:noAutofit/>
          </a:bodyPr>
          <a:lstStyle>
            <a:defPPr algn="l">
              <a:defRPr sz="1725" b="0">
                <a:solidFill>
                  <a:srgbClr val="59657A"/>
                </a:solidFill>
                <a:latin typeface="Arial"/>
                <a:ea typeface="Arial"/>
                <a:cs typeface="Arial"/>
              </a:defRPr>
            </a:defPPr>
            <a:lvl1pPr algn="l">
              <a:defRPr sz="1725" b="0">
                <a:solidFill>
                  <a:srgbClr val="59657A"/>
                </a:solidFill>
                <a:latin typeface="Arial"/>
                <a:ea typeface="Arial"/>
                <a:cs typeface="Arial"/>
              </a:defRPr>
            </a:lvl1pPr>
            <a:lvl2pPr algn="l">
              <a:defRPr sz="1725" b="0">
                <a:solidFill>
                  <a:srgbClr val="59657A"/>
                </a:solidFill>
                <a:latin typeface="Arial"/>
                <a:ea typeface="Arial"/>
                <a:cs typeface="Arial"/>
              </a:defRPr>
            </a:lvl2pPr>
            <a:lvl3pPr algn="l">
              <a:defRPr sz="1725" b="0">
                <a:solidFill>
                  <a:srgbClr val="59657A"/>
                </a:solidFill>
                <a:latin typeface="Arial"/>
                <a:ea typeface="Arial"/>
                <a:cs typeface="Arial"/>
              </a:defRPr>
            </a:lvl3pPr>
            <a:lvl4pPr algn="l">
              <a:defRPr sz="1725" b="0">
                <a:solidFill>
                  <a:srgbClr val="59657A"/>
                </a:solidFill>
                <a:latin typeface="Arial"/>
                <a:ea typeface="Arial"/>
                <a:cs typeface="Arial"/>
              </a:defRPr>
            </a:lvl4pPr>
            <a:lvl5pPr algn="l">
              <a:defRPr sz="1725" b="0">
                <a:solidFill>
                  <a:srgbClr val="59657A"/>
                </a:solidFill>
                <a:latin typeface="Arial"/>
                <a:ea typeface="Arial"/>
                <a:cs typeface="Arial"/>
              </a:defRPr>
            </a:lvl5pPr>
            <a:lvl6pPr algn="l">
              <a:defRPr sz="1725" b="0">
                <a:solidFill>
                  <a:srgbClr val="59657A"/>
                </a:solidFill>
                <a:latin typeface="Arial"/>
                <a:ea typeface="Arial"/>
                <a:cs typeface="Arial"/>
              </a:defRPr>
            </a:lvl6pPr>
            <a:lvl7pPr algn="l">
              <a:defRPr sz="1725" b="0">
                <a:solidFill>
                  <a:srgbClr val="59657A"/>
                </a:solidFill>
                <a:latin typeface="Arial"/>
                <a:ea typeface="Arial"/>
                <a:cs typeface="Arial"/>
              </a:defRPr>
            </a:lvl7pPr>
            <a:lvl8pPr algn="l">
              <a:defRPr sz="1725" b="0">
                <a:solidFill>
                  <a:srgbClr val="59657A"/>
                </a:solidFill>
                <a:latin typeface="Arial"/>
                <a:ea typeface="Arial"/>
                <a:cs typeface="Arial"/>
              </a:defRPr>
            </a:lvl8pPr>
            <a:lvl9pPr algn="l">
              <a:defRPr sz="1725" b="0">
                <a:solidFill>
                  <a:srgbClr val="59657A"/>
                </a:solidFill>
                <a:latin typeface="Arial"/>
                <a:ea typeface="Arial"/>
                <a:cs typeface="Arial"/>
              </a:defRPr>
            </a:lvl9pPr>
          </a:lstStyle>
          <a:p>
            <a:pPr algn="l">
              <a:defRPr sz="1725" b="0">
                <a:solidFill>
                  <a:srgbClr val="59657A"/>
                </a:solidFill>
                <a:latin typeface="Arial"/>
                <a:ea typeface="Arial"/>
                <a:cs typeface="Arial"/>
              </a:defRPr>
            </a:pPr>
            <a:endParaRPr/>
          </a:p>
        </p:txBody>
      </p:sp>
      <p:sp>
        <p:nvSpPr>
          <p:cNvPr id="26" name="source-short">
            <a:extLst>
              <a:ext uri="{FF2B5EF4-FFF2-40B4-BE49-F238E27FC236}">
                <a16:creationId xmlns:a16="http://schemas.microsoft.com/office/drawing/2014/main" id="{316E25F6-22F1-4CA2-8BE4-7780F4569406}"/>
              </a:ext>
            </a:extLst>
          </p:cNvPr>
          <p:cNvSpPr>
            <a:spLocks noGrp="1"/>
          </p:cNvSpPr>
          <p:nvPr/>
        </p:nvSpPr>
        <p:spPr>
          <a:xfrm>
            <a:off x="609600" y="6315075"/>
            <a:ext cx="10048875" cy="295275"/>
          </a:xfrm>
          <a:prstGeom prst="rect">
            <a:avLst/>
          </a:prstGeom>
          <a:noFill/>
          <a:ln w="0">
            <a:noFill/>
            <a:prstDash val="solid"/>
          </a:ln>
        </p:spPr>
        <p:txBody>
          <a:bodyPr wrap="square" lIns="0" tIns="0" rIns="0" bIns="0" anchor="ctr">
            <a:noAutofit/>
          </a:bodyPr>
          <a:lstStyle>
            <a:defPPr algn="l">
              <a:defRPr sz="1200" b="0">
                <a:solidFill>
                  <a:srgbClr val="59657A"/>
                </a:solidFill>
                <a:latin typeface="Arial"/>
                <a:ea typeface="Arial"/>
                <a:cs typeface="Arial"/>
              </a:defRPr>
            </a:defPPr>
            <a:lvl1pPr algn="l">
              <a:defRPr sz="1200" b="0">
                <a:solidFill>
                  <a:srgbClr val="59657A"/>
                </a:solidFill>
                <a:latin typeface="Arial"/>
                <a:ea typeface="Arial"/>
                <a:cs typeface="Arial"/>
              </a:defRPr>
            </a:lvl1pPr>
            <a:lvl2pPr algn="l">
              <a:defRPr sz="1200" b="0">
                <a:solidFill>
                  <a:srgbClr val="59657A"/>
                </a:solidFill>
                <a:latin typeface="Arial"/>
                <a:ea typeface="Arial"/>
                <a:cs typeface="Arial"/>
              </a:defRPr>
            </a:lvl2pPr>
            <a:lvl3pPr algn="l">
              <a:defRPr sz="1200" b="0">
                <a:solidFill>
                  <a:srgbClr val="59657A"/>
                </a:solidFill>
                <a:latin typeface="Arial"/>
                <a:ea typeface="Arial"/>
                <a:cs typeface="Arial"/>
              </a:defRPr>
            </a:lvl3pPr>
            <a:lvl4pPr algn="l">
              <a:defRPr sz="1200" b="0">
                <a:solidFill>
                  <a:srgbClr val="59657A"/>
                </a:solidFill>
                <a:latin typeface="Arial"/>
                <a:ea typeface="Arial"/>
                <a:cs typeface="Arial"/>
              </a:defRPr>
            </a:lvl4pPr>
            <a:lvl5pPr algn="l">
              <a:defRPr sz="1200" b="0">
                <a:solidFill>
                  <a:srgbClr val="59657A"/>
                </a:solidFill>
                <a:latin typeface="Arial"/>
                <a:ea typeface="Arial"/>
                <a:cs typeface="Arial"/>
              </a:defRPr>
            </a:lvl5pPr>
            <a:lvl6pPr algn="l">
              <a:defRPr sz="1200" b="0">
                <a:solidFill>
                  <a:srgbClr val="59657A"/>
                </a:solidFill>
                <a:latin typeface="Arial"/>
                <a:ea typeface="Arial"/>
                <a:cs typeface="Arial"/>
              </a:defRPr>
            </a:lvl6pPr>
            <a:lvl7pPr algn="l">
              <a:defRPr sz="1200" b="0">
                <a:solidFill>
                  <a:srgbClr val="59657A"/>
                </a:solidFill>
                <a:latin typeface="Arial"/>
                <a:ea typeface="Arial"/>
                <a:cs typeface="Arial"/>
              </a:defRPr>
            </a:lvl7pPr>
            <a:lvl8pPr algn="l">
              <a:defRPr sz="1200" b="0">
                <a:solidFill>
                  <a:srgbClr val="59657A"/>
                </a:solidFill>
                <a:latin typeface="Arial"/>
                <a:ea typeface="Arial"/>
                <a:cs typeface="Arial"/>
              </a:defRPr>
            </a:lvl8pPr>
            <a:lvl9pPr algn="l">
              <a:defRPr sz="1200" b="0">
                <a:solidFill>
                  <a:srgbClr val="59657A"/>
                </a:solidFill>
                <a:latin typeface="Arial"/>
                <a:ea typeface="Arial"/>
                <a:cs typeface="Arial"/>
              </a:defRPr>
            </a:lvl9pPr>
          </a:lstStyle>
          <a:p>
            <a:pPr algn="l">
              <a:defRPr sz="1200" b="0">
                <a:solidFill>
                  <a:srgbClr val="59657A"/>
                </a:solidFill>
                <a:latin typeface="Arial"/>
                <a:ea typeface="Arial"/>
                <a:cs typeface="Arial"/>
              </a:defRPr>
            </a:pPr>
            <a:r>
              <a:rPr sz="1200" b="0">
                <a:solidFill>
                  <a:srgbClr val="59657A"/>
                </a:solidFill>
                <a:latin typeface="Arial"/>
                <a:ea typeface="Arial"/>
                <a:cs typeface="Arial"/>
              </a:rPr>
              <a:t>Kalogiannis et al., ICLR 2023; Anagnostides, Panageas, Sandholm &amp; Yan, 2026</a:t>
            </a:r>
          </a:p>
        </p:txBody>
      </p:sp>
      <p:pic>
        <p:nvPicPr>
          <p:cNvPr id="27" name="IguanaTex-equation-26" descr="LaTeX equation, editable with IguanaTex. $A_1$">
            <a:extLst>
              <a:ext uri="{FF2B5EF4-FFF2-40B4-BE49-F238E27FC236}">
                <a16:creationId xmlns:a16="http://schemas.microsoft.com/office/drawing/2014/main" id="{9F7F3BE9-53A4-427E-B225-6089D8197A86}"/>
              </a:ext>
            </a:extLst>
          </p:cNvPr>
          <p:cNvPicPr>
            <a:picLocks noChangeAspect="1"/>
          </p:cNvPicPr>
          <p:nvPr>
            <p:custDataLst>
              <p:tags r:id="rId1"/>
            </p:custDataLst>
          </p:nvPr>
        </p:nvPicPr>
        <p:blipFill>
          <a:blip r:embed="rId15"/>
          <a:stretch/>
        </p:blipFill>
        <p:spPr>
          <a:xfrm>
            <a:off x="1068667" y="2869463"/>
            <a:ext cx="415366" cy="318973"/>
          </a:xfrm>
          <a:prstGeom prst="rect">
            <a:avLst/>
          </a:prstGeom>
        </p:spPr>
      </p:pic>
      <p:pic>
        <p:nvPicPr>
          <p:cNvPr id="28" name="IguanaTex-equation-27" descr="LaTeX equation, editable with IguanaTex. $A_2$">
            <a:extLst>
              <a:ext uri="{FF2B5EF4-FFF2-40B4-BE49-F238E27FC236}">
                <a16:creationId xmlns:a16="http://schemas.microsoft.com/office/drawing/2014/main" id="{FC363D6E-6DD1-4924-985F-34FE53C0C671}"/>
              </a:ext>
            </a:extLst>
          </p:cNvPr>
          <p:cNvPicPr>
            <a:picLocks noChangeAspect="1"/>
          </p:cNvPicPr>
          <p:nvPr>
            <p:custDataLst>
              <p:tags r:id="rId2"/>
            </p:custDataLst>
          </p:nvPr>
        </p:nvPicPr>
        <p:blipFill>
          <a:blip r:embed="rId16"/>
          <a:stretch/>
        </p:blipFill>
        <p:spPr>
          <a:xfrm>
            <a:off x="2306917" y="2870340"/>
            <a:ext cx="415366" cy="317221"/>
          </a:xfrm>
          <a:prstGeom prst="rect">
            <a:avLst/>
          </a:prstGeom>
        </p:spPr>
      </p:pic>
      <p:pic>
        <p:nvPicPr>
          <p:cNvPr id="29" name="IguanaTex-equation-28" descr="LaTeX equation, editable with IguanaTex. $B$">
            <a:extLst>
              <a:ext uri="{FF2B5EF4-FFF2-40B4-BE49-F238E27FC236}">
                <a16:creationId xmlns:a16="http://schemas.microsoft.com/office/drawing/2014/main" id="{3E1BF5AB-3F10-4EC6-9CEF-2C934F629C47}"/>
              </a:ext>
            </a:extLst>
          </p:cNvPr>
          <p:cNvPicPr>
            <a:picLocks noChangeAspect="1"/>
          </p:cNvPicPr>
          <p:nvPr>
            <p:custDataLst>
              <p:tags r:id="rId3"/>
            </p:custDataLst>
          </p:nvPr>
        </p:nvPicPr>
        <p:blipFill>
          <a:blip r:embed="rId17"/>
          <a:stretch/>
        </p:blipFill>
        <p:spPr>
          <a:xfrm>
            <a:off x="4446689" y="2898381"/>
            <a:ext cx="250622" cy="261137"/>
          </a:xfrm>
          <a:prstGeom prst="rect">
            <a:avLst/>
          </a:prstGeom>
        </p:spPr>
      </p:pic>
      <p:pic>
        <p:nvPicPr>
          <p:cNvPr id="30" name="IguanaTex-equation-29" descr="LaTeX equation, editable with IguanaTex. $A_1$">
            <a:extLst>
              <a:ext uri="{FF2B5EF4-FFF2-40B4-BE49-F238E27FC236}">
                <a16:creationId xmlns:a16="http://schemas.microsoft.com/office/drawing/2014/main" id="{0AEC777C-4963-464B-9CB9-E00B9EF8021C}"/>
              </a:ext>
            </a:extLst>
          </p:cNvPr>
          <p:cNvPicPr>
            <a:picLocks noChangeAspect="1"/>
          </p:cNvPicPr>
          <p:nvPr>
            <p:custDataLst>
              <p:tags r:id="rId4"/>
            </p:custDataLst>
          </p:nvPr>
        </p:nvPicPr>
        <p:blipFill>
          <a:blip r:embed="rId15"/>
          <a:stretch/>
        </p:blipFill>
        <p:spPr>
          <a:xfrm>
            <a:off x="6764617" y="2869463"/>
            <a:ext cx="415366" cy="318973"/>
          </a:xfrm>
          <a:prstGeom prst="rect">
            <a:avLst/>
          </a:prstGeom>
        </p:spPr>
      </p:pic>
      <p:pic>
        <p:nvPicPr>
          <p:cNvPr id="31" name="IguanaTex-equation-30" descr="LaTeX equation, editable with IguanaTex. $A_2$">
            <a:extLst>
              <a:ext uri="{FF2B5EF4-FFF2-40B4-BE49-F238E27FC236}">
                <a16:creationId xmlns:a16="http://schemas.microsoft.com/office/drawing/2014/main" id="{773EEA3E-2209-4B3C-B47B-46CC09240E27}"/>
              </a:ext>
            </a:extLst>
          </p:cNvPr>
          <p:cNvPicPr>
            <a:picLocks noChangeAspect="1"/>
          </p:cNvPicPr>
          <p:nvPr>
            <p:custDataLst>
              <p:tags r:id="rId5"/>
            </p:custDataLst>
          </p:nvPr>
        </p:nvPicPr>
        <p:blipFill>
          <a:blip r:embed="rId16"/>
          <a:stretch/>
        </p:blipFill>
        <p:spPr>
          <a:xfrm>
            <a:off x="7812367" y="2870340"/>
            <a:ext cx="415366" cy="317221"/>
          </a:xfrm>
          <a:prstGeom prst="rect">
            <a:avLst/>
          </a:prstGeom>
        </p:spPr>
      </p:pic>
      <p:pic>
        <p:nvPicPr>
          <p:cNvPr id="32" name="IguanaTex-equation-31" descr="LaTeX equation, editable with IguanaTex. $B_1$">
            <a:extLst>
              <a:ext uri="{FF2B5EF4-FFF2-40B4-BE49-F238E27FC236}">
                <a16:creationId xmlns:a16="http://schemas.microsoft.com/office/drawing/2014/main" id="{EAE89828-18F7-450B-9AF0-ED2D0D56E131}"/>
              </a:ext>
            </a:extLst>
          </p:cNvPr>
          <p:cNvPicPr>
            <a:picLocks noChangeAspect="1"/>
          </p:cNvPicPr>
          <p:nvPr>
            <p:custDataLst>
              <p:tags r:id="rId6"/>
            </p:custDataLst>
          </p:nvPr>
        </p:nvPicPr>
        <p:blipFill>
          <a:blip r:embed="rId18"/>
          <a:stretch/>
        </p:blipFill>
        <p:spPr>
          <a:xfrm>
            <a:off x="9674352" y="2871216"/>
            <a:ext cx="368046" cy="315468"/>
          </a:xfrm>
          <a:prstGeom prst="rect">
            <a:avLst/>
          </a:prstGeom>
        </p:spPr>
      </p:pic>
      <p:pic>
        <p:nvPicPr>
          <p:cNvPr id="33" name="IguanaTex-equation-32" descr="LaTeX equation, editable with IguanaTex. $B_2$">
            <a:extLst>
              <a:ext uri="{FF2B5EF4-FFF2-40B4-BE49-F238E27FC236}">
                <a16:creationId xmlns:a16="http://schemas.microsoft.com/office/drawing/2014/main" id="{73CEBA04-390A-4D20-8CEB-BC6A12ECDA63}"/>
              </a:ext>
            </a:extLst>
          </p:cNvPr>
          <p:cNvPicPr>
            <a:picLocks noChangeAspect="1"/>
          </p:cNvPicPr>
          <p:nvPr>
            <p:custDataLst>
              <p:tags r:id="rId7"/>
            </p:custDataLst>
          </p:nvPr>
        </p:nvPicPr>
        <p:blipFill>
          <a:blip r:embed="rId19"/>
          <a:stretch/>
        </p:blipFill>
        <p:spPr>
          <a:xfrm>
            <a:off x="10722102" y="2872969"/>
            <a:ext cx="368046" cy="311963"/>
          </a:xfrm>
          <a:prstGeom prst="rect">
            <a:avLst/>
          </a:prstGeom>
        </p:spPr>
      </p:pic>
      <p:pic>
        <p:nvPicPr>
          <p:cNvPr id="34" name="IguanaTex-equation-33" descr="LaTeX equation, editable with IguanaTex. shared $+u$">
            <a:extLst>
              <a:ext uri="{FF2B5EF4-FFF2-40B4-BE49-F238E27FC236}">
                <a16:creationId xmlns:a16="http://schemas.microsoft.com/office/drawing/2014/main" id="{DB873B08-B2B7-40C5-AC6E-CB964BF84DC6}"/>
              </a:ext>
            </a:extLst>
          </p:cNvPr>
          <p:cNvPicPr>
            <a:picLocks noChangeAspect="1"/>
          </p:cNvPicPr>
          <p:nvPr>
            <p:custDataLst>
              <p:tags r:id="rId8"/>
            </p:custDataLst>
          </p:nvPr>
        </p:nvPicPr>
        <p:blipFill>
          <a:blip r:embed="rId20"/>
          <a:stretch/>
        </p:blipFill>
        <p:spPr>
          <a:xfrm>
            <a:off x="1302182" y="3601936"/>
            <a:ext cx="1177061" cy="244678"/>
          </a:xfrm>
          <a:prstGeom prst="rect">
            <a:avLst/>
          </a:prstGeom>
        </p:spPr>
      </p:pic>
      <p:pic>
        <p:nvPicPr>
          <p:cNvPr id="35" name="IguanaTex-equation-34" descr="LaTeX equation, editable with IguanaTex. $-u$">
            <a:extLst>
              <a:ext uri="{FF2B5EF4-FFF2-40B4-BE49-F238E27FC236}">
                <a16:creationId xmlns:a16="http://schemas.microsoft.com/office/drawing/2014/main" id="{D10D0065-1900-4F8E-99C1-4052D765A479}"/>
              </a:ext>
            </a:extLst>
          </p:cNvPr>
          <p:cNvPicPr>
            <a:picLocks noChangeAspect="1"/>
          </p:cNvPicPr>
          <p:nvPr>
            <p:custDataLst>
              <p:tags r:id="rId9"/>
            </p:custDataLst>
          </p:nvPr>
        </p:nvPicPr>
        <p:blipFill>
          <a:blip r:embed="rId21"/>
          <a:stretch/>
        </p:blipFill>
        <p:spPr>
          <a:xfrm>
            <a:off x="4377271" y="3616414"/>
            <a:ext cx="389458" cy="215722"/>
          </a:xfrm>
          <a:prstGeom prst="rect">
            <a:avLst/>
          </a:prstGeom>
        </p:spPr>
      </p:pic>
      <p:pic>
        <p:nvPicPr>
          <p:cNvPr id="36" name="IguanaTex-equation-35" descr="LaTeX equation, editable with IguanaTex. shared $+u$">
            <a:extLst>
              <a:ext uri="{FF2B5EF4-FFF2-40B4-BE49-F238E27FC236}">
                <a16:creationId xmlns:a16="http://schemas.microsoft.com/office/drawing/2014/main" id="{68F45974-4D00-4687-B3C5-E8217D158EEC}"/>
              </a:ext>
            </a:extLst>
          </p:cNvPr>
          <p:cNvPicPr>
            <a:picLocks noChangeAspect="1"/>
          </p:cNvPicPr>
          <p:nvPr>
            <p:custDataLst>
              <p:tags r:id="rId10"/>
            </p:custDataLst>
          </p:nvPr>
        </p:nvPicPr>
        <p:blipFill>
          <a:blip r:embed="rId20"/>
          <a:stretch/>
        </p:blipFill>
        <p:spPr>
          <a:xfrm>
            <a:off x="6898119" y="3601936"/>
            <a:ext cx="1177061" cy="244678"/>
          </a:xfrm>
          <a:prstGeom prst="rect">
            <a:avLst/>
          </a:prstGeom>
        </p:spPr>
      </p:pic>
      <p:pic>
        <p:nvPicPr>
          <p:cNvPr id="37" name="IguanaTex-equation-36" descr="LaTeX equation, editable with IguanaTex. shared $-u$">
            <a:extLst>
              <a:ext uri="{FF2B5EF4-FFF2-40B4-BE49-F238E27FC236}">
                <a16:creationId xmlns:a16="http://schemas.microsoft.com/office/drawing/2014/main" id="{6A59004B-40C7-4474-BF83-20B819A88850}"/>
              </a:ext>
            </a:extLst>
          </p:cNvPr>
          <p:cNvPicPr>
            <a:picLocks noChangeAspect="1"/>
          </p:cNvPicPr>
          <p:nvPr>
            <p:custDataLst>
              <p:tags r:id="rId11"/>
            </p:custDataLst>
          </p:nvPr>
        </p:nvPicPr>
        <p:blipFill>
          <a:blip r:embed="rId22"/>
          <a:stretch/>
        </p:blipFill>
        <p:spPr>
          <a:xfrm>
            <a:off x="9793719" y="3601936"/>
            <a:ext cx="1177061" cy="244678"/>
          </a:xfrm>
          <a:prstGeom prst="rect">
            <a:avLst/>
          </a:prstGeom>
        </p:spPr>
      </p:pic>
      <p:pic>
        <p:nvPicPr>
          <p:cNvPr id="38" name="IguanaTex-equation-37" descr="LaTeX equation, editable with IguanaTex. \begin{tabular}{@{}l@{}}$\mathsf{PPAD}$-complete at inverse-polynomial\\approximation accuracy.\end{tabular}">
            <a:extLst>
              <a:ext uri="{FF2B5EF4-FFF2-40B4-BE49-F238E27FC236}">
                <a16:creationId xmlns:a16="http://schemas.microsoft.com/office/drawing/2014/main" id="{A8F59C7E-2023-4466-AAB7-1DFFE95BF984}"/>
              </a:ext>
            </a:extLst>
          </p:cNvPr>
          <p:cNvPicPr>
            <a:picLocks noChangeAspect="1"/>
          </p:cNvPicPr>
          <p:nvPr>
            <p:custDataLst>
              <p:tags r:id="rId12"/>
            </p:custDataLst>
          </p:nvPr>
        </p:nvPicPr>
        <p:blipFill>
          <a:blip r:embed="rId23"/>
          <a:stretch/>
        </p:blipFill>
        <p:spPr>
          <a:xfrm>
            <a:off x="6419850" y="5258981"/>
            <a:ext cx="3693185" cy="559613"/>
          </a:xfrm>
          <a:prstGeom prst="rect">
            <a:avLst/>
          </a:prstGeom>
        </p:spPr>
      </p:pic>
    </p:spTree>
    <p:extLst>
      <p:ext uri="{BB962C8B-B14F-4D97-AF65-F5344CB8AC3E}">
        <p14:creationId xmlns:p14="http://schemas.microsoft.com/office/powerpoint/2010/main" val="220436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7AFA8BE0-CFE5-4ECA-A4D8-E01534CC76EA}"/>
              </a:ext>
            </a:extLst>
          </p:cNvPr>
          <p:cNvSpPr>
            <a:spLocks noGrp="1"/>
          </p:cNvSpPr>
          <p:nvPr/>
        </p:nvSpPr>
        <p:spPr>
          <a:xfrm>
            <a:off x="609600" y="400050"/>
            <a:ext cx="10972800" cy="666750"/>
          </a:xfrm>
          <a:prstGeom prst="rect">
            <a:avLst/>
          </a:prstGeom>
          <a:noFill/>
          <a:ln w="0">
            <a:noFill/>
            <a:prstDash val="solid"/>
          </a:ln>
        </p:spPr>
        <p:txBody>
          <a:bodyPr wrap="square" lIns="0" tIns="0" rIns="0" bIns="0" anchor="ctr">
            <a:noAutofit/>
          </a:bodyPr>
          <a:lstStyle>
            <a:defPPr algn="l">
              <a:defRPr sz="3150" b="1">
                <a:solidFill>
                  <a:srgbClr val="14213D"/>
                </a:solidFill>
                <a:latin typeface="Arial"/>
                <a:ea typeface="Arial"/>
                <a:cs typeface="Arial"/>
              </a:defRPr>
            </a:defPPr>
            <a:lvl1pPr algn="l">
              <a:defRPr sz="3150" b="1">
                <a:solidFill>
                  <a:srgbClr val="14213D"/>
                </a:solidFill>
                <a:latin typeface="Arial"/>
                <a:ea typeface="Arial"/>
                <a:cs typeface="Arial"/>
              </a:defRPr>
            </a:lvl1pPr>
            <a:lvl2pPr algn="l">
              <a:defRPr sz="3150" b="1">
                <a:solidFill>
                  <a:srgbClr val="14213D"/>
                </a:solidFill>
                <a:latin typeface="Arial"/>
                <a:ea typeface="Arial"/>
                <a:cs typeface="Arial"/>
              </a:defRPr>
            </a:lvl2pPr>
            <a:lvl3pPr algn="l">
              <a:defRPr sz="3150" b="1">
                <a:solidFill>
                  <a:srgbClr val="14213D"/>
                </a:solidFill>
                <a:latin typeface="Arial"/>
                <a:ea typeface="Arial"/>
                <a:cs typeface="Arial"/>
              </a:defRPr>
            </a:lvl3pPr>
            <a:lvl4pPr algn="l">
              <a:defRPr sz="3150" b="1">
                <a:solidFill>
                  <a:srgbClr val="14213D"/>
                </a:solidFill>
                <a:latin typeface="Arial"/>
                <a:ea typeface="Arial"/>
                <a:cs typeface="Arial"/>
              </a:defRPr>
            </a:lvl4pPr>
            <a:lvl5pPr algn="l">
              <a:defRPr sz="3150" b="1">
                <a:solidFill>
                  <a:srgbClr val="14213D"/>
                </a:solidFill>
                <a:latin typeface="Arial"/>
                <a:ea typeface="Arial"/>
                <a:cs typeface="Arial"/>
              </a:defRPr>
            </a:lvl5pPr>
            <a:lvl6pPr algn="l">
              <a:defRPr sz="3150" b="1">
                <a:solidFill>
                  <a:srgbClr val="14213D"/>
                </a:solidFill>
                <a:latin typeface="Arial"/>
                <a:ea typeface="Arial"/>
                <a:cs typeface="Arial"/>
              </a:defRPr>
            </a:lvl6pPr>
            <a:lvl7pPr algn="l">
              <a:defRPr sz="3150" b="1">
                <a:solidFill>
                  <a:srgbClr val="14213D"/>
                </a:solidFill>
                <a:latin typeface="Arial"/>
                <a:ea typeface="Arial"/>
                <a:cs typeface="Arial"/>
              </a:defRPr>
            </a:lvl7pPr>
            <a:lvl8pPr algn="l">
              <a:defRPr sz="3150" b="1">
                <a:solidFill>
                  <a:srgbClr val="14213D"/>
                </a:solidFill>
                <a:latin typeface="Arial"/>
                <a:ea typeface="Arial"/>
                <a:cs typeface="Arial"/>
              </a:defRPr>
            </a:lvl8pPr>
            <a:lvl9pPr algn="l">
              <a:defRPr sz="3150" b="1">
                <a:solidFill>
                  <a:srgbClr val="14213D"/>
                </a:solidFill>
                <a:latin typeface="Arial"/>
                <a:ea typeface="Arial"/>
                <a:cs typeface="Arial"/>
              </a:defRPr>
            </a:lvl9pPr>
          </a:lstStyle>
          <a:p>
            <a:pPr algn="l">
              <a:defRPr sz="3150" b="1">
                <a:solidFill>
                  <a:srgbClr val="14213D"/>
                </a:solidFill>
                <a:latin typeface="Arial"/>
                <a:ea typeface="Arial"/>
                <a:cs typeface="Arial"/>
              </a:defRPr>
            </a:pPr>
            <a:r>
              <a:rPr sz="3150" b="1">
                <a:solidFill>
                  <a:srgbClr val="14213D"/>
                </a:solidFill>
                <a:latin typeface="Arial"/>
                <a:ea typeface="Arial"/>
                <a:cs typeface="Arial"/>
              </a:rPr>
              <a:t>What I want to understand</a:t>
            </a:r>
          </a:p>
        </p:txBody>
      </p:sp>
      <p:sp>
        <p:nvSpPr>
          <p:cNvPr id="2" name="slide-number">
            <a:extLst>
              <a:ext uri="{FF2B5EF4-FFF2-40B4-BE49-F238E27FC236}">
                <a16:creationId xmlns:a16="http://schemas.microsoft.com/office/drawing/2014/main" id="{BDEB69CA-1C92-4014-B88E-437BD54DF4D0}"/>
              </a:ext>
            </a:extLst>
          </p:cNvPr>
          <p:cNvSpPr>
            <a:spLocks noGrp="1"/>
          </p:cNvSpPr>
          <p:nvPr/>
        </p:nvSpPr>
        <p:spPr>
          <a:xfrm>
            <a:off x="11144250" y="6372225"/>
            <a:ext cx="438150" cy="247650"/>
          </a:xfrm>
          <a:prstGeom prst="rect">
            <a:avLst/>
          </a:prstGeom>
          <a:noFill/>
          <a:ln w="0">
            <a:noFill/>
            <a:prstDash val="solid"/>
          </a:ln>
        </p:spPr>
        <p:txBody>
          <a:bodyPr wrap="square" lIns="0" tIns="0" rIns="0" bIns="0" anchor="ctr">
            <a:noAutofit/>
          </a:bodyPr>
          <a:lstStyle>
            <a:defPPr algn="r">
              <a:defRPr sz="1275" b="0">
                <a:solidFill>
                  <a:srgbClr val="59657A"/>
                </a:solidFill>
                <a:latin typeface="Arial"/>
                <a:ea typeface="Arial"/>
                <a:cs typeface="Arial"/>
              </a:defRPr>
            </a:defPPr>
            <a:lvl1pPr algn="r">
              <a:defRPr sz="1275" b="0">
                <a:solidFill>
                  <a:srgbClr val="59657A"/>
                </a:solidFill>
                <a:latin typeface="Arial"/>
                <a:ea typeface="Arial"/>
                <a:cs typeface="Arial"/>
              </a:defRPr>
            </a:lvl1pPr>
            <a:lvl2pPr algn="r">
              <a:defRPr sz="1275" b="0">
                <a:solidFill>
                  <a:srgbClr val="59657A"/>
                </a:solidFill>
                <a:latin typeface="Arial"/>
                <a:ea typeface="Arial"/>
                <a:cs typeface="Arial"/>
              </a:defRPr>
            </a:lvl2pPr>
            <a:lvl3pPr algn="r">
              <a:defRPr sz="1275" b="0">
                <a:solidFill>
                  <a:srgbClr val="59657A"/>
                </a:solidFill>
                <a:latin typeface="Arial"/>
                <a:ea typeface="Arial"/>
                <a:cs typeface="Arial"/>
              </a:defRPr>
            </a:lvl3pPr>
            <a:lvl4pPr algn="r">
              <a:defRPr sz="1275" b="0">
                <a:solidFill>
                  <a:srgbClr val="59657A"/>
                </a:solidFill>
                <a:latin typeface="Arial"/>
                <a:ea typeface="Arial"/>
                <a:cs typeface="Arial"/>
              </a:defRPr>
            </a:lvl4pPr>
            <a:lvl5pPr algn="r">
              <a:defRPr sz="1275" b="0">
                <a:solidFill>
                  <a:srgbClr val="59657A"/>
                </a:solidFill>
                <a:latin typeface="Arial"/>
                <a:ea typeface="Arial"/>
                <a:cs typeface="Arial"/>
              </a:defRPr>
            </a:lvl5pPr>
            <a:lvl6pPr algn="r">
              <a:defRPr sz="1275" b="0">
                <a:solidFill>
                  <a:srgbClr val="59657A"/>
                </a:solidFill>
                <a:latin typeface="Arial"/>
                <a:ea typeface="Arial"/>
                <a:cs typeface="Arial"/>
              </a:defRPr>
            </a:lvl6pPr>
            <a:lvl7pPr algn="r">
              <a:defRPr sz="1275" b="0">
                <a:solidFill>
                  <a:srgbClr val="59657A"/>
                </a:solidFill>
                <a:latin typeface="Arial"/>
                <a:ea typeface="Arial"/>
                <a:cs typeface="Arial"/>
              </a:defRPr>
            </a:lvl7pPr>
            <a:lvl8pPr algn="r">
              <a:defRPr sz="1275" b="0">
                <a:solidFill>
                  <a:srgbClr val="59657A"/>
                </a:solidFill>
                <a:latin typeface="Arial"/>
                <a:ea typeface="Arial"/>
                <a:cs typeface="Arial"/>
              </a:defRPr>
            </a:lvl8pPr>
            <a:lvl9pPr algn="r">
              <a:defRPr sz="1275" b="0">
                <a:solidFill>
                  <a:srgbClr val="59657A"/>
                </a:solidFill>
                <a:latin typeface="Arial"/>
                <a:ea typeface="Arial"/>
                <a:cs typeface="Arial"/>
              </a:defRPr>
            </a:lvl9pPr>
          </a:lstStyle>
          <a:p>
            <a:pPr algn="r">
              <a:defRPr sz="1275" b="0">
                <a:solidFill>
                  <a:srgbClr val="59657A"/>
                </a:solidFill>
                <a:latin typeface="Arial"/>
                <a:ea typeface="Arial"/>
                <a:cs typeface="Arial"/>
              </a:defRPr>
            </a:pPr>
            <a:r>
              <a:rPr sz="1275" b="0">
                <a:solidFill>
                  <a:srgbClr val="59657A"/>
                </a:solidFill>
                <a:latin typeface="Arial"/>
                <a:ea typeface="Arial"/>
                <a:cs typeface="Arial"/>
              </a:rPr>
              <a:t>08</a:t>
            </a:r>
          </a:p>
        </p:txBody>
      </p:sp>
      <p:sp>
        <p:nvSpPr>
          <p:cNvPr id="3" name="interest1-title">
            <a:extLst>
              <a:ext uri="{FF2B5EF4-FFF2-40B4-BE49-F238E27FC236}">
                <a16:creationId xmlns:a16="http://schemas.microsoft.com/office/drawing/2014/main" id="{5911E620-A1FE-42C9-8C29-D6A6D7308D4E}"/>
              </a:ext>
            </a:extLst>
          </p:cNvPr>
          <p:cNvSpPr>
            <a:spLocks noGrp="1"/>
          </p:cNvSpPr>
          <p:nvPr/>
        </p:nvSpPr>
        <p:spPr>
          <a:xfrm>
            <a:off x="609600" y="1685925"/>
            <a:ext cx="4429125" cy="466725"/>
          </a:xfrm>
          <a:prstGeom prst="rect">
            <a:avLst/>
          </a:prstGeom>
          <a:noFill/>
          <a:ln w="0">
            <a:noFill/>
            <a:prstDash val="solid"/>
          </a:ln>
        </p:spPr>
        <p:txBody>
          <a:bodyPr wrap="square" lIns="0" tIns="0" rIns="0" bIns="0" anchor="ctr">
            <a:noAutofit/>
          </a:bodyPr>
          <a:lstStyle>
            <a:defPPr algn="l">
              <a:defRPr sz="2550" b="1">
                <a:solidFill>
                  <a:srgbClr val="2D5BCE"/>
                </a:solidFill>
                <a:latin typeface="Arial"/>
                <a:ea typeface="Arial"/>
                <a:cs typeface="Arial"/>
              </a:defRPr>
            </a:defPPr>
            <a:lvl1pPr algn="l">
              <a:defRPr sz="2550" b="1">
                <a:solidFill>
                  <a:srgbClr val="2D5BCE"/>
                </a:solidFill>
                <a:latin typeface="Arial"/>
                <a:ea typeface="Arial"/>
                <a:cs typeface="Arial"/>
              </a:defRPr>
            </a:lvl1pPr>
            <a:lvl2pPr algn="l">
              <a:defRPr sz="2550" b="1">
                <a:solidFill>
                  <a:srgbClr val="2D5BCE"/>
                </a:solidFill>
                <a:latin typeface="Arial"/>
                <a:ea typeface="Arial"/>
                <a:cs typeface="Arial"/>
              </a:defRPr>
            </a:lvl2pPr>
            <a:lvl3pPr algn="l">
              <a:defRPr sz="2550" b="1">
                <a:solidFill>
                  <a:srgbClr val="2D5BCE"/>
                </a:solidFill>
                <a:latin typeface="Arial"/>
                <a:ea typeface="Arial"/>
                <a:cs typeface="Arial"/>
              </a:defRPr>
            </a:lvl3pPr>
            <a:lvl4pPr algn="l">
              <a:defRPr sz="2550" b="1">
                <a:solidFill>
                  <a:srgbClr val="2D5BCE"/>
                </a:solidFill>
                <a:latin typeface="Arial"/>
                <a:ea typeface="Arial"/>
                <a:cs typeface="Arial"/>
              </a:defRPr>
            </a:lvl4pPr>
            <a:lvl5pPr algn="l">
              <a:defRPr sz="2550" b="1">
                <a:solidFill>
                  <a:srgbClr val="2D5BCE"/>
                </a:solidFill>
                <a:latin typeface="Arial"/>
                <a:ea typeface="Arial"/>
                <a:cs typeface="Arial"/>
              </a:defRPr>
            </a:lvl5pPr>
            <a:lvl6pPr algn="l">
              <a:defRPr sz="2550" b="1">
                <a:solidFill>
                  <a:srgbClr val="2D5BCE"/>
                </a:solidFill>
                <a:latin typeface="Arial"/>
                <a:ea typeface="Arial"/>
                <a:cs typeface="Arial"/>
              </a:defRPr>
            </a:lvl6pPr>
            <a:lvl7pPr algn="l">
              <a:defRPr sz="2550" b="1">
                <a:solidFill>
                  <a:srgbClr val="2D5BCE"/>
                </a:solidFill>
                <a:latin typeface="Arial"/>
                <a:ea typeface="Arial"/>
                <a:cs typeface="Arial"/>
              </a:defRPr>
            </a:lvl7pPr>
            <a:lvl8pPr algn="l">
              <a:defRPr sz="2550" b="1">
                <a:solidFill>
                  <a:srgbClr val="2D5BCE"/>
                </a:solidFill>
                <a:latin typeface="Arial"/>
                <a:ea typeface="Arial"/>
                <a:cs typeface="Arial"/>
              </a:defRPr>
            </a:lvl8pPr>
            <a:lvl9pPr algn="l">
              <a:defRPr sz="2550" b="1">
                <a:solidFill>
                  <a:srgbClr val="2D5BCE"/>
                </a:solidFill>
                <a:latin typeface="Arial"/>
                <a:ea typeface="Arial"/>
                <a:cs typeface="Arial"/>
              </a:defRPr>
            </a:lvl9pPr>
          </a:lstStyle>
          <a:p>
            <a:pPr algn="l">
              <a:defRPr sz="2550" b="1">
                <a:solidFill>
                  <a:srgbClr val="2D5BCE"/>
                </a:solidFill>
                <a:latin typeface="Arial"/>
                <a:ea typeface="Arial"/>
                <a:cs typeface="Arial"/>
              </a:defRPr>
            </a:pPr>
            <a:r>
              <a:rPr sz="2550" b="1">
                <a:solidFill>
                  <a:srgbClr val="2D5BCE"/>
                </a:solidFill>
                <a:latin typeface="Arial"/>
                <a:ea typeface="Arial"/>
                <a:cs typeface="Arial"/>
              </a:rPr>
              <a:t>Learning dynamics</a:t>
            </a:r>
          </a:p>
        </p:txBody>
      </p:sp>
      <p:sp>
        <p:nvSpPr>
          <p:cNvPr id="4" name="interest1-body">
            <a:extLst>
              <a:ext uri="{FF2B5EF4-FFF2-40B4-BE49-F238E27FC236}">
                <a16:creationId xmlns:a16="http://schemas.microsoft.com/office/drawing/2014/main" id="{9C0EB252-4BDD-48C1-8407-2FF58CEFDD5A}"/>
              </a:ext>
            </a:extLst>
          </p:cNvPr>
          <p:cNvSpPr>
            <a:spLocks noGrp="1"/>
          </p:cNvSpPr>
          <p:nvPr/>
        </p:nvSpPr>
        <p:spPr>
          <a:xfrm>
            <a:off x="609600" y="2295525"/>
            <a:ext cx="4953000" cy="866775"/>
          </a:xfrm>
          <a:prstGeom prst="rect">
            <a:avLst/>
          </a:prstGeom>
          <a:noFill/>
          <a:ln w="0">
            <a:noFill/>
            <a:prstDash val="solid"/>
          </a:ln>
        </p:spPr>
        <p:txBody>
          <a:bodyPr wrap="square" lIns="0" tIns="0" rIns="0" bIns="0" anchor="ctr">
            <a:noAutofit/>
          </a:bodyPr>
          <a:lstStyle>
            <a:defPPr algn="l">
              <a:defRPr sz="2175" b="0">
                <a:solidFill>
                  <a:srgbClr val="17243F"/>
                </a:solidFill>
                <a:latin typeface="Arial"/>
                <a:ea typeface="Arial"/>
                <a:cs typeface="Arial"/>
              </a:defRPr>
            </a:defPPr>
            <a:lvl1pPr algn="l">
              <a:defRPr sz="2175" b="0">
                <a:solidFill>
                  <a:srgbClr val="17243F"/>
                </a:solidFill>
                <a:latin typeface="Arial"/>
                <a:ea typeface="Arial"/>
                <a:cs typeface="Arial"/>
              </a:defRPr>
            </a:lvl1pPr>
            <a:lvl2pPr algn="l">
              <a:defRPr sz="2175" b="0">
                <a:solidFill>
                  <a:srgbClr val="17243F"/>
                </a:solidFill>
                <a:latin typeface="Arial"/>
                <a:ea typeface="Arial"/>
                <a:cs typeface="Arial"/>
              </a:defRPr>
            </a:lvl2pPr>
            <a:lvl3pPr algn="l">
              <a:defRPr sz="2175" b="0">
                <a:solidFill>
                  <a:srgbClr val="17243F"/>
                </a:solidFill>
                <a:latin typeface="Arial"/>
                <a:ea typeface="Arial"/>
                <a:cs typeface="Arial"/>
              </a:defRPr>
            </a:lvl3pPr>
            <a:lvl4pPr algn="l">
              <a:defRPr sz="2175" b="0">
                <a:solidFill>
                  <a:srgbClr val="17243F"/>
                </a:solidFill>
                <a:latin typeface="Arial"/>
                <a:ea typeface="Arial"/>
                <a:cs typeface="Arial"/>
              </a:defRPr>
            </a:lvl4pPr>
            <a:lvl5pPr algn="l">
              <a:defRPr sz="2175" b="0">
                <a:solidFill>
                  <a:srgbClr val="17243F"/>
                </a:solidFill>
                <a:latin typeface="Arial"/>
                <a:ea typeface="Arial"/>
                <a:cs typeface="Arial"/>
              </a:defRPr>
            </a:lvl5pPr>
            <a:lvl6pPr algn="l">
              <a:defRPr sz="2175" b="0">
                <a:solidFill>
                  <a:srgbClr val="17243F"/>
                </a:solidFill>
                <a:latin typeface="Arial"/>
                <a:ea typeface="Arial"/>
                <a:cs typeface="Arial"/>
              </a:defRPr>
            </a:lvl6pPr>
            <a:lvl7pPr algn="l">
              <a:defRPr sz="2175" b="0">
                <a:solidFill>
                  <a:srgbClr val="17243F"/>
                </a:solidFill>
                <a:latin typeface="Arial"/>
                <a:ea typeface="Arial"/>
                <a:cs typeface="Arial"/>
              </a:defRPr>
            </a:lvl7pPr>
            <a:lvl8pPr algn="l">
              <a:defRPr sz="2175" b="0">
                <a:solidFill>
                  <a:srgbClr val="17243F"/>
                </a:solidFill>
                <a:latin typeface="Arial"/>
                <a:ea typeface="Arial"/>
                <a:cs typeface="Arial"/>
              </a:defRPr>
            </a:lvl8pPr>
            <a:lvl9pPr algn="l">
              <a:defRPr sz="2175" b="0">
                <a:solidFill>
                  <a:srgbClr val="17243F"/>
                </a:solidFill>
                <a:latin typeface="Arial"/>
                <a:ea typeface="Arial"/>
                <a:cs typeface="Arial"/>
              </a:defRPr>
            </a:lvl9pPr>
          </a:lstStyle>
          <a:p>
            <a:pPr algn="l">
              <a:defRPr sz="2175" b="0">
                <a:solidFill>
                  <a:srgbClr val="17243F"/>
                </a:solidFill>
                <a:latin typeface="Arial"/>
                <a:ea typeface="Arial"/>
                <a:cs typeface="Arial"/>
              </a:defRPr>
            </a:pPr>
            <a:r>
              <a:rPr sz="2175" b="0">
                <a:solidFill>
                  <a:srgbClr val="17243F"/>
                </a:solidFill>
                <a:latin typeface="Arial"/>
                <a:ea typeface="Arial"/>
                <a:cs typeface="Arial"/>
              </a:rPr>
              <a:t>When do repeated updates converge?</a:t>
            </a:r>
          </a:p>
          <a:p>
            <a:pPr algn="l">
              <a:defRPr sz="2175" b="0">
                <a:solidFill>
                  <a:srgbClr val="17243F"/>
                </a:solidFill>
                <a:latin typeface="Arial"/>
                <a:ea typeface="Arial"/>
                <a:cs typeface="Arial"/>
              </a:defRPr>
            </a:pPr>
            <a:r>
              <a:rPr sz="2175" b="0">
                <a:solidFill>
                  <a:srgbClr val="17243F"/>
                </a:solidFill>
                <a:latin typeface="Arial"/>
                <a:ea typeface="Arial"/>
                <a:cs typeface="Arial"/>
              </a:rPr>
              <a:t>How long does it take?</a:t>
            </a:r>
          </a:p>
        </p:txBody>
      </p:sp>
      <p:sp>
        <p:nvSpPr>
          <p:cNvPr id="5" name="interest2-title">
            <a:extLst>
              <a:ext uri="{FF2B5EF4-FFF2-40B4-BE49-F238E27FC236}">
                <a16:creationId xmlns:a16="http://schemas.microsoft.com/office/drawing/2014/main" id="{10FA0F0A-FB84-4ECE-A105-6444E442B5AA}"/>
              </a:ext>
            </a:extLst>
          </p:cNvPr>
          <p:cNvSpPr>
            <a:spLocks noGrp="1"/>
          </p:cNvSpPr>
          <p:nvPr/>
        </p:nvSpPr>
        <p:spPr>
          <a:xfrm>
            <a:off x="609600" y="3743325"/>
            <a:ext cx="5143500" cy="466725"/>
          </a:xfrm>
          <a:prstGeom prst="rect">
            <a:avLst/>
          </a:prstGeom>
          <a:noFill/>
          <a:ln w="0">
            <a:noFill/>
            <a:prstDash val="solid"/>
          </a:ln>
        </p:spPr>
        <p:txBody>
          <a:bodyPr wrap="square" lIns="0" tIns="0" rIns="0" bIns="0" anchor="ctr">
            <a:noAutofit/>
          </a:bodyPr>
          <a:lstStyle>
            <a:defPPr algn="l">
              <a:defRPr sz="2550" b="1">
                <a:solidFill>
                  <a:srgbClr val="008F84"/>
                </a:solidFill>
                <a:latin typeface="Arial"/>
                <a:ea typeface="Arial"/>
                <a:cs typeface="Arial"/>
              </a:defRPr>
            </a:defPPr>
            <a:lvl1pPr algn="l">
              <a:defRPr sz="2550" b="1">
                <a:solidFill>
                  <a:srgbClr val="008F84"/>
                </a:solidFill>
                <a:latin typeface="Arial"/>
                <a:ea typeface="Arial"/>
                <a:cs typeface="Arial"/>
              </a:defRPr>
            </a:lvl1pPr>
            <a:lvl2pPr algn="l">
              <a:defRPr sz="2550" b="1">
                <a:solidFill>
                  <a:srgbClr val="008F84"/>
                </a:solidFill>
                <a:latin typeface="Arial"/>
                <a:ea typeface="Arial"/>
                <a:cs typeface="Arial"/>
              </a:defRPr>
            </a:lvl2pPr>
            <a:lvl3pPr algn="l">
              <a:defRPr sz="2550" b="1">
                <a:solidFill>
                  <a:srgbClr val="008F84"/>
                </a:solidFill>
                <a:latin typeface="Arial"/>
                <a:ea typeface="Arial"/>
                <a:cs typeface="Arial"/>
              </a:defRPr>
            </a:lvl3pPr>
            <a:lvl4pPr algn="l">
              <a:defRPr sz="2550" b="1">
                <a:solidFill>
                  <a:srgbClr val="008F84"/>
                </a:solidFill>
                <a:latin typeface="Arial"/>
                <a:ea typeface="Arial"/>
                <a:cs typeface="Arial"/>
              </a:defRPr>
            </a:lvl4pPr>
            <a:lvl5pPr algn="l">
              <a:defRPr sz="2550" b="1">
                <a:solidFill>
                  <a:srgbClr val="008F84"/>
                </a:solidFill>
                <a:latin typeface="Arial"/>
                <a:ea typeface="Arial"/>
                <a:cs typeface="Arial"/>
              </a:defRPr>
            </a:lvl5pPr>
            <a:lvl6pPr algn="l">
              <a:defRPr sz="2550" b="1">
                <a:solidFill>
                  <a:srgbClr val="008F84"/>
                </a:solidFill>
                <a:latin typeface="Arial"/>
                <a:ea typeface="Arial"/>
                <a:cs typeface="Arial"/>
              </a:defRPr>
            </a:lvl6pPr>
            <a:lvl7pPr algn="l">
              <a:defRPr sz="2550" b="1">
                <a:solidFill>
                  <a:srgbClr val="008F84"/>
                </a:solidFill>
                <a:latin typeface="Arial"/>
                <a:ea typeface="Arial"/>
                <a:cs typeface="Arial"/>
              </a:defRPr>
            </a:lvl7pPr>
            <a:lvl8pPr algn="l">
              <a:defRPr sz="2550" b="1">
                <a:solidFill>
                  <a:srgbClr val="008F84"/>
                </a:solidFill>
                <a:latin typeface="Arial"/>
                <a:ea typeface="Arial"/>
                <a:cs typeface="Arial"/>
              </a:defRPr>
            </a:lvl8pPr>
            <a:lvl9pPr algn="l">
              <a:defRPr sz="2550" b="1">
                <a:solidFill>
                  <a:srgbClr val="008F84"/>
                </a:solidFill>
                <a:latin typeface="Arial"/>
                <a:ea typeface="Arial"/>
                <a:cs typeface="Arial"/>
              </a:defRPr>
            </a:lvl9pPr>
          </a:lstStyle>
          <a:p>
            <a:pPr algn="l">
              <a:defRPr sz="2550" b="1">
                <a:solidFill>
                  <a:srgbClr val="008F84"/>
                </a:solidFill>
                <a:latin typeface="Arial"/>
                <a:ea typeface="Arial"/>
                <a:cs typeface="Arial"/>
              </a:defRPr>
            </a:pPr>
            <a:r>
              <a:rPr sz="2550" b="1">
                <a:solidFill>
                  <a:srgbClr val="008F84"/>
                </a:solidFill>
                <a:latin typeface="Arial"/>
                <a:ea typeface="Arial"/>
                <a:cs typeface="Arial"/>
              </a:rPr>
              <a:t>The limits of computation</a:t>
            </a:r>
          </a:p>
        </p:txBody>
      </p:sp>
      <p:sp>
        <p:nvSpPr>
          <p:cNvPr id="6" name="interest2-body">
            <a:extLst>
              <a:ext uri="{FF2B5EF4-FFF2-40B4-BE49-F238E27FC236}">
                <a16:creationId xmlns:a16="http://schemas.microsoft.com/office/drawing/2014/main" id="{AD63D285-1CDB-463C-A8DD-E54297E4F9C6}"/>
              </a:ext>
            </a:extLst>
          </p:cNvPr>
          <p:cNvSpPr>
            <a:spLocks noGrp="1"/>
          </p:cNvSpPr>
          <p:nvPr/>
        </p:nvSpPr>
        <p:spPr>
          <a:xfrm>
            <a:off x="609600" y="4352925"/>
            <a:ext cx="4953000" cy="866775"/>
          </a:xfrm>
          <a:prstGeom prst="rect">
            <a:avLst/>
          </a:prstGeom>
          <a:noFill/>
          <a:ln w="0">
            <a:noFill/>
            <a:prstDash val="solid"/>
          </a:ln>
        </p:spPr>
        <p:txBody>
          <a:bodyPr wrap="square" lIns="0" tIns="0" rIns="0" bIns="0" anchor="ctr">
            <a:noAutofit/>
          </a:bodyPr>
          <a:lstStyle>
            <a:defPPr algn="l">
              <a:defRPr sz="2175" b="0">
                <a:solidFill>
                  <a:srgbClr val="17243F"/>
                </a:solidFill>
                <a:latin typeface="Arial"/>
                <a:ea typeface="Arial"/>
                <a:cs typeface="Arial"/>
              </a:defRPr>
            </a:defPPr>
            <a:lvl1pPr algn="l">
              <a:defRPr sz="2175" b="0">
                <a:solidFill>
                  <a:srgbClr val="17243F"/>
                </a:solidFill>
                <a:latin typeface="Arial"/>
                <a:ea typeface="Arial"/>
                <a:cs typeface="Arial"/>
              </a:defRPr>
            </a:lvl1pPr>
            <a:lvl2pPr algn="l">
              <a:defRPr sz="2175" b="0">
                <a:solidFill>
                  <a:srgbClr val="17243F"/>
                </a:solidFill>
                <a:latin typeface="Arial"/>
                <a:ea typeface="Arial"/>
                <a:cs typeface="Arial"/>
              </a:defRPr>
            </a:lvl2pPr>
            <a:lvl3pPr algn="l">
              <a:defRPr sz="2175" b="0">
                <a:solidFill>
                  <a:srgbClr val="17243F"/>
                </a:solidFill>
                <a:latin typeface="Arial"/>
                <a:ea typeface="Arial"/>
                <a:cs typeface="Arial"/>
              </a:defRPr>
            </a:lvl3pPr>
            <a:lvl4pPr algn="l">
              <a:defRPr sz="2175" b="0">
                <a:solidFill>
                  <a:srgbClr val="17243F"/>
                </a:solidFill>
                <a:latin typeface="Arial"/>
                <a:ea typeface="Arial"/>
                <a:cs typeface="Arial"/>
              </a:defRPr>
            </a:lvl4pPr>
            <a:lvl5pPr algn="l">
              <a:defRPr sz="2175" b="0">
                <a:solidFill>
                  <a:srgbClr val="17243F"/>
                </a:solidFill>
                <a:latin typeface="Arial"/>
                <a:ea typeface="Arial"/>
                <a:cs typeface="Arial"/>
              </a:defRPr>
            </a:lvl5pPr>
            <a:lvl6pPr algn="l">
              <a:defRPr sz="2175" b="0">
                <a:solidFill>
                  <a:srgbClr val="17243F"/>
                </a:solidFill>
                <a:latin typeface="Arial"/>
                <a:ea typeface="Arial"/>
                <a:cs typeface="Arial"/>
              </a:defRPr>
            </a:lvl6pPr>
            <a:lvl7pPr algn="l">
              <a:defRPr sz="2175" b="0">
                <a:solidFill>
                  <a:srgbClr val="17243F"/>
                </a:solidFill>
                <a:latin typeface="Arial"/>
                <a:ea typeface="Arial"/>
                <a:cs typeface="Arial"/>
              </a:defRPr>
            </a:lvl7pPr>
            <a:lvl8pPr algn="l">
              <a:defRPr sz="2175" b="0">
                <a:solidFill>
                  <a:srgbClr val="17243F"/>
                </a:solidFill>
                <a:latin typeface="Arial"/>
                <a:ea typeface="Arial"/>
                <a:cs typeface="Arial"/>
              </a:defRPr>
            </a:lvl8pPr>
            <a:lvl9pPr algn="l">
              <a:defRPr sz="2175" b="0">
                <a:solidFill>
                  <a:srgbClr val="17243F"/>
                </a:solidFill>
                <a:latin typeface="Arial"/>
                <a:ea typeface="Arial"/>
                <a:cs typeface="Arial"/>
              </a:defRPr>
            </a:lvl9pPr>
          </a:lstStyle>
          <a:p>
            <a:pPr algn="l">
              <a:defRPr sz="2175" b="0">
                <a:solidFill>
                  <a:srgbClr val="17243F"/>
                </a:solidFill>
                <a:latin typeface="Arial"/>
                <a:ea typeface="Arial"/>
                <a:cs typeface="Arial"/>
              </a:defRPr>
            </a:pPr>
            <a:r>
              <a:rPr sz="2175" b="0">
                <a:solidFill>
                  <a:srgbClr val="17243F"/>
                </a:solidFill>
                <a:latin typeface="Arial"/>
                <a:ea typeface="Arial"/>
                <a:cs typeface="Arial"/>
              </a:rPr>
              <a:t>Which game structures permit</a:t>
            </a:r>
          </a:p>
          <a:p>
            <a:pPr algn="l">
              <a:defRPr sz="2175" b="0">
                <a:solidFill>
                  <a:srgbClr val="17243F"/>
                </a:solidFill>
                <a:latin typeface="Arial"/>
                <a:ea typeface="Arial"/>
                <a:cs typeface="Arial"/>
              </a:defRPr>
            </a:pPr>
            <a:r>
              <a:rPr sz="2175" b="0">
                <a:solidFill>
                  <a:srgbClr val="17243F"/>
                </a:solidFill>
                <a:latin typeface="Arial"/>
                <a:ea typeface="Arial"/>
                <a:cs typeface="Arial"/>
              </a:rPr>
              <a:t>efficient algorithms?</a:t>
            </a:r>
          </a:p>
        </p:txBody>
      </p:sp>
      <p:sp>
        <p:nvSpPr>
          <p:cNvPr id="7" name="closing-question-label">
            <a:extLst>
              <a:ext uri="{FF2B5EF4-FFF2-40B4-BE49-F238E27FC236}">
                <a16:creationId xmlns:a16="http://schemas.microsoft.com/office/drawing/2014/main" id="{FE3E606B-454C-4920-84A2-782FB8A0277D}"/>
              </a:ext>
            </a:extLst>
          </p:cNvPr>
          <p:cNvSpPr>
            <a:spLocks noGrp="1"/>
          </p:cNvSpPr>
          <p:nvPr/>
        </p:nvSpPr>
        <p:spPr>
          <a:xfrm>
            <a:off x="6724650" y="1685925"/>
            <a:ext cx="4857750" cy="466725"/>
          </a:xfrm>
          <a:prstGeom prst="rect">
            <a:avLst/>
          </a:prstGeom>
          <a:noFill/>
          <a:ln w="0">
            <a:noFill/>
            <a:prstDash val="solid"/>
          </a:ln>
        </p:spPr>
        <p:txBody>
          <a:bodyPr wrap="square" lIns="0" tIns="0" rIns="0" bIns="0" anchor="ctr">
            <a:noAutofit/>
          </a:bodyPr>
          <a:lstStyle>
            <a:defPPr algn="l">
              <a:defRPr sz="2175" b="0">
                <a:solidFill>
                  <a:srgbClr val="59657A"/>
                </a:solidFill>
                <a:latin typeface="Arial"/>
                <a:ea typeface="Arial"/>
                <a:cs typeface="Arial"/>
              </a:defRPr>
            </a:defPPr>
            <a:lvl1pPr algn="l">
              <a:defRPr sz="2175" b="0">
                <a:solidFill>
                  <a:srgbClr val="59657A"/>
                </a:solidFill>
                <a:latin typeface="Arial"/>
                <a:ea typeface="Arial"/>
                <a:cs typeface="Arial"/>
              </a:defRPr>
            </a:lvl1pPr>
            <a:lvl2pPr algn="l">
              <a:defRPr sz="2175" b="0">
                <a:solidFill>
                  <a:srgbClr val="59657A"/>
                </a:solidFill>
                <a:latin typeface="Arial"/>
                <a:ea typeface="Arial"/>
                <a:cs typeface="Arial"/>
              </a:defRPr>
            </a:lvl2pPr>
            <a:lvl3pPr algn="l">
              <a:defRPr sz="2175" b="0">
                <a:solidFill>
                  <a:srgbClr val="59657A"/>
                </a:solidFill>
                <a:latin typeface="Arial"/>
                <a:ea typeface="Arial"/>
                <a:cs typeface="Arial"/>
              </a:defRPr>
            </a:lvl3pPr>
            <a:lvl4pPr algn="l">
              <a:defRPr sz="2175" b="0">
                <a:solidFill>
                  <a:srgbClr val="59657A"/>
                </a:solidFill>
                <a:latin typeface="Arial"/>
                <a:ea typeface="Arial"/>
                <a:cs typeface="Arial"/>
              </a:defRPr>
            </a:lvl4pPr>
            <a:lvl5pPr algn="l">
              <a:defRPr sz="2175" b="0">
                <a:solidFill>
                  <a:srgbClr val="59657A"/>
                </a:solidFill>
                <a:latin typeface="Arial"/>
                <a:ea typeface="Arial"/>
                <a:cs typeface="Arial"/>
              </a:defRPr>
            </a:lvl5pPr>
            <a:lvl6pPr algn="l">
              <a:defRPr sz="2175" b="0">
                <a:solidFill>
                  <a:srgbClr val="59657A"/>
                </a:solidFill>
                <a:latin typeface="Arial"/>
                <a:ea typeface="Arial"/>
                <a:cs typeface="Arial"/>
              </a:defRPr>
            </a:lvl6pPr>
            <a:lvl7pPr algn="l">
              <a:defRPr sz="2175" b="0">
                <a:solidFill>
                  <a:srgbClr val="59657A"/>
                </a:solidFill>
                <a:latin typeface="Arial"/>
                <a:ea typeface="Arial"/>
                <a:cs typeface="Arial"/>
              </a:defRPr>
            </a:lvl7pPr>
            <a:lvl8pPr algn="l">
              <a:defRPr sz="2175" b="0">
                <a:solidFill>
                  <a:srgbClr val="59657A"/>
                </a:solidFill>
                <a:latin typeface="Arial"/>
                <a:ea typeface="Arial"/>
                <a:cs typeface="Arial"/>
              </a:defRPr>
            </a:lvl8pPr>
            <a:lvl9pPr algn="l">
              <a:defRPr sz="2175" b="0">
                <a:solidFill>
                  <a:srgbClr val="59657A"/>
                </a:solidFill>
                <a:latin typeface="Arial"/>
                <a:ea typeface="Arial"/>
                <a:cs typeface="Arial"/>
              </a:defRPr>
            </a:lvl9pPr>
          </a:lstStyle>
          <a:p>
            <a:pPr algn="l">
              <a:defRPr sz="2175" b="0">
                <a:solidFill>
                  <a:srgbClr val="59657A"/>
                </a:solidFill>
                <a:latin typeface="Arial"/>
                <a:ea typeface="Arial"/>
                <a:cs typeface="Arial"/>
              </a:defRPr>
            </a:pPr>
            <a:r>
              <a:rPr sz="2175" b="0">
                <a:solidFill>
                  <a:srgbClr val="59657A"/>
                </a:solidFill>
                <a:latin typeface="Arial"/>
                <a:ea typeface="Arial"/>
                <a:cs typeface="Arial"/>
              </a:rPr>
              <a:t>A question to take away</a:t>
            </a:r>
          </a:p>
        </p:txBody>
      </p:sp>
      <p:sp>
        <p:nvSpPr>
          <p:cNvPr id="8" name="closing-question">
            <a:extLst>
              <a:ext uri="{FF2B5EF4-FFF2-40B4-BE49-F238E27FC236}">
                <a16:creationId xmlns:a16="http://schemas.microsoft.com/office/drawing/2014/main" id="{C05F4C98-085D-4AD3-BF93-93A1C6D4BD4B}"/>
              </a:ext>
            </a:extLst>
          </p:cNvPr>
          <p:cNvSpPr>
            <a:spLocks noGrp="1"/>
          </p:cNvSpPr>
          <p:nvPr/>
        </p:nvSpPr>
        <p:spPr>
          <a:xfrm>
            <a:off x="6724650" y="2371725"/>
            <a:ext cx="4857750" cy="2047875"/>
          </a:xfrm>
          <a:prstGeom prst="rect">
            <a:avLst/>
          </a:prstGeom>
          <a:noFill/>
          <a:ln w="0">
            <a:noFill/>
            <a:prstDash val="solid"/>
          </a:ln>
        </p:spPr>
        <p:txBody>
          <a:bodyPr wrap="square" lIns="0" tIns="0" rIns="0" bIns="0" anchor="ctr">
            <a:noAutofit/>
          </a:bodyPr>
          <a:lstStyle>
            <a:defPPr algn="l">
              <a:defRPr sz="3000" b="1">
                <a:solidFill>
                  <a:srgbClr val="14213D"/>
                </a:solidFill>
                <a:latin typeface="Arial"/>
                <a:ea typeface="Arial"/>
                <a:cs typeface="Arial"/>
              </a:defRPr>
            </a:defPPr>
            <a:lvl1pPr algn="l">
              <a:defRPr sz="3000" b="1">
                <a:solidFill>
                  <a:srgbClr val="14213D"/>
                </a:solidFill>
                <a:latin typeface="Arial"/>
                <a:ea typeface="Arial"/>
                <a:cs typeface="Arial"/>
              </a:defRPr>
            </a:lvl1pPr>
            <a:lvl2pPr algn="l">
              <a:defRPr sz="3000" b="1">
                <a:solidFill>
                  <a:srgbClr val="14213D"/>
                </a:solidFill>
                <a:latin typeface="Arial"/>
                <a:ea typeface="Arial"/>
                <a:cs typeface="Arial"/>
              </a:defRPr>
            </a:lvl2pPr>
            <a:lvl3pPr algn="l">
              <a:defRPr sz="3000" b="1">
                <a:solidFill>
                  <a:srgbClr val="14213D"/>
                </a:solidFill>
                <a:latin typeface="Arial"/>
                <a:ea typeface="Arial"/>
                <a:cs typeface="Arial"/>
              </a:defRPr>
            </a:lvl3pPr>
            <a:lvl4pPr algn="l">
              <a:defRPr sz="3000" b="1">
                <a:solidFill>
                  <a:srgbClr val="14213D"/>
                </a:solidFill>
                <a:latin typeface="Arial"/>
                <a:ea typeface="Arial"/>
                <a:cs typeface="Arial"/>
              </a:defRPr>
            </a:lvl4pPr>
            <a:lvl5pPr algn="l">
              <a:defRPr sz="3000" b="1">
                <a:solidFill>
                  <a:srgbClr val="14213D"/>
                </a:solidFill>
                <a:latin typeface="Arial"/>
                <a:ea typeface="Arial"/>
                <a:cs typeface="Arial"/>
              </a:defRPr>
            </a:lvl5pPr>
            <a:lvl6pPr algn="l">
              <a:defRPr sz="3000" b="1">
                <a:solidFill>
                  <a:srgbClr val="14213D"/>
                </a:solidFill>
                <a:latin typeface="Arial"/>
                <a:ea typeface="Arial"/>
                <a:cs typeface="Arial"/>
              </a:defRPr>
            </a:lvl6pPr>
            <a:lvl7pPr algn="l">
              <a:defRPr sz="3000" b="1">
                <a:solidFill>
                  <a:srgbClr val="14213D"/>
                </a:solidFill>
                <a:latin typeface="Arial"/>
                <a:ea typeface="Arial"/>
                <a:cs typeface="Arial"/>
              </a:defRPr>
            </a:lvl7pPr>
            <a:lvl8pPr algn="l">
              <a:defRPr sz="3000" b="1">
                <a:solidFill>
                  <a:srgbClr val="14213D"/>
                </a:solidFill>
                <a:latin typeface="Arial"/>
                <a:ea typeface="Arial"/>
                <a:cs typeface="Arial"/>
              </a:defRPr>
            </a:lvl8pPr>
            <a:lvl9pPr algn="l">
              <a:defRPr sz="3000" b="1">
                <a:solidFill>
                  <a:srgbClr val="14213D"/>
                </a:solidFill>
                <a:latin typeface="Arial"/>
                <a:ea typeface="Arial"/>
                <a:cs typeface="Arial"/>
              </a:defRPr>
            </a:lvl9pPr>
          </a:lstStyle>
          <a:p>
            <a:pPr algn="l">
              <a:defRPr sz="3000" b="1">
                <a:solidFill>
                  <a:srgbClr val="14213D"/>
                </a:solidFill>
                <a:latin typeface="Arial"/>
                <a:ea typeface="Arial"/>
                <a:cs typeface="Arial"/>
              </a:defRPr>
            </a:pPr>
            <a:r>
              <a:rPr sz="3000" b="1">
                <a:solidFill>
                  <a:srgbClr val="14213D"/>
                </a:solidFill>
                <a:latin typeface="Arial"/>
                <a:ea typeface="Arial"/>
                <a:cs typeface="Arial"/>
              </a:rPr>
              <a:t>What changes if</a:t>
            </a:r>
          </a:p>
          <a:p>
            <a:pPr algn="l">
              <a:defRPr sz="3000" b="1">
                <a:solidFill>
                  <a:srgbClr val="14213D"/>
                </a:solidFill>
                <a:latin typeface="Arial"/>
                <a:ea typeface="Arial"/>
                <a:cs typeface="Arial"/>
              </a:defRPr>
            </a:pPr>
            <a:r>
              <a:rPr sz="3000" b="1">
                <a:solidFill>
                  <a:srgbClr val="14213D"/>
                </a:solidFill>
                <a:latin typeface="Arial"/>
                <a:ea typeface="Arial"/>
                <a:cs typeface="Arial"/>
              </a:rPr>
              <a:t>teammates can share</a:t>
            </a:r>
          </a:p>
          <a:p>
            <a:pPr algn="l">
              <a:defRPr sz="3000" b="1">
                <a:solidFill>
                  <a:srgbClr val="14213D"/>
                </a:solidFill>
                <a:latin typeface="Arial"/>
                <a:ea typeface="Arial"/>
                <a:cs typeface="Arial"/>
              </a:defRPr>
            </a:pPr>
            <a:r>
              <a:rPr sz="3000" b="1">
                <a:solidFill>
                  <a:srgbClr val="14213D"/>
                </a:solidFill>
                <a:latin typeface="Arial"/>
                <a:ea typeface="Arial"/>
                <a:cs typeface="Arial"/>
              </a:rPr>
              <a:t>their random choices?</a:t>
            </a:r>
          </a:p>
        </p:txBody>
      </p:sp>
      <p:sp>
        <p:nvSpPr>
          <p:cNvPr id="9" name="closing-discussion">
            <a:extLst>
              <a:ext uri="{FF2B5EF4-FFF2-40B4-BE49-F238E27FC236}">
                <a16:creationId xmlns:a16="http://schemas.microsoft.com/office/drawing/2014/main" id="{37DC0D15-7BA2-4D53-A4E1-5EDCC1A693CA}"/>
              </a:ext>
            </a:extLst>
          </p:cNvPr>
          <p:cNvSpPr>
            <a:spLocks noGrp="1"/>
          </p:cNvSpPr>
          <p:nvPr/>
        </p:nvSpPr>
        <p:spPr>
          <a:xfrm>
            <a:off x="6724650" y="4933950"/>
            <a:ext cx="4857750" cy="495300"/>
          </a:xfrm>
          <a:prstGeom prst="rect">
            <a:avLst/>
          </a:prstGeom>
          <a:noFill/>
          <a:ln w="0">
            <a:noFill/>
            <a:prstDash val="solid"/>
          </a:ln>
        </p:spPr>
        <p:txBody>
          <a:bodyPr wrap="square" lIns="0" tIns="0" rIns="0" bIns="0" anchor="ctr">
            <a:noAutofit/>
          </a:bodyPr>
          <a:lstStyle>
            <a:defPPr algn="l">
              <a:defRPr sz="2100" b="1">
                <a:solidFill>
                  <a:srgbClr val="D96546"/>
                </a:solidFill>
                <a:latin typeface="Arial"/>
                <a:ea typeface="Arial"/>
                <a:cs typeface="Arial"/>
              </a:defRPr>
            </a:defPPr>
            <a:lvl1pPr algn="l">
              <a:defRPr sz="2100" b="1">
                <a:solidFill>
                  <a:srgbClr val="D96546"/>
                </a:solidFill>
                <a:latin typeface="Arial"/>
                <a:ea typeface="Arial"/>
                <a:cs typeface="Arial"/>
              </a:defRPr>
            </a:lvl1pPr>
            <a:lvl2pPr algn="l">
              <a:defRPr sz="2100" b="1">
                <a:solidFill>
                  <a:srgbClr val="D96546"/>
                </a:solidFill>
                <a:latin typeface="Arial"/>
                <a:ea typeface="Arial"/>
                <a:cs typeface="Arial"/>
              </a:defRPr>
            </a:lvl2pPr>
            <a:lvl3pPr algn="l">
              <a:defRPr sz="2100" b="1">
                <a:solidFill>
                  <a:srgbClr val="D96546"/>
                </a:solidFill>
                <a:latin typeface="Arial"/>
                <a:ea typeface="Arial"/>
                <a:cs typeface="Arial"/>
              </a:defRPr>
            </a:lvl3pPr>
            <a:lvl4pPr algn="l">
              <a:defRPr sz="2100" b="1">
                <a:solidFill>
                  <a:srgbClr val="D96546"/>
                </a:solidFill>
                <a:latin typeface="Arial"/>
                <a:ea typeface="Arial"/>
                <a:cs typeface="Arial"/>
              </a:defRPr>
            </a:lvl4pPr>
            <a:lvl5pPr algn="l">
              <a:defRPr sz="2100" b="1">
                <a:solidFill>
                  <a:srgbClr val="D96546"/>
                </a:solidFill>
                <a:latin typeface="Arial"/>
                <a:ea typeface="Arial"/>
                <a:cs typeface="Arial"/>
              </a:defRPr>
            </a:lvl5pPr>
            <a:lvl6pPr algn="l">
              <a:defRPr sz="2100" b="1">
                <a:solidFill>
                  <a:srgbClr val="D96546"/>
                </a:solidFill>
                <a:latin typeface="Arial"/>
                <a:ea typeface="Arial"/>
                <a:cs typeface="Arial"/>
              </a:defRPr>
            </a:lvl6pPr>
            <a:lvl7pPr algn="l">
              <a:defRPr sz="2100" b="1">
                <a:solidFill>
                  <a:srgbClr val="D96546"/>
                </a:solidFill>
                <a:latin typeface="Arial"/>
                <a:ea typeface="Arial"/>
                <a:cs typeface="Arial"/>
              </a:defRPr>
            </a:lvl7pPr>
            <a:lvl8pPr algn="l">
              <a:defRPr sz="2100" b="1">
                <a:solidFill>
                  <a:srgbClr val="D96546"/>
                </a:solidFill>
                <a:latin typeface="Arial"/>
                <a:ea typeface="Arial"/>
                <a:cs typeface="Arial"/>
              </a:defRPr>
            </a:lvl8pPr>
            <a:lvl9pPr algn="l">
              <a:defRPr sz="2100" b="1">
                <a:solidFill>
                  <a:srgbClr val="D96546"/>
                </a:solidFill>
                <a:latin typeface="Arial"/>
                <a:ea typeface="Arial"/>
                <a:cs typeface="Arial"/>
              </a:defRPr>
            </a:lvl9pPr>
          </a:lstStyle>
          <a:p>
            <a:pPr algn="l">
              <a:defRPr sz="2100" b="1">
                <a:solidFill>
                  <a:srgbClr val="D96546"/>
                </a:solidFill>
                <a:latin typeface="Arial"/>
                <a:ea typeface="Arial"/>
                <a:cs typeface="Arial"/>
              </a:defRPr>
            </a:pPr>
            <a:r>
              <a:rPr sz="2100" b="1">
                <a:solidFill>
                  <a:srgbClr val="D96546"/>
                </a:solidFill>
                <a:latin typeface="Arial"/>
                <a:ea typeface="Arial"/>
                <a:cs typeface="Arial"/>
              </a:rPr>
              <a:t>Questions and discussion</a:t>
            </a:r>
          </a:p>
        </p:txBody>
      </p:sp>
      <p:sp>
        <p:nvSpPr>
          <p:cNvPr id="10" name="website">
            <a:extLst>
              <a:ext uri="{FF2B5EF4-FFF2-40B4-BE49-F238E27FC236}">
                <a16:creationId xmlns:a16="http://schemas.microsoft.com/office/drawing/2014/main" id="{2359354B-9D91-417C-A391-FF68BC51B759}"/>
              </a:ext>
            </a:extLst>
          </p:cNvPr>
          <p:cNvSpPr>
            <a:spLocks noGrp="1"/>
          </p:cNvSpPr>
          <p:nvPr/>
        </p:nvSpPr>
        <p:spPr>
          <a:xfrm>
            <a:off x="609600" y="5838825"/>
            <a:ext cx="10001250" cy="428625"/>
          </a:xfrm>
          <a:prstGeom prst="rect">
            <a:avLst/>
          </a:prstGeom>
          <a:noFill/>
          <a:ln w="0">
            <a:noFill/>
            <a:prstDash val="solid"/>
          </a:ln>
        </p:spPr>
        <p:txBody>
          <a:bodyPr wrap="square" lIns="0" tIns="0" rIns="0" bIns="0" anchor="ctr">
            <a:noAutofit/>
          </a:bodyPr>
          <a:lstStyle>
            <a:defPPr algn="l">
              <a:defRPr sz="1950" b="0">
                <a:solidFill>
                  <a:srgbClr val="2D5BCE"/>
                </a:solidFill>
                <a:latin typeface="Arial"/>
                <a:ea typeface="Arial"/>
                <a:cs typeface="Arial"/>
              </a:defRPr>
            </a:defPPr>
            <a:lvl1pPr algn="l">
              <a:defRPr sz="1950" b="0">
                <a:solidFill>
                  <a:srgbClr val="2D5BCE"/>
                </a:solidFill>
                <a:latin typeface="Arial"/>
                <a:ea typeface="Arial"/>
                <a:cs typeface="Arial"/>
              </a:defRPr>
            </a:lvl1pPr>
            <a:lvl2pPr algn="l">
              <a:defRPr sz="1950" b="0">
                <a:solidFill>
                  <a:srgbClr val="2D5BCE"/>
                </a:solidFill>
                <a:latin typeface="Arial"/>
                <a:ea typeface="Arial"/>
                <a:cs typeface="Arial"/>
              </a:defRPr>
            </a:lvl2pPr>
            <a:lvl3pPr algn="l">
              <a:defRPr sz="1950" b="0">
                <a:solidFill>
                  <a:srgbClr val="2D5BCE"/>
                </a:solidFill>
                <a:latin typeface="Arial"/>
                <a:ea typeface="Arial"/>
                <a:cs typeface="Arial"/>
              </a:defRPr>
            </a:lvl3pPr>
            <a:lvl4pPr algn="l">
              <a:defRPr sz="1950" b="0">
                <a:solidFill>
                  <a:srgbClr val="2D5BCE"/>
                </a:solidFill>
                <a:latin typeface="Arial"/>
                <a:ea typeface="Arial"/>
                <a:cs typeface="Arial"/>
              </a:defRPr>
            </a:lvl4pPr>
            <a:lvl5pPr algn="l">
              <a:defRPr sz="1950" b="0">
                <a:solidFill>
                  <a:srgbClr val="2D5BCE"/>
                </a:solidFill>
                <a:latin typeface="Arial"/>
                <a:ea typeface="Arial"/>
                <a:cs typeface="Arial"/>
              </a:defRPr>
            </a:lvl5pPr>
            <a:lvl6pPr algn="l">
              <a:defRPr sz="1950" b="0">
                <a:solidFill>
                  <a:srgbClr val="2D5BCE"/>
                </a:solidFill>
                <a:latin typeface="Arial"/>
                <a:ea typeface="Arial"/>
                <a:cs typeface="Arial"/>
              </a:defRPr>
            </a:lvl6pPr>
            <a:lvl7pPr algn="l">
              <a:defRPr sz="1950" b="0">
                <a:solidFill>
                  <a:srgbClr val="2D5BCE"/>
                </a:solidFill>
                <a:latin typeface="Arial"/>
                <a:ea typeface="Arial"/>
                <a:cs typeface="Arial"/>
              </a:defRPr>
            </a:lvl7pPr>
            <a:lvl8pPr algn="l">
              <a:defRPr sz="1950" b="0">
                <a:solidFill>
                  <a:srgbClr val="2D5BCE"/>
                </a:solidFill>
                <a:latin typeface="Arial"/>
                <a:ea typeface="Arial"/>
                <a:cs typeface="Arial"/>
              </a:defRPr>
            </a:lvl8pPr>
            <a:lvl9pPr algn="l">
              <a:defRPr sz="1950" b="0">
                <a:solidFill>
                  <a:srgbClr val="2D5BCE"/>
                </a:solidFill>
                <a:latin typeface="Arial"/>
                <a:ea typeface="Arial"/>
                <a:cs typeface="Arial"/>
              </a:defRPr>
            </a:lvl9pPr>
          </a:lstStyle>
          <a:p>
            <a:pPr algn="l">
              <a:defRPr sz="1950" b="0">
                <a:solidFill>
                  <a:srgbClr val="2D5BCE"/>
                </a:solidFill>
                <a:latin typeface="Arial"/>
                <a:ea typeface="Arial"/>
                <a:cs typeface="Arial"/>
              </a:defRPr>
            </a:pPr>
            <a:r>
              <a:rPr sz="1950" b="0">
                <a:solidFill>
                  <a:srgbClr val="2D5BCE"/>
                </a:solidFill>
                <a:latin typeface="Arial"/>
                <a:ea typeface="Arial"/>
                <a:cs typeface="Arial"/>
                <a:hlinkClick r:id="rId3"/>
              </a:rPr>
              <a:t>panageas.github.io</a:t>
            </a:r>
          </a:p>
        </p:txBody>
      </p:sp>
    </p:spTree>
    <p:extLst>
      <p:ext uri="{BB962C8B-B14F-4D97-AF65-F5344CB8AC3E}">
        <p14:creationId xmlns:p14="http://schemas.microsoft.com/office/powerpoint/2010/main" val="5477035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Win: $+1$\qquad Lose: $-1$\qquad Tie: $0$&#10;\end{document}&#10;"/>
  <p:tag name="IGUANATEXSIZE" val="20.000000"/>
  <p:tag name="IGUANATEXCURSOR" val="213"/>
  <p:tag name="BITMAPVECTOR" val="0"/>
  <p:tag name="LATEXENGINEID" val="1"/>
  <p:tag name="TRANSPARENCY" val="True"/>
  <p:tag name="CHOOSECOLOR" val="False"/>
  <p:tag name="COLORHEX" val="000000"/>
  <p:tag name="OUTPUTTYPE" val="PNG"/>
  <p:tag name="OUTPUTDPI" val="1200"/>
  <p:tag name="ORIGINALWIDTH" val="1794.750000"/>
  <p:tag name="ORIGINALHEIGHT" val="123.000000"/>
  <p:tag name="LATEXFORMWRAP" val="True"/>
  <p:tag name="LATEXFORMHEIGHT" val="500"/>
  <p:tag name="LATEXFORMWIDTH" val="650"/>
  <p:tag name="FILENAME" val=""/>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frac{1}{3}$&#10;\end{document}&#10;"/>
  <p:tag name="IGUANATEXSIZE" val="29.352227"/>
  <p:tag name="IGUANATEXCURSOR" val="185"/>
  <p:tag name="BITMAPVECTOR" val="0"/>
  <p:tag name="LATEXENGINEID" val="1"/>
  <p:tag name="TRANSPARENCY" val="True"/>
  <p:tag name="CHOOSECOLOR" val="False"/>
  <p:tag name="COLORHEX" val="000000"/>
  <p:tag name="OUTPUTTYPE" val="PNG"/>
  <p:tag name="OUTPUTDPI" val="1200"/>
  <p:tag name="ORIGINALWIDTH" val="102.750000"/>
  <p:tag name="ORIGINALHEIGHT" val="185.250000"/>
  <p:tag name="LATEXFORMWRAP" val="True"/>
  <p:tag name="LATEXFORMHEIGHT" val="500"/>
  <p:tag name="LATEXFORMWIDTH" val="650"/>
  <p:tag name="FILENAME" val=""/>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frac{1}{3}$&#10;\end{document}&#10;"/>
  <p:tag name="IGUANATEXSIZE" val="29.352227"/>
  <p:tag name="IGUANATEXCURSOR" val="185"/>
  <p:tag name="BITMAPVECTOR" val="0"/>
  <p:tag name="LATEXENGINEID" val="1"/>
  <p:tag name="TRANSPARENCY" val="True"/>
  <p:tag name="CHOOSECOLOR" val="False"/>
  <p:tag name="COLORHEX" val="000000"/>
  <p:tag name="OUTPUTTYPE" val="PNG"/>
  <p:tag name="OUTPUTDPI" val="1200"/>
  <p:tag name="ORIGINALWIDTH" val="102.750000"/>
  <p:tag name="ORIGINALHEIGHT" val="185.250000"/>
  <p:tag name="LATEXFORMWRAP" val="True"/>
  <p:tag name="LATEXFORMHEIGHT" val="500"/>
  <p:tag name="LATEXFORMWIDTH" val="650"/>
  <p:tag name="FILENAME" val=""/>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frac{1}{3}$&#10;\end{document}&#10;"/>
  <p:tag name="IGUANATEXSIZE" val="29.352227"/>
  <p:tag name="IGUANATEXCURSOR" val="185"/>
  <p:tag name="BITMAPVECTOR" val="0"/>
  <p:tag name="LATEXENGINEID" val="1"/>
  <p:tag name="TRANSPARENCY" val="True"/>
  <p:tag name="CHOOSECOLOR" val="False"/>
  <p:tag name="COLORHEX" val="000000"/>
  <p:tag name="OUTPUTTYPE" val="PNG"/>
  <p:tag name="OUTPUTDPI" val="1200"/>
  <p:tag name="ORIGINALWIDTH" val="102.750000"/>
  <p:tag name="ORIGINALHEIGHT" val="185.250000"/>
  <p:tag name="LATEXFORMWRAP" val="True"/>
  <p:tag name="LATEXFORMHEIGHT" val="500"/>
  <p:tag name="LATEXFORMWIDTH" val="650"/>
  <p:tag name="FILENAME" val=""/>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Rock beating scissors is worth $+2$. The loser gets $-2$.&#10;\end{document}&#10;"/>
  <p:tag name="IGUANATEXSIZE" val="20.000000"/>
  <p:tag name="IGUANATEXCURSOR" val="229"/>
  <p:tag name="BITMAPVECTOR" val="0"/>
  <p:tag name="LATEXENGINEID" val="1"/>
  <p:tag name="TRANSPARENCY" val="True"/>
  <p:tag name="CHOOSECOLOR" val="False"/>
  <p:tag name="COLORHEX" val="000000"/>
  <p:tag name="OUTPUTTYPE" val="PNG"/>
  <p:tag name="OUTPUTDPI" val="1200"/>
  <p:tag name="ORIGINALWIDTH" val="2974.500000"/>
  <p:tag name="ORIGINALHEIGHT" val="150.750000"/>
  <p:tag name="LATEXFORMWRAP" val="True"/>
  <p:tag name="LATEXFORMHEIGHT" val="500"/>
  <p:tag name="LATEXFORMWIDTH" val="650"/>
  <p:tag name="FILENAME" val=""/>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0$&#10;\end{document}&#10;"/>
  <p:tag name="IGUANATEXSIZE" val="23.000000"/>
  <p:tag name="IGUANATEXCURSOR" val="175"/>
  <p:tag name="BITMAPVECTOR" val="0"/>
  <p:tag name="LATEXENGINEID" val="1"/>
  <p:tag name="TRANSPARENCY" val="True"/>
  <p:tag name="CHOOSECOLOR" val="False"/>
  <p:tag name="COLORHEX" val="000000"/>
  <p:tag name="OUTPUTTYPE" val="PNG"/>
  <p:tag name="OUTPUTDPI" val="1200"/>
  <p:tag name="ORIGINALWIDTH" val="87.750000"/>
  <p:tag name="ORIGINALHEIGHT" val="112.500000"/>
  <p:tag name="LATEXFORMWRAP" val="True"/>
  <p:tag name="LATEXFORMHEIGHT" val="500"/>
  <p:tag name="LATEXFORMWIDTH" val="650"/>
  <p:tag name="FILENAME" val=""/>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1$&#10;\end{document}&#10;"/>
  <p:tag name="IGUANATEXSIZE" val="23.000000"/>
  <p:tag name="IGUANATEXCURSOR" val="176"/>
  <p:tag name="BITMAPVECTOR" val="0"/>
  <p:tag name="LATEXENGINEID" val="1"/>
  <p:tag name="TRANSPARENCY" val="True"/>
  <p:tag name="CHOOSECOLOR" val="False"/>
  <p:tag name="COLORHEX" val="000000"/>
  <p:tag name="OUTPUTTYPE" val="PNG"/>
  <p:tag name="OUTPUTDPI" val="1200"/>
  <p:tag name="ORIGINALWIDTH" val="191.250000"/>
  <p:tag name="ORIGINALHEIGHT" val="123.000000"/>
  <p:tag name="LATEXFORMWRAP" val="True"/>
  <p:tag name="LATEXFORMHEIGHT" val="500"/>
  <p:tag name="LATEXFORMWIDTH" val="650"/>
  <p:tag name="FILENAME" val=""/>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BE2626}&#10;$+2$&#10;\end{document}&#10;"/>
  <p:tag name="IGUANATEXSIZE" val="23.000000"/>
  <p:tag name="IGUANATEXCURSOR" val="176"/>
  <p:tag name="BITMAPVECTOR" val="0"/>
  <p:tag name="LATEXENGINEID" val="1"/>
  <p:tag name="TRANSPARENCY" val="True"/>
  <p:tag name="CHOOSECOLOR" val="False"/>
  <p:tag name="COLORHEX" val="BE2626"/>
  <p:tag name="OUTPUTTYPE" val="PNG"/>
  <p:tag name="OUTPUTDPI" val="1200"/>
  <p:tag name="ORIGINALWIDTH" val="191.250000"/>
  <p:tag name="ORIGINALHEIGHT" val="120.750000"/>
  <p:tag name="LATEXFORMWRAP" val="True"/>
  <p:tag name="LATEXFORMHEIGHT" val="500"/>
  <p:tag name="LATEXFORMWIDTH" val="650"/>
  <p:tag name="FILENAME" val=""/>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1$&#10;\end{document}&#10;"/>
  <p:tag name="IGUANATEXSIZE" val="23.000000"/>
  <p:tag name="IGUANATEXCURSOR" val="176"/>
  <p:tag name="BITMAPVECTOR" val="0"/>
  <p:tag name="LATEXENGINEID" val="1"/>
  <p:tag name="TRANSPARENCY" val="True"/>
  <p:tag name="CHOOSECOLOR" val="False"/>
  <p:tag name="COLORHEX" val="000000"/>
  <p:tag name="OUTPUTTYPE" val="PNG"/>
  <p:tag name="OUTPUTDPI" val="1200"/>
  <p:tag name="ORIGINALWIDTH" val="191.250000"/>
  <p:tag name="ORIGINALHEIGHT" val="123.000000"/>
  <p:tag name="LATEXFORMWRAP" val="True"/>
  <p:tag name="LATEXFORMHEIGHT" val="500"/>
  <p:tag name="LATEXFORMWIDTH" val="650"/>
  <p:tag name="FILENAME" val=""/>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0$&#10;\end{document}&#10;"/>
  <p:tag name="IGUANATEXSIZE" val="23.000000"/>
  <p:tag name="IGUANATEXCURSOR" val="175"/>
  <p:tag name="BITMAPVECTOR" val="0"/>
  <p:tag name="LATEXENGINEID" val="1"/>
  <p:tag name="TRANSPARENCY" val="True"/>
  <p:tag name="CHOOSECOLOR" val="False"/>
  <p:tag name="COLORHEX" val="000000"/>
  <p:tag name="OUTPUTTYPE" val="PNG"/>
  <p:tag name="OUTPUTDPI" val="1200"/>
  <p:tag name="ORIGINALWIDTH" val="87.750000"/>
  <p:tag name="ORIGINALHEIGHT" val="112.500000"/>
  <p:tag name="LATEXFORMWRAP" val="True"/>
  <p:tag name="LATEXFORMHEIGHT" val="500"/>
  <p:tag name="LATEXFORMWIDTH" val="650"/>
  <p:tag name="FILENAME" val=""/>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1$&#10;\end{document}&#10;"/>
  <p:tag name="IGUANATEXSIZE" val="23.000000"/>
  <p:tag name="IGUANATEXCURSOR" val="176"/>
  <p:tag name="BITMAPVECTOR" val="0"/>
  <p:tag name="LATEXENGINEID" val="1"/>
  <p:tag name="TRANSPARENCY" val="True"/>
  <p:tag name="CHOOSECOLOR" val="False"/>
  <p:tag name="COLORHEX" val="000000"/>
  <p:tag name="OUTPUTTYPE" val="PNG"/>
  <p:tag name="OUTPUTDPI" val="1200"/>
  <p:tag name="ORIGINALWIDTH" val="191.250000"/>
  <p:tag name="ORIGINALHEIGHT" val="123.000000"/>
  <p:tag name="LATEXFORMWRAP" val="True"/>
  <p:tag name="LATEXFORMHEIGHT" val="500"/>
  <p:tag name="LATEXFORMWIDTH" val="650"/>
  <p:tag name="FILENAME" val=""/>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BE2626}&#10;$-2$&#10;\end{document}&#10;"/>
  <p:tag name="IGUANATEXSIZE" val="23.000000"/>
  <p:tag name="IGUANATEXCURSOR" val="176"/>
  <p:tag name="BITMAPVECTOR" val="0"/>
  <p:tag name="LATEXENGINEID" val="1"/>
  <p:tag name="TRANSPARENCY" val="True"/>
  <p:tag name="CHOOSECOLOR" val="False"/>
  <p:tag name="COLORHEX" val="BE2626"/>
  <p:tag name="OUTPUTTYPE" val="PNG"/>
  <p:tag name="OUTPUTDPI" val="1200"/>
  <p:tag name="ORIGINALWIDTH" val="191.250000"/>
  <p:tag name="ORIGINALHEIGHT" val="120.750000"/>
  <p:tag name="LATEXFORMWRAP" val="True"/>
  <p:tag name="LATEXFORMHEIGHT" val="500"/>
  <p:tag name="LATEXFORMWIDTH" val="650"/>
  <p:tag name="FILENAME" val=""/>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1$&#10;\end{document}&#10;"/>
  <p:tag name="IGUANATEXSIZE" val="23.000000"/>
  <p:tag name="IGUANATEXCURSOR" val="176"/>
  <p:tag name="BITMAPVECTOR" val="0"/>
  <p:tag name="LATEXENGINEID" val="1"/>
  <p:tag name="TRANSPARENCY" val="True"/>
  <p:tag name="CHOOSECOLOR" val="False"/>
  <p:tag name="COLORHEX" val="000000"/>
  <p:tag name="OUTPUTTYPE" val="PNG"/>
  <p:tag name="OUTPUTDPI" val="1200"/>
  <p:tag name="ORIGINALWIDTH" val="191.250000"/>
  <p:tag name="ORIGINALHEIGHT" val="123.000000"/>
  <p:tag name="LATEXFORMWRAP" val="True"/>
  <p:tag name="LATEXFORMHEIGHT" val="500"/>
  <p:tag name="LATEXFORMWIDTH" val="650"/>
  <p:tag name="FILENAME" val=""/>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0$&#10;\end{document}&#10;"/>
  <p:tag name="IGUANATEXSIZE" val="23.000000"/>
  <p:tag name="IGUANATEXCURSOR" val="175"/>
  <p:tag name="BITMAPVECTOR" val="0"/>
  <p:tag name="LATEXENGINEID" val="1"/>
  <p:tag name="TRANSPARENCY" val="True"/>
  <p:tag name="CHOOSECOLOR" val="False"/>
  <p:tag name="COLORHEX" val="000000"/>
  <p:tag name="OUTPUTTYPE" val="PNG"/>
  <p:tag name="OUTPUTDPI" val="1200"/>
  <p:tag name="ORIGINALWIDTH" val="87.750000"/>
  <p:tag name="ORIGINALHEIGHT" val="112.500000"/>
  <p:tag name="LATEXFORMWRAP" val="True"/>
  <p:tag name="LATEXFORMHEIGHT" val="500"/>
  <p:tag name="LATEXFORMWIDTH" val="650"/>
  <p:tag name="FILENAME" val=""/>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displaystyle\max_{p}\;\min_{q}\;p^{\mathsf T}Aq$&#10;\end{document}&#10;"/>
  <p:tag name="IGUANATEXSIZE" val="30.000000"/>
  <p:tag name="IGUANATEXCURSOR" val="222"/>
  <p:tag name="BITMAPVECTOR" val="0"/>
  <p:tag name="LATEXENGINEID" val="1"/>
  <p:tag name="TRANSPARENCY" val="True"/>
  <p:tag name="CHOOSECOLOR" val="False"/>
  <p:tag name="COLORHEX" val="000000"/>
  <p:tag name="OUTPUTTYPE" val="PNG"/>
  <p:tag name="OUTPUTDPI" val="1200"/>
  <p:tag name="ORIGINALWIDTH" val="902.250000"/>
  <p:tag name="ORIGINALHEIGHT" val="261.000000"/>
  <p:tag name="LATEXFORMWRAP" val="True"/>
  <p:tag name="LATEXFORMHEIGHT" val="500"/>
  <p:tag name="LATEXFORMWIDTH" val="650"/>
  <p:tag name="FILENAME" val=""/>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begin{tabular}{@{}l@{}}$p$ and $q$ are probability distributions.\\$A$ is the payoff matrix.\end{tabular}&#10;\end{document}&#10;"/>
  <p:tag name="IGUANATEXSIZE" val="17.000000"/>
  <p:tag name="IGUANATEXCURSOR" val="278"/>
  <p:tag name="BITMAPVECTOR" val="0"/>
  <p:tag name="LATEXENGINEID" val="1"/>
  <p:tag name="TRANSPARENCY" val="True"/>
  <p:tag name="CHOOSECOLOR" val="False"/>
  <p:tag name="COLORHEX" val="000000"/>
  <p:tag name="OUTPUTTYPE" val="PNG"/>
  <p:tag name="OUTPUTDPI" val="1200"/>
  <p:tag name="ORIGINALWIDTH" val="2066.250000"/>
  <p:tag name="ORIGINALHEIGHT" val="324.000000"/>
  <p:tag name="LATEXFORMWRAP" val="True"/>
  <p:tag name="LATEXFORMHEIGHT" val="500"/>
  <p:tag name="LATEXFORMWIDTH" val="650"/>
  <p:tag name="FILENAME" val=""/>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f(x,y)=x^2-y^2$&#10;\end{document}&#10;"/>
  <p:tag name="IGUANATEXSIZE" val="26.000000"/>
  <p:tag name="IGUANATEXCURSOR" val="188"/>
  <p:tag name="BITMAPVECTOR" val="0"/>
  <p:tag name="LATEXENGINEID" val="1"/>
  <p:tag name="TRANSPARENCY" val="True"/>
  <p:tag name="CHOOSECOLOR" val="False"/>
  <p:tag name="COLORHEX" val="000000"/>
  <p:tag name="OUTPUTTYPE" val="PNG"/>
  <p:tag name="OUTPUTDPI" val="1200"/>
  <p:tag name="ORIGINALWIDTH" val="955.500000"/>
  <p:tag name="ORIGINALHEIGHT" val="169.500000"/>
  <p:tag name="LATEXFORMWRAP" val="True"/>
  <p:tag name="LATEXFORMHEIGHT" val="500"/>
  <p:tag name="LATEXFORMWIDTH" val="650"/>
  <p:tag name="FILENAME" val=""/>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Each player chooses $0$ or $1$. Each edge gives its two players the same reward.&#10;\end{document}&#10;"/>
  <p:tag name="IGUANATEXSIZE" val="20.000000"/>
  <p:tag name="IGUANATEXCURSOR" val="252"/>
  <p:tag name="BITMAPVECTOR" val="0"/>
  <p:tag name="LATEXENGINEID" val="1"/>
  <p:tag name="TRANSPARENCY" val="True"/>
  <p:tag name="CHOOSECOLOR" val="False"/>
  <p:tag name="COLORHEX" val="000000"/>
  <p:tag name="OUTPUTTYPE" val="PNG"/>
  <p:tag name="OUTPUTDPI" val="1200"/>
  <p:tag name="ORIGINALWIDTH" val="4278.750000"/>
  <p:tag name="ORIGINALHEIGHT" val="150.750000"/>
  <p:tag name="LATEXFORMWRAP" val="True"/>
  <p:tag name="LATEXFORMHEIGHT" val="500"/>
  <p:tag name="LATEXFORMWIDTH" val="650"/>
  <p:tag name="FILENAME" val=""/>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A$&#10;\end{document}&#10;"/>
  <p:tag name="IGUANATEXSIZE" val="23.000000"/>
  <p:tag name="IGUANATEXCURSOR" val="175"/>
  <p:tag name="BITMAPVECTOR" val="0"/>
  <p:tag name="LATEXENGINEID" val="1"/>
  <p:tag name="TRANSPARENCY" val="True"/>
  <p:tag name="CHOOSECOLOR" val="False"/>
  <p:tag name="COLORHEX" val="000000"/>
  <p:tag name="OUTPUTTYPE" val="PNG"/>
  <p:tag name="OUTPUTDPI" val="1200"/>
  <p:tag name="ORIGINALWIDTH" val="124.500000"/>
  <p:tag name="ORIGINALHEIGHT" val="113.250000"/>
  <p:tag name="LATEXFORMWRAP" val="True"/>
  <p:tag name="LATEXFORMHEIGHT" val="500"/>
  <p:tag name="LATEXFORMWIDTH" val="650"/>
  <p:tag name="FILENAME" val=""/>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B$&#10;\end{document}&#10;"/>
  <p:tag name="IGUANATEXSIZE" val="23.000000"/>
  <p:tag name="IGUANATEXCURSOR" val="175"/>
  <p:tag name="BITMAPVECTOR" val="0"/>
  <p:tag name="LATEXENGINEID" val="1"/>
  <p:tag name="TRANSPARENCY" val="True"/>
  <p:tag name="CHOOSECOLOR" val="False"/>
  <p:tag name="COLORHEX" val="000000"/>
  <p:tag name="OUTPUTTYPE" val="PNG"/>
  <p:tag name="OUTPUTDPI" val="1200"/>
  <p:tag name="ORIGINALWIDTH" val="107.250000"/>
  <p:tag name="ORIGINALHEIGHT" val="111.750000"/>
  <p:tag name="LATEXFORMWRAP" val="True"/>
  <p:tag name="LATEXFORMHEIGHT" val="500"/>
  <p:tag name="LATEXFORMWIDTH" val="650"/>
  <p:tag name="FILENAME" val=""/>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C$&#10;\end{document}&#10;"/>
  <p:tag name="IGUANATEXSIZE" val="23.000000"/>
  <p:tag name="IGUANATEXCURSOR" val="175"/>
  <p:tag name="BITMAPVECTOR" val="0"/>
  <p:tag name="LATEXENGINEID" val="1"/>
  <p:tag name="TRANSPARENCY" val="True"/>
  <p:tag name="CHOOSECOLOR" val="False"/>
  <p:tag name="COLORHEX" val="000000"/>
  <p:tag name="OUTPUTTYPE" val="PNG"/>
  <p:tag name="OUTPUTDPI" val="1200"/>
  <p:tag name="ORIGINALWIDTH" val="112.500000"/>
  <p:tag name="ORIGINALHEIGHT" val="115.500000"/>
  <p:tag name="LATEXFORMWRAP" val="True"/>
  <p:tag name="LATEXFORMHEIGHT" val="500"/>
  <p:tag name="LATEXFORMWIDTH" val="650"/>
  <p:tag name="FILENAME" val=""/>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begin{tabular}{@{}l@{}}same choice\\$+1$\end{tabular}&#10;\end{document}&#10;"/>
  <p:tag name="IGUANATEXSIZE" val="18.000000"/>
  <p:tag name="IGUANATEXCURSOR" val="226"/>
  <p:tag name="BITMAPVECTOR" val="0"/>
  <p:tag name="LATEXENGINEID" val="1"/>
  <p:tag name="TRANSPARENCY" val="True"/>
  <p:tag name="CHOOSECOLOR" val="False"/>
  <p:tag name="COLORHEX" val="000000"/>
  <p:tag name="OUTPUTTYPE" val="PNG"/>
  <p:tag name="OUTPUTDPI" val="1200"/>
  <p:tag name="ORIGINALWIDTH" val="693.000000"/>
  <p:tag name="ORIGINALHEIGHT" val="324.000000"/>
  <p:tag name="LATEXFORMWRAP" val="True"/>
  <p:tag name="LATEXFORMHEIGHT" val="500"/>
  <p:tag name="LATEXFORMWIDTH" val="650"/>
  <p:tag name="FILENAME" val=""/>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begin{tabular}{@{}l@{}}same choice\\$+1$\end{tabular}&#10;\end{document}&#10;"/>
  <p:tag name="IGUANATEXSIZE" val="18.000000"/>
  <p:tag name="IGUANATEXCURSOR" val="226"/>
  <p:tag name="BITMAPVECTOR" val="0"/>
  <p:tag name="LATEXENGINEID" val="1"/>
  <p:tag name="TRANSPARENCY" val="True"/>
  <p:tag name="CHOOSECOLOR" val="False"/>
  <p:tag name="COLORHEX" val="000000"/>
  <p:tag name="OUTPUTTYPE" val="PNG"/>
  <p:tag name="OUTPUTDPI" val="1200"/>
  <p:tag name="ORIGINALWIDTH" val="693.000000"/>
  <p:tag name="ORIGINALHEIGHT" val="324.000000"/>
  <p:tag name="LATEXFORMWRAP" val="True"/>
  <p:tag name="LATEXFORMHEIGHT" val="500"/>
  <p:tag name="LATEXFORMWIDTH" val="650"/>
  <p:tag name="FILENAME" val=""/>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different choices: $+1$&#10;\end{document}&#10;"/>
  <p:tag name="IGUANATEXSIZE" val="18.000000"/>
  <p:tag name="IGUANATEXCURSOR" val="195"/>
  <p:tag name="BITMAPVECTOR" val="0"/>
  <p:tag name="LATEXENGINEID" val="1"/>
  <p:tag name="TRANSPARENCY" val="True"/>
  <p:tag name="CHOOSECOLOR" val="False"/>
  <p:tag name="COLORHEX" val="000000"/>
  <p:tag name="OUTPUTTYPE" val="PNG"/>
  <p:tag name="OUTPUTDPI" val="1200"/>
  <p:tag name="ORIGINALWIDTH" val="1177.500000"/>
  <p:tag name="ORIGINALHEIGHT" val="126.750000"/>
  <p:tag name="LATEXFORMWRAP" val="True"/>
  <p:tag name="LATEXFORMHEIGHT" val="500"/>
  <p:tag name="LATEXFORMWIDTH" val="650"/>
  <p:tag name="FILENAME" val=""/>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begin{tabular}{@{}l@{}}Other outcomes pay $0$.\\Each player adds the rewards on their edges.\end{tabular}&#10;\end{document}&#10;"/>
  <p:tag name="IGUANATEXSIZE" val="16.000000"/>
  <p:tag name="IGUANATEXCURSOR" val="278"/>
  <p:tag name="BITMAPVECTOR" val="0"/>
  <p:tag name="LATEXENGINEID" val="1"/>
  <p:tag name="TRANSPARENCY" val="True"/>
  <p:tag name="CHOOSECOLOR" val="False"/>
  <p:tag name="COLORHEX" val="000000"/>
  <p:tag name="OUTPUTTYPE" val="PNG"/>
  <p:tag name="OUTPUTDPI" val="1200"/>
  <p:tag name="ORIGINALWIDTH" val="2520.000000"/>
  <p:tag name="ORIGINALHEIGHT" val="324.000000"/>
  <p:tag name="LATEXFORMWRAP" val="True"/>
  <p:tag name="LATEXFORMHEIGHT" val="500"/>
  <p:tag name="LATEXFORMWIDTH" val="650"/>
  <p:tag name="FILENAME" val=""/>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Formally: $\mathsf{CLS}$-complete.&#10;\end{document}&#10;"/>
  <p:tag name="IGUANATEXSIZE" val="19.000000"/>
  <p:tag name="IGUANATEXCURSOR" val="206"/>
  <p:tag name="BITMAPVECTOR" val="0"/>
  <p:tag name="LATEXENGINEID" val="1"/>
  <p:tag name="TRANSPARENCY" val="True"/>
  <p:tag name="CHOOSECOLOR" val="False"/>
  <p:tag name="COLORHEX" val="000000"/>
  <p:tag name="OUTPUTTYPE" val="PNG"/>
  <p:tag name="OUTPUTDPI" val="1200"/>
  <p:tag name="ORIGINALWIDTH" val="1397.250000"/>
  <p:tag name="ORIGINALHEIGHT" val="150.750000"/>
  <p:tag name="LATEXFORMWRAP" val="True"/>
  <p:tag name="LATEXFORMHEIGHT" val="500"/>
  <p:tag name="LATEXFORMWIDTH" val="650"/>
  <p:tag name="FILENAME" val=""/>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A_1$&#10;\end{document}&#10;"/>
  <p:tag name="IGUANATEXSIZE" val="23.000000"/>
  <p:tag name="IGUANATEXCURSOR" val="177"/>
  <p:tag name="BITMAPVECTOR" val="0"/>
  <p:tag name="LATEXENGINEID" val="1"/>
  <p:tag name="TRANSPARENCY" val="True"/>
  <p:tag name="CHOOSECOLOR" val="False"/>
  <p:tag name="COLORHEX" val="000000"/>
  <p:tag name="OUTPUTTYPE" val="PNG"/>
  <p:tag name="OUTPUTDPI" val="1200"/>
  <p:tag name="ORIGINALWIDTH" val="177.750000"/>
  <p:tag name="ORIGINALHEIGHT" val="136.500000"/>
  <p:tag name="LATEXFORMWRAP" val="True"/>
  <p:tag name="LATEXFORMHEIGHT" val="500"/>
  <p:tag name="LATEXFORMWIDTH" val="650"/>
  <p:tag name="FILENAME" val=""/>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A_2$&#10;\end{document}&#10;"/>
  <p:tag name="IGUANATEXSIZE" val="23.000000"/>
  <p:tag name="IGUANATEXCURSOR" val="177"/>
  <p:tag name="BITMAPVECTOR" val="0"/>
  <p:tag name="LATEXENGINEID" val="1"/>
  <p:tag name="TRANSPARENCY" val="True"/>
  <p:tag name="CHOOSECOLOR" val="False"/>
  <p:tag name="COLORHEX" val="000000"/>
  <p:tag name="OUTPUTTYPE" val="PNG"/>
  <p:tag name="OUTPUTDPI" val="1200"/>
  <p:tag name="ORIGINALWIDTH" val="177.750000"/>
  <p:tag name="ORIGINALHEIGHT" val="135.750000"/>
  <p:tag name="LATEXFORMWRAP" val="True"/>
  <p:tag name="LATEXFORMHEIGHT" val="500"/>
  <p:tag name="LATEXFORMWIDTH" val="650"/>
  <p:tag name="FILENAME" val=""/>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B$&#10;\end{document}&#10;"/>
  <p:tag name="IGUANATEXSIZE" val="23.000000"/>
  <p:tag name="IGUANATEXCURSOR" val="175"/>
  <p:tag name="BITMAPVECTOR" val="0"/>
  <p:tag name="LATEXENGINEID" val="1"/>
  <p:tag name="TRANSPARENCY" val="True"/>
  <p:tag name="CHOOSECOLOR" val="False"/>
  <p:tag name="COLORHEX" val="000000"/>
  <p:tag name="OUTPUTTYPE" val="PNG"/>
  <p:tag name="OUTPUTDPI" val="1200"/>
  <p:tag name="ORIGINALWIDTH" val="107.250000"/>
  <p:tag name="ORIGINALHEIGHT" val="111.750000"/>
  <p:tag name="LATEXFORMWRAP" val="True"/>
  <p:tag name="LATEXFORMHEIGHT" val="500"/>
  <p:tag name="LATEXFORMWIDTH" val="650"/>
  <p:tag name="FILENAME" val=""/>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A_1$&#10;\end{document}&#10;"/>
  <p:tag name="IGUANATEXSIZE" val="23.000000"/>
  <p:tag name="IGUANATEXCURSOR" val="177"/>
  <p:tag name="BITMAPVECTOR" val="0"/>
  <p:tag name="LATEXENGINEID" val="1"/>
  <p:tag name="TRANSPARENCY" val="True"/>
  <p:tag name="CHOOSECOLOR" val="False"/>
  <p:tag name="COLORHEX" val="000000"/>
  <p:tag name="OUTPUTTYPE" val="PNG"/>
  <p:tag name="OUTPUTDPI" val="1200"/>
  <p:tag name="ORIGINALWIDTH" val="177.750000"/>
  <p:tag name="ORIGINALHEIGHT" val="136.500000"/>
  <p:tag name="LATEXFORMWRAP" val="True"/>
  <p:tag name="LATEXFORMHEIGHT" val="500"/>
  <p:tag name="LATEXFORMWIDTH" val="650"/>
  <p:tag name="FILENAME" val=""/>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A_2$&#10;\end{document}&#10;"/>
  <p:tag name="IGUANATEXSIZE" val="23.000000"/>
  <p:tag name="IGUANATEXCURSOR" val="177"/>
  <p:tag name="BITMAPVECTOR" val="0"/>
  <p:tag name="LATEXENGINEID" val="1"/>
  <p:tag name="TRANSPARENCY" val="True"/>
  <p:tag name="CHOOSECOLOR" val="False"/>
  <p:tag name="COLORHEX" val="000000"/>
  <p:tag name="OUTPUTTYPE" val="PNG"/>
  <p:tag name="OUTPUTDPI" val="1200"/>
  <p:tag name="ORIGINALWIDTH" val="177.750000"/>
  <p:tag name="ORIGINALHEIGHT" val="135.750000"/>
  <p:tag name="LATEXFORMWRAP" val="True"/>
  <p:tag name="LATEXFORMHEIGHT" val="500"/>
  <p:tag name="LATEXFORMWIDTH" val="650"/>
  <p:tag name="FILENAME" val=""/>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B_1$&#10;\end{document}&#10;"/>
  <p:tag name="IGUANATEXSIZE" val="23.000000"/>
  <p:tag name="IGUANATEXCURSOR" val="177"/>
  <p:tag name="BITMAPVECTOR" val="0"/>
  <p:tag name="LATEXENGINEID" val="1"/>
  <p:tag name="TRANSPARENCY" val="True"/>
  <p:tag name="CHOOSECOLOR" val="False"/>
  <p:tag name="COLORHEX" val="000000"/>
  <p:tag name="OUTPUTTYPE" val="PNG"/>
  <p:tag name="OUTPUTDPI" val="1200"/>
  <p:tag name="ORIGINALWIDTH" val="157.500000"/>
  <p:tag name="ORIGINALHEIGHT" val="135.000000"/>
  <p:tag name="LATEXFORMWRAP" val="True"/>
  <p:tag name="LATEXFORMHEIGHT" val="500"/>
  <p:tag name="LATEXFORMWIDTH" val="650"/>
  <p:tag name="FILENAME" val=""/>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B_2$&#10;\end{document}&#10;"/>
  <p:tag name="IGUANATEXSIZE" val="23.000000"/>
  <p:tag name="IGUANATEXCURSOR" val="177"/>
  <p:tag name="BITMAPVECTOR" val="0"/>
  <p:tag name="LATEXENGINEID" val="1"/>
  <p:tag name="TRANSPARENCY" val="True"/>
  <p:tag name="CHOOSECOLOR" val="False"/>
  <p:tag name="COLORHEX" val="000000"/>
  <p:tag name="OUTPUTTYPE" val="PNG"/>
  <p:tag name="OUTPUTDPI" val="1200"/>
  <p:tag name="ORIGINALWIDTH" val="157.500000"/>
  <p:tag name="ORIGINALHEIGHT" val="133.500000"/>
  <p:tag name="LATEXFORMWRAP" val="True"/>
  <p:tag name="LATEXFORMHEIGHT" val="500"/>
  <p:tag name="LATEXFORMWIDTH" val="650"/>
  <p:tag name="FILENAME" val=""/>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shared $+u$&#10;\end{document}&#10;"/>
  <p:tag name="IGUANATEXSIZE" val="19.000000"/>
  <p:tag name="IGUANATEXCURSOR" val="183"/>
  <p:tag name="BITMAPVECTOR" val="0"/>
  <p:tag name="LATEXENGINEID" val="1"/>
  <p:tag name="TRANSPARENCY" val="True"/>
  <p:tag name="CHOOSECOLOR" val="False"/>
  <p:tag name="COLORHEX" val="000000"/>
  <p:tag name="OUTPUTTYPE" val="PNG"/>
  <p:tag name="OUTPUTDPI" val="1200"/>
  <p:tag name="ORIGINALWIDTH" val="609.750000"/>
  <p:tag name="ORIGINALHEIGHT" val="126.750000"/>
  <p:tag name="LATEXFORMWRAP" val="True"/>
  <p:tag name="LATEXFORMHEIGHT" val="500"/>
  <p:tag name="LATEXFORMWIDTH" val="650"/>
  <p:tag name="FILENAME" val=""/>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u$&#10;\end{document}&#10;"/>
  <p:tag name="IGUANATEXSIZE" val="19.000000"/>
  <p:tag name="IGUANATEXCURSOR" val="176"/>
  <p:tag name="BITMAPVECTOR" val="0"/>
  <p:tag name="LATEXENGINEID" val="1"/>
  <p:tag name="TRANSPARENCY" val="True"/>
  <p:tag name="CHOOSECOLOR" val="False"/>
  <p:tag name="COLORHEX" val="000000"/>
  <p:tag name="OUTPUTTYPE" val="PNG"/>
  <p:tag name="OUTPUTDPI" val="1200"/>
  <p:tag name="ORIGINALWIDTH" val="201.750000"/>
  <p:tag name="ORIGINALHEIGHT" val="111.750000"/>
  <p:tag name="LATEXFORMWRAP" val="True"/>
  <p:tag name="LATEXFORMHEIGHT" val="500"/>
  <p:tag name="LATEXFORMWIDTH" val="650"/>
  <p:tag name="FILENAME" val=""/>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shared $+u$&#10;\end{document}&#10;"/>
  <p:tag name="IGUANATEXSIZE" val="19.000000"/>
  <p:tag name="IGUANATEXCURSOR" val="183"/>
  <p:tag name="BITMAPVECTOR" val="0"/>
  <p:tag name="LATEXENGINEID" val="1"/>
  <p:tag name="TRANSPARENCY" val="True"/>
  <p:tag name="CHOOSECOLOR" val="False"/>
  <p:tag name="COLORHEX" val="000000"/>
  <p:tag name="OUTPUTTYPE" val="PNG"/>
  <p:tag name="OUTPUTDPI" val="1200"/>
  <p:tag name="ORIGINALWIDTH" val="609.750000"/>
  <p:tag name="ORIGINALHEIGHT" val="126.750000"/>
  <p:tag name="LATEXFORMWRAP" val="True"/>
  <p:tag name="LATEXFORMHEIGHT" val="500"/>
  <p:tag name="LATEXFORMWIDTH" val="650"/>
  <p:tag name="FILENAME" val=""/>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shared $-u$&#10;\end{document}&#10;"/>
  <p:tag name="IGUANATEXSIZE" val="19.000000"/>
  <p:tag name="IGUANATEXCURSOR" val="183"/>
  <p:tag name="BITMAPVECTOR" val="0"/>
  <p:tag name="LATEXENGINEID" val="1"/>
  <p:tag name="TRANSPARENCY" val="True"/>
  <p:tag name="CHOOSECOLOR" val="False"/>
  <p:tag name="COLORHEX" val="000000"/>
  <p:tag name="OUTPUTTYPE" val="PNG"/>
  <p:tag name="OUTPUTDPI" val="1200"/>
  <p:tag name="ORIGINALWIDTH" val="609.750000"/>
  <p:tag name="ORIGINALHEIGHT" val="126.750000"/>
  <p:tag name="LATEXFORMWRAP" val="True"/>
  <p:tag name="LATEXFORMHEIGHT" val="500"/>
  <p:tag name="LATEXFORMWIDTH" val="650"/>
  <p:tag name="FILENAME" val=""/>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10pt,border=1pt]{standalone}&#10;\usepackage[sc]{mathpazo}&#10;\usepackage{amsmath,amsfonts,amssymb,xcolor}&#10;\pagestyle{empty}&#10;\begin{document}&#10;\color[HTML]{000000}&#10;\begin{tabular}{@{}l@{}}$\mathsf{PPAD}$-complete at inverse-polynomial\\approximation accuracy.\end{tabular}&#10;\end{document}&#10;"/>
  <p:tag name="IGUANATEXSIZE" val="17.000000"/>
  <p:tag name="IGUANATEXCURSOR" val="280"/>
  <p:tag name="BITMAPVECTOR" val="0"/>
  <p:tag name="LATEXENGINEID" val="1"/>
  <p:tag name="TRANSPARENCY" val="True"/>
  <p:tag name="CHOOSECOLOR" val="False"/>
  <p:tag name="COLORHEX" val="000000"/>
  <p:tag name="OUTPUTTYPE" val="PNG"/>
  <p:tag name="OUTPUTDPI" val="1200"/>
  <p:tag name="ORIGINALWIDTH" val="2138.250000"/>
  <p:tag name="ORIGINALHEIGHT" val="324.000000"/>
  <p:tag name="LATEXFORMWRAP" val="True"/>
  <p:tag name="LATEXFORMHEIGHT" val="500"/>
  <p:tag name="LATEXFORMWIDTH" val="650"/>
  <p:tag name="FILENAME" val=""/>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2095</Words>
  <Application>Microsoft Office PowerPoint</Application>
  <DocSecurity>0</DocSecurity>
  <PresentationFormat>Widescreen</PresentationFormat>
  <Paragraphs>133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Ioannis Panageas</cp:lastModifiedBy>
  <cp:revision>1</cp:revision>
  <dcterms:created xsi:type="dcterms:W3CDTF">2026-10-28T17:20:30Z</dcterms:created>
  <dcterms:modified xsi:type="dcterms:W3CDTF">2026-10-28T18:44:23Z</dcterms:modified>
</cp:coreProperties>
</file>